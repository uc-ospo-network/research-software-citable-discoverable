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5143500" cx="9144000"/>
  <p:notesSz cx="6858000" cy="9144000"/>
  <p:embeddedFontLst>
    <p:embeddedFont>
      <p:font typeface="Roboto"/>
      <p:regular r:id="rId52"/>
      <p:bold r:id="rId53"/>
      <p:italic r:id="rId54"/>
      <p:boldItalic r:id="rId55"/>
    </p:embeddedFont>
    <p:embeddedFont>
      <p:font typeface="Roboto Medium"/>
      <p:regular r:id="rId56"/>
      <p:bold r:id="rId57"/>
      <p:italic r:id="rId58"/>
      <p:boldItalic r:id="rId59"/>
    </p:embeddedFont>
    <p:embeddedFont>
      <p:font typeface="Poppins"/>
      <p:regular r:id="rId60"/>
      <p:bold r:id="rId61"/>
      <p:italic r:id="rId62"/>
      <p:boldItalic r:id="rId63"/>
    </p:embeddedFont>
    <p:embeddedFont>
      <p:font typeface="Open Sans SemiBold"/>
      <p:regular r:id="rId64"/>
      <p:bold r:id="rId65"/>
      <p:italic r:id="rId66"/>
      <p:boldItalic r:id="rId67"/>
    </p:embeddedFont>
    <p:embeddedFont>
      <p:font typeface="Josefin Sans"/>
      <p:regular r:id="rId68"/>
      <p:bold r:id="rId69"/>
      <p:italic r:id="rId70"/>
      <p:boldItalic r:id="rId71"/>
    </p:embeddedFont>
    <p:embeddedFont>
      <p:font typeface="Roboto SemiBold"/>
      <p:regular r:id="rId72"/>
      <p:bold r:id="rId73"/>
      <p:italic r:id="rId74"/>
      <p:boldItalic r:id="rId75"/>
    </p:embeddedFont>
    <p:embeddedFont>
      <p:font typeface="Open Sans Medium"/>
      <p:regular r:id="rId76"/>
      <p:bold r:id="rId77"/>
      <p:italic r:id="rId78"/>
      <p:boldItalic r:id="rId79"/>
    </p:embeddedFont>
    <p:embeddedFont>
      <p:font typeface="Open Sans"/>
      <p:regular r:id="rId80"/>
      <p:bold r:id="rId81"/>
      <p:italic r:id="rId82"/>
      <p:boldItalic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Tim Dennis"/>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3" Type="http://schemas.openxmlformats.org/officeDocument/2006/relationships/font" Target="fonts/OpenSans-boldItalic.fnt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OpenSans-regular.fntdata"/><Relationship Id="rId82" Type="http://schemas.openxmlformats.org/officeDocument/2006/relationships/font" Target="fonts/OpenSans-italic.fntdata"/><Relationship Id="rId81" Type="http://schemas.openxmlformats.org/officeDocument/2006/relationships/font" Target="fonts/Open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obotoSemiBold-bold.fntdata"/><Relationship Id="rId72" Type="http://schemas.openxmlformats.org/officeDocument/2006/relationships/font" Target="fonts/RobotoSemiBold-regular.fntdata"/><Relationship Id="rId31" Type="http://schemas.openxmlformats.org/officeDocument/2006/relationships/slide" Target="slides/slide25.xml"/><Relationship Id="rId75" Type="http://schemas.openxmlformats.org/officeDocument/2006/relationships/font" Target="fonts/RobotoSemiBold-boldItalic.fntdata"/><Relationship Id="rId30" Type="http://schemas.openxmlformats.org/officeDocument/2006/relationships/slide" Target="slides/slide24.xml"/><Relationship Id="rId74" Type="http://schemas.openxmlformats.org/officeDocument/2006/relationships/font" Target="fonts/RobotoSemiBold-italic.fntdata"/><Relationship Id="rId33" Type="http://schemas.openxmlformats.org/officeDocument/2006/relationships/slide" Target="slides/slide27.xml"/><Relationship Id="rId77" Type="http://schemas.openxmlformats.org/officeDocument/2006/relationships/font" Target="fonts/OpenSansMedium-bold.fntdata"/><Relationship Id="rId32" Type="http://schemas.openxmlformats.org/officeDocument/2006/relationships/slide" Target="slides/slide26.xml"/><Relationship Id="rId76" Type="http://schemas.openxmlformats.org/officeDocument/2006/relationships/font" Target="fonts/OpenSansMedium-regular.fntdata"/><Relationship Id="rId35" Type="http://schemas.openxmlformats.org/officeDocument/2006/relationships/slide" Target="slides/slide29.xml"/><Relationship Id="rId79" Type="http://schemas.openxmlformats.org/officeDocument/2006/relationships/font" Target="fonts/OpenSansMedium-boldItalic.fntdata"/><Relationship Id="rId34" Type="http://schemas.openxmlformats.org/officeDocument/2006/relationships/slide" Target="slides/slide28.xml"/><Relationship Id="rId78" Type="http://schemas.openxmlformats.org/officeDocument/2006/relationships/font" Target="fonts/OpenSansMedium-italic.fntdata"/><Relationship Id="rId71" Type="http://schemas.openxmlformats.org/officeDocument/2006/relationships/font" Target="fonts/JosefinSans-boldItalic.fntdata"/><Relationship Id="rId70" Type="http://schemas.openxmlformats.org/officeDocument/2006/relationships/font" Target="fonts/JosefinSans-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Poppins-italic.fntdata"/><Relationship Id="rId61" Type="http://schemas.openxmlformats.org/officeDocument/2006/relationships/font" Target="fonts/Poppins-bold.fntdata"/><Relationship Id="rId20" Type="http://schemas.openxmlformats.org/officeDocument/2006/relationships/slide" Target="slides/slide14.xml"/><Relationship Id="rId64" Type="http://schemas.openxmlformats.org/officeDocument/2006/relationships/font" Target="fonts/OpenSansSemiBold-regular.fntdata"/><Relationship Id="rId63" Type="http://schemas.openxmlformats.org/officeDocument/2006/relationships/font" Target="fonts/Poppins-boldItalic.fntdata"/><Relationship Id="rId22" Type="http://schemas.openxmlformats.org/officeDocument/2006/relationships/slide" Target="slides/slide16.xml"/><Relationship Id="rId66" Type="http://schemas.openxmlformats.org/officeDocument/2006/relationships/font" Target="fonts/OpenSansSemiBold-italic.fntdata"/><Relationship Id="rId21" Type="http://schemas.openxmlformats.org/officeDocument/2006/relationships/slide" Target="slides/slide15.xml"/><Relationship Id="rId65" Type="http://schemas.openxmlformats.org/officeDocument/2006/relationships/font" Target="fonts/OpenSansSemiBold-bold.fntdata"/><Relationship Id="rId24" Type="http://schemas.openxmlformats.org/officeDocument/2006/relationships/slide" Target="slides/slide18.xml"/><Relationship Id="rId68" Type="http://schemas.openxmlformats.org/officeDocument/2006/relationships/font" Target="fonts/JosefinSans-regular.fntdata"/><Relationship Id="rId23" Type="http://schemas.openxmlformats.org/officeDocument/2006/relationships/slide" Target="slides/slide17.xml"/><Relationship Id="rId67" Type="http://schemas.openxmlformats.org/officeDocument/2006/relationships/font" Target="fonts/OpenSansSemiBold-boldItalic.fntdata"/><Relationship Id="rId60" Type="http://schemas.openxmlformats.org/officeDocument/2006/relationships/font" Target="fonts/Poppins-regular.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JosefinSans-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Roboto-bold.fntdata"/><Relationship Id="rId52" Type="http://schemas.openxmlformats.org/officeDocument/2006/relationships/font" Target="fonts/Roboto-regular.fntdata"/><Relationship Id="rId11" Type="http://schemas.openxmlformats.org/officeDocument/2006/relationships/slide" Target="slides/slide5.xml"/><Relationship Id="rId55" Type="http://schemas.openxmlformats.org/officeDocument/2006/relationships/font" Target="fonts/Roboto-boldItalic.fntdata"/><Relationship Id="rId10" Type="http://schemas.openxmlformats.org/officeDocument/2006/relationships/slide" Target="slides/slide4.xml"/><Relationship Id="rId54" Type="http://schemas.openxmlformats.org/officeDocument/2006/relationships/font" Target="fonts/Roboto-italic.fntdata"/><Relationship Id="rId13" Type="http://schemas.openxmlformats.org/officeDocument/2006/relationships/slide" Target="slides/slide7.xml"/><Relationship Id="rId57" Type="http://schemas.openxmlformats.org/officeDocument/2006/relationships/font" Target="fonts/RobotoMedium-bold.fntdata"/><Relationship Id="rId12" Type="http://schemas.openxmlformats.org/officeDocument/2006/relationships/slide" Target="slides/slide6.xml"/><Relationship Id="rId56" Type="http://schemas.openxmlformats.org/officeDocument/2006/relationships/font" Target="fonts/RobotoMedium-regular.fntdata"/><Relationship Id="rId15" Type="http://schemas.openxmlformats.org/officeDocument/2006/relationships/slide" Target="slides/slide9.xml"/><Relationship Id="rId59" Type="http://schemas.openxmlformats.org/officeDocument/2006/relationships/font" Target="fonts/RobotoMedium-boldItalic.fntdata"/><Relationship Id="rId14" Type="http://schemas.openxmlformats.org/officeDocument/2006/relationships/slide" Target="slides/slide8.xml"/><Relationship Id="rId58" Type="http://schemas.openxmlformats.org/officeDocument/2006/relationships/font" Target="fonts/RobotoMedium-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2-09T16:42:25.695">
    <p:pos x="449" y="280"/>
    <p:text>change to screen shot of making a release in GitHub</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spack/spack"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TOML" TargetMode="External"/><Relationship Id="rId3" Type="http://schemas.openxmlformats.org/officeDocument/2006/relationships/hyperlink" Target="https://peps.python.org/pep-0621/"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6abdd4375_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c6abdd4375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https://jt14den.github.io/research-software-citable-discoverable/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c6abdd4375_1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c6abdd4375_1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2664bca094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2664bca09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d000ec78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bd000ec78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We see this often in consulting. A research staff member came to us asking for Python training because, in their words, “I’m the only one who knows how to write or run the script that powers our research.” That’s not a skill gap. It’s a single point of failure.</a:t>
            </a:r>
            <a:endParaRPr/>
          </a:p>
          <a:p>
            <a:pPr indent="0" lvl="0" marL="0" rtl="0" algn="l">
              <a:lnSpc>
                <a:spcPct val="115000"/>
              </a:lnSpc>
              <a:spcBef>
                <a:spcPts val="1200"/>
              </a:spcBef>
              <a:spcAft>
                <a:spcPts val="0"/>
              </a:spcAft>
              <a:buClr>
                <a:schemeClr val="dk1"/>
              </a:buClr>
              <a:buSzPts val="1100"/>
              <a:buFont typeface="Arial"/>
              <a:buNone/>
            </a:pPr>
            <a:r>
              <a:rPr lang="en"/>
              <a:t>This is sometimes called the “bus factor” problem. If one person disappears, intentionally or not, the project can’t move forward.</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bd7778512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bd7778512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bd7778512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bd7778512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bd000ec78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bd000ec78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lnSpc>
                <a:spcPct val="115000"/>
              </a:lnSpc>
              <a:spcBef>
                <a:spcPts val="0"/>
              </a:spcBef>
              <a:spcAft>
                <a:spcPts val="0"/>
              </a:spcAft>
              <a:buNone/>
            </a:pPr>
            <a:r>
              <a:t/>
            </a:r>
            <a:endParaRPr sz="115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c6abdd4375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c6abdd4375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u="sng">
                <a:solidFill>
                  <a:schemeClr val="dk1"/>
                </a:solidFill>
                <a:latin typeface="Open Sans"/>
                <a:ea typeface="Open Sans"/>
                <a:cs typeface="Open Sans"/>
                <a:sym typeface="Open Sans"/>
                <a:hlinkClick r:id="rId2">
                  <a:extLst>
                    <a:ext uri="{A12FA001-AC4F-418D-AE19-62706E023703}">
                      <ahyp:hlinkClr val="tx"/>
                    </a:ext>
                  </a:extLst>
                </a:hlinkClick>
              </a:rPr>
              <a:t>https://github.com/spack/spack</a:t>
            </a:r>
            <a:r>
              <a:rPr b="1" lang="en" sz="1200">
                <a:solidFill>
                  <a:schemeClr val="dk1"/>
                </a:solidFill>
                <a:latin typeface="Open Sans"/>
                <a:ea typeface="Open Sans"/>
                <a:cs typeface="Open Sans"/>
                <a:sym typeface="Open Sans"/>
              </a:rPr>
              <a:t> </a:t>
            </a:r>
            <a:endParaRPr b="1" sz="12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be5887544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be5887544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6abdd4375_6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c6abdd4375_6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bd000ec786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bd000ec786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c6abdd4375_11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c6abdd4375_11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lang="en" sz="1500">
                <a:solidFill>
                  <a:schemeClr val="dk1"/>
                </a:solidFill>
                <a:latin typeface="Roboto"/>
                <a:ea typeface="Roboto"/>
                <a:cs typeface="Roboto"/>
                <a:sym typeface="Roboto"/>
              </a:rPr>
              <a:t>1. Permissive Licenses</a:t>
            </a:r>
            <a:endParaRPr sz="1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lang="en" sz="1200">
                <a:solidFill>
                  <a:schemeClr val="dk1"/>
                </a:solidFill>
                <a:latin typeface="Roboto"/>
                <a:ea typeface="Roboto"/>
                <a:cs typeface="Roboto"/>
                <a:sym typeface="Roboto"/>
              </a:rPr>
              <a:t>These are "no strings attached" licenses. They allow you to do almost anything with the code, including using it in proprietary (closed-source) software, as long as you keep the original copyright notice and disclaimer.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300">
                <a:solidFill>
                  <a:schemeClr val="dk1"/>
                </a:solidFill>
              </a:rPr>
              <a:t>2. Copyleft Licenses</a:t>
            </a:r>
            <a:endParaRPr sz="1300">
              <a:solidFill>
                <a:schemeClr val="dk1"/>
              </a:solidFill>
            </a:endParaRPr>
          </a:p>
          <a:p>
            <a:pPr indent="0" lvl="0" marL="0" rtl="0" algn="l">
              <a:lnSpc>
                <a:spcPct val="115000"/>
              </a:lnSpc>
              <a:spcBef>
                <a:spcPts val="1200"/>
              </a:spcBef>
              <a:spcAft>
                <a:spcPts val="1200"/>
              </a:spcAft>
              <a:buNone/>
            </a:pPr>
            <a:r>
              <a:rPr lang="en" sz="1300">
                <a:solidFill>
                  <a:schemeClr val="dk1"/>
                </a:solidFill>
              </a:rPr>
              <a:t>These are often called "reciprocal" or "viral" licenses. They require that if you modify the code and distribute it, your new version must also be licensed under the same open-source license.</a:t>
            </a:r>
            <a:endParaRPr sz="13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c6abdd4375_6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c6abdd4375_6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c6abdd4375_6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c6abdd4375_6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c6abdd4375_6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c6abdd4375_6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They will:</a:t>
            </a:r>
            <a:endParaRPr/>
          </a:p>
          <a:p>
            <a:pPr indent="0" lvl="0" marL="0" rtl="0" algn="l">
              <a:spcBef>
                <a:spcPts val="0"/>
              </a:spcBef>
              <a:spcAft>
                <a:spcPts val="0"/>
              </a:spcAft>
              <a:buNone/>
            </a:pPr>
            <a:r>
              <a:rPr lang="en"/>
              <a:t>Verify ownership and funding requirements.</a:t>
            </a:r>
            <a:endParaRPr/>
          </a:p>
          <a:p>
            <a:pPr indent="0" lvl="0" marL="0" rtl="0" algn="l">
              <a:spcBef>
                <a:spcPts val="0"/>
              </a:spcBef>
              <a:spcAft>
                <a:spcPts val="0"/>
              </a:spcAft>
              <a:buNone/>
            </a:pPr>
            <a:r>
              <a:rPr lang="en"/>
              <a:t>Ensure no third-party restrictions apply (e.g., from proprietary libraries).</a:t>
            </a:r>
            <a:endParaRPr/>
          </a:p>
          <a:p>
            <a:pPr indent="0" lvl="0" marL="0" rtl="0" algn="l">
              <a:spcBef>
                <a:spcPts val="0"/>
              </a:spcBef>
              <a:spcAft>
                <a:spcPts val="0"/>
              </a:spcAft>
              <a:buNone/>
            </a:pPr>
            <a:r>
              <a:rPr lang="en"/>
              <a:t>Help you select the most appropriate license from the UC-recommended list.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c6abdd4375_6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c6abdd4375_6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Change slide to:</a:t>
            </a:r>
            <a:endParaRPr/>
          </a:p>
          <a:p>
            <a:pPr indent="0" lvl="0" marL="0" rtl="0" algn="l">
              <a:spcBef>
                <a:spcPts val="0"/>
              </a:spcBef>
              <a:spcAft>
                <a:spcPts val="0"/>
              </a:spcAft>
              <a:buNone/>
            </a:pPr>
            <a:r>
              <a:rPr lang="en"/>
              <a:t>When creating a github repo choose your license </a:t>
            </a:r>
            <a:endParaRPr/>
          </a:p>
          <a:p>
            <a:pPr indent="0" lvl="0" marL="0" rtl="0" algn="l">
              <a:spcBef>
                <a:spcPts val="0"/>
              </a:spcBef>
              <a:spcAft>
                <a:spcPts val="0"/>
              </a:spcAft>
              <a:buNone/>
            </a:pPr>
            <a:r>
              <a:rPr lang="en"/>
              <a:t>Screenshot github repo license selection  </a:t>
            </a:r>
            <a:endParaRPr/>
          </a:p>
          <a:p>
            <a:pPr indent="0" lvl="0" marL="0" rtl="0" algn="l">
              <a:spcBef>
                <a:spcPts val="0"/>
              </a:spcBef>
              <a:spcAft>
                <a:spcPts val="0"/>
              </a:spcAft>
              <a:buNone/>
            </a:pPr>
            <a:r>
              <a:rPr lang="en"/>
              <a:t>Make sure your put a license , bsd3 for UC or contact TTO for confirmation and information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c6abdd4375_6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c6abdd4375_6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bd000ec786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bd000ec786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 Managing environments allows software to be run with specific settings ensuring that everyone using it is able to use the exact version - making the process reproducible.     </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Why Environments Matter</a:t>
            </a:r>
            <a:endParaRPr b="1"/>
          </a:p>
          <a:p>
            <a:pPr indent="-298450" lvl="0" marL="457200" rtl="0" algn="l">
              <a:spcBef>
                <a:spcPts val="0"/>
              </a:spcBef>
              <a:spcAft>
                <a:spcPts val="0"/>
              </a:spcAft>
              <a:buSzPts val="1100"/>
              <a:buChar char="●"/>
            </a:pPr>
            <a:r>
              <a:rPr lang="en"/>
              <a:t>For researchers, this supports:</a:t>
            </a:r>
            <a:endParaRPr/>
          </a:p>
          <a:p>
            <a:pPr indent="-298450" lvl="0" marL="457200" rtl="0" algn="l">
              <a:spcBef>
                <a:spcPts val="0"/>
              </a:spcBef>
              <a:spcAft>
                <a:spcPts val="0"/>
              </a:spcAft>
              <a:buSzPts val="1100"/>
              <a:buChar char="●"/>
            </a:pPr>
            <a:r>
              <a:rPr lang="en"/>
              <a:t>reproducibility</a:t>
            </a:r>
            <a:endParaRPr/>
          </a:p>
          <a:p>
            <a:pPr indent="-298450" lvl="0" marL="457200" rtl="0" algn="l">
              <a:spcBef>
                <a:spcPts val="0"/>
              </a:spcBef>
              <a:spcAft>
                <a:spcPts val="0"/>
              </a:spcAft>
              <a:buSzPts val="1100"/>
              <a:buChar char="●"/>
            </a:pPr>
            <a:r>
              <a:rPr lang="en"/>
              <a:t>clearer documentation</a:t>
            </a:r>
            <a:endParaRPr/>
          </a:p>
          <a:p>
            <a:pPr indent="-298450" lvl="0" marL="457200" rtl="0" algn="l">
              <a:spcBef>
                <a:spcPts val="0"/>
              </a:spcBef>
              <a:spcAft>
                <a:spcPts val="0"/>
              </a:spcAft>
              <a:buSzPts val="1100"/>
              <a:buChar char="●"/>
            </a:pPr>
            <a:r>
              <a:rPr lang="en"/>
              <a:t>better long term maintenance</a:t>
            </a:r>
            <a:endParaRPr/>
          </a:p>
          <a:p>
            <a:pPr indent="-298450" lvl="0" marL="457200" rtl="0" algn="l">
              <a:spcBef>
                <a:spcPts val="0"/>
              </a:spcBef>
              <a:spcAft>
                <a:spcPts val="0"/>
              </a:spcAft>
              <a:buSzPts val="1100"/>
              <a:buChar char="●"/>
            </a:pPr>
            <a:r>
              <a:rPr lang="en"/>
              <a:t>a stronger foundation for citation and reuse</a:t>
            </a:r>
            <a:endParaRPr/>
          </a:p>
          <a:p>
            <a:pPr indent="-298450" lvl="0" marL="457200" rtl="0" algn="l">
              <a:spcBef>
                <a:spcPts val="0"/>
              </a:spcBef>
              <a:spcAft>
                <a:spcPts val="0"/>
              </a:spcAft>
              <a:buClr>
                <a:schemeClr val="dk1"/>
              </a:buClr>
              <a:buSzPts val="1100"/>
              <a:buChar char="●"/>
            </a:pPr>
            <a:r>
              <a:rPr lang="en">
                <a:solidFill>
                  <a:schemeClr val="dk1"/>
                </a:solidFill>
              </a:rPr>
              <a:t>For example, while developing software in a team, clearly documented code makes it easier to test, run, and de-bug code if needed.</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c6abdd4375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c6abdd4375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You may have used or heard of package managers (pip, venv; Posit from the developers of RStudio) and conda and mamba.</a:t>
            </a:r>
            <a:endParaRPr/>
          </a:p>
          <a:p>
            <a:pPr indent="-298450" lvl="0" marL="457200" rtl="0" algn="l">
              <a:spcBef>
                <a:spcPts val="0"/>
              </a:spcBef>
              <a:spcAft>
                <a:spcPts val="0"/>
              </a:spcAft>
              <a:buSzPts val="1100"/>
              <a:buChar char="●"/>
            </a:pPr>
            <a:r>
              <a:rPr lang="en">
                <a:solidFill>
                  <a:schemeClr val="dk1"/>
                </a:solidFill>
              </a:rPr>
              <a:t>While there are many environment managers available, we’re highlighting Pixi as an example since it works across languages and platforms.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bd77785123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bd77785123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 common standard for documenting project metadata is in a .toml file - </a:t>
            </a:r>
            <a:r>
              <a:rPr lang="en"/>
              <a:t>Tom's Obvious, Minimal Language (TOML, originally Tom's Own Markup Language) </a:t>
            </a:r>
            <a:r>
              <a:rPr lang="en" u="sng">
                <a:solidFill>
                  <a:schemeClr val="hlink"/>
                </a:solidFill>
                <a:hlinkClick r:id="rId2"/>
              </a:rPr>
              <a:t>https://en.wikipedia.org/wiki/TOML</a:t>
            </a:r>
            <a:endParaRPr/>
          </a:p>
          <a:p>
            <a:pPr indent="-298450" lvl="0" marL="457200" rtl="0" algn="l">
              <a:spcBef>
                <a:spcPts val="0"/>
              </a:spcBef>
              <a:spcAft>
                <a:spcPts val="0"/>
              </a:spcAft>
              <a:buSzPts val="1100"/>
              <a:buChar char="●"/>
            </a:pPr>
            <a:r>
              <a:rPr lang="en" u="sng">
                <a:solidFill>
                  <a:schemeClr val="hlink"/>
                </a:solidFill>
                <a:hlinkClick r:id="rId3"/>
              </a:rPr>
              <a:t>https://peps.python.org/pep-0621/</a:t>
            </a:r>
            <a:r>
              <a:rPr lang="en"/>
              <a:t> </a:t>
            </a:r>
            <a:endParaRPr/>
          </a:p>
          <a:p>
            <a:pPr indent="-298450" lvl="0" marL="457200" rtl="0" algn="l">
              <a:spcBef>
                <a:spcPts val="0"/>
              </a:spcBef>
              <a:spcAft>
                <a:spcPts val="0"/>
              </a:spcAft>
              <a:buSzPts val="1100"/>
              <a:buChar char="●"/>
            </a:pPr>
            <a:r>
              <a:rPr b="1" lang="en"/>
              <a:t>TOML</a:t>
            </a:r>
            <a:r>
              <a:rPr lang="en"/>
              <a:t>: e.g. is human-edited, includes version ranges, high-level dependencies.</a:t>
            </a:r>
            <a:endParaRPr/>
          </a:p>
          <a:p>
            <a:pPr indent="-298450" lvl="0" marL="457200" rtl="0" algn="l">
              <a:spcBef>
                <a:spcPts val="0"/>
              </a:spcBef>
              <a:spcAft>
                <a:spcPts val="0"/>
              </a:spcAft>
              <a:buSzPts val="1100"/>
              <a:buChar char="●"/>
            </a:pPr>
            <a:r>
              <a:rPr b="1" lang="en"/>
              <a:t>Lock Files</a:t>
            </a:r>
            <a:r>
              <a:rPr lang="en"/>
              <a:t>: auto-generated, include exact version ranges, lists the full dependency tree - dependencies and the dependencies they </a:t>
            </a:r>
            <a:r>
              <a:rPr lang="en"/>
              <a:t>rely on.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bdb85895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bdb85895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bd77785123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bd77785123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c6abdd4375_1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c6abdd4375_1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c6abdd4375_1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c6abdd4375_1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Pixi is known for its speed! Each of these installations took about 1 second if not less.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Keeping Repositories Clean (.gitignore)</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When you run pixi init, pixi automatically creates a .gitignore file. This file tells Git which files to ignore. Pixi creates a hidden .pixi/ folder containing thousands of environment files. You never want to commit this folder to GitHub - it is large, platform-specific, and can be regenerated by anyone using your pixi.lock file.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c6abdd4375_1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c6abdd4375_1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c6abdd4375_1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c6abdd4375_1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c6abdd4375_12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c6abdd4375_12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c6abdd4375_12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c6abdd4375_12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FAIR: Findable, Accessible, Interoperable, Reusable</a:t>
            </a:r>
            <a:endParaRPr sz="1200"/>
          </a:p>
          <a:p>
            <a:pPr indent="-304800" lvl="0" marL="457200" rtl="0" algn="l">
              <a:lnSpc>
                <a:spcPct val="115000"/>
              </a:lnSpc>
              <a:spcBef>
                <a:spcPts val="0"/>
              </a:spcBef>
              <a:spcAft>
                <a:spcPts val="0"/>
              </a:spcAft>
              <a:buClr>
                <a:srgbClr val="595959"/>
              </a:buClr>
              <a:buSzPts val="1200"/>
              <a:buChar char="●"/>
            </a:pPr>
            <a:r>
              <a:rPr lang="en" sz="1200">
                <a:solidFill>
                  <a:srgbClr val="595959"/>
                </a:solidFill>
              </a:rPr>
              <a:t>Reproducible environments reduce troubleshooting and support more reusable software.</a:t>
            </a:r>
            <a:endParaRPr sz="1200">
              <a:solidFill>
                <a:srgbClr val="595959"/>
              </a:solidFill>
            </a:endParaRPr>
          </a:p>
          <a:p>
            <a:pPr indent="-304800" lvl="0" marL="457200" rtl="0" algn="l">
              <a:lnSpc>
                <a:spcPct val="115000"/>
              </a:lnSpc>
              <a:spcBef>
                <a:spcPts val="0"/>
              </a:spcBef>
              <a:spcAft>
                <a:spcPts val="0"/>
              </a:spcAft>
              <a:buClr>
                <a:srgbClr val="595959"/>
              </a:buClr>
              <a:buSzPts val="1200"/>
              <a:buChar char="●"/>
            </a:pPr>
            <a:r>
              <a:rPr lang="en" sz="1200">
                <a:solidFill>
                  <a:srgbClr val="595959"/>
                </a:solidFill>
                <a:latin typeface="Consolas"/>
                <a:ea typeface="Consolas"/>
                <a:cs typeface="Consolas"/>
                <a:sym typeface="Consolas"/>
              </a:rPr>
              <a:t>pixi</a:t>
            </a:r>
            <a:r>
              <a:rPr lang="en" sz="1200">
                <a:solidFill>
                  <a:srgbClr val="595959"/>
                </a:solidFill>
              </a:rPr>
              <a:t> provides fast, cross platform environment management.</a:t>
            </a:r>
            <a:endParaRPr sz="1200">
              <a:solidFill>
                <a:srgbClr val="595959"/>
              </a:solidFill>
            </a:endParaRPr>
          </a:p>
          <a:p>
            <a:pPr indent="-304800" lvl="0" marL="457200" rtl="0" algn="l">
              <a:lnSpc>
                <a:spcPct val="115000"/>
              </a:lnSpc>
              <a:spcBef>
                <a:spcPts val="0"/>
              </a:spcBef>
              <a:spcAft>
                <a:spcPts val="0"/>
              </a:spcAft>
              <a:buClr>
                <a:srgbClr val="595959"/>
              </a:buClr>
              <a:buSzPts val="1200"/>
              <a:buChar char="●"/>
            </a:pPr>
            <a:r>
              <a:rPr lang="en" sz="1200">
                <a:solidFill>
                  <a:srgbClr val="595959"/>
                </a:solidFill>
              </a:rPr>
              <a:t>The </a:t>
            </a:r>
            <a:r>
              <a:rPr lang="en" sz="1200">
                <a:solidFill>
                  <a:srgbClr val="595959"/>
                </a:solidFill>
                <a:latin typeface="Consolas"/>
                <a:ea typeface="Consolas"/>
                <a:cs typeface="Consolas"/>
                <a:sym typeface="Consolas"/>
              </a:rPr>
              <a:t>pixi.toml</a:t>
            </a:r>
            <a:r>
              <a:rPr lang="en" sz="1200">
                <a:solidFill>
                  <a:srgbClr val="595959"/>
                </a:solidFill>
              </a:rPr>
              <a:t> file acts as documentation that supports citation and FAIR4RS principles.</a:t>
            </a:r>
            <a:endParaRPr sz="1200">
              <a:solidFill>
                <a:srgbClr val="595959"/>
              </a:solidFill>
            </a:endParaRPr>
          </a:p>
          <a:p>
            <a:pPr indent="-304800" lvl="0" marL="457200" rtl="0" algn="l">
              <a:lnSpc>
                <a:spcPct val="115000"/>
              </a:lnSpc>
              <a:spcBef>
                <a:spcPts val="0"/>
              </a:spcBef>
              <a:spcAft>
                <a:spcPts val="0"/>
              </a:spcAft>
              <a:buClr>
                <a:srgbClr val="595959"/>
              </a:buClr>
              <a:buSzPts val="1200"/>
              <a:buChar char="●"/>
            </a:pPr>
            <a:r>
              <a:rPr lang="en" sz="1200">
                <a:solidFill>
                  <a:srgbClr val="595959"/>
                </a:solidFill>
              </a:rPr>
              <a:t>Use </a:t>
            </a:r>
            <a:r>
              <a:rPr lang="en" sz="1200">
                <a:solidFill>
                  <a:srgbClr val="595959"/>
                </a:solidFill>
                <a:latin typeface="Consolas"/>
                <a:ea typeface="Consolas"/>
                <a:cs typeface="Consolas"/>
                <a:sym typeface="Consolas"/>
              </a:rPr>
              <a:t>pixi run</a:t>
            </a:r>
            <a:r>
              <a:rPr lang="en" sz="1200">
                <a:solidFill>
                  <a:srgbClr val="595959"/>
                </a:solidFill>
              </a:rPr>
              <a:t> to execute Python or R code inside a reproducible environment.</a:t>
            </a:r>
            <a:endParaRPr sz="1200">
              <a:solidFill>
                <a:srgbClr val="595959"/>
              </a:solidFill>
            </a:endParaRPr>
          </a:p>
          <a:p>
            <a:pPr indent="-304800" lvl="0" marL="457200" rtl="0" algn="l">
              <a:lnSpc>
                <a:spcPct val="115000"/>
              </a:lnSpc>
              <a:spcBef>
                <a:spcPts val="0"/>
              </a:spcBef>
              <a:spcAft>
                <a:spcPts val="0"/>
              </a:spcAft>
              <a:buClr>
                <a:srgbClr val="595959"/>
              </a:buClr>
              <a:buSzPts val="1200"/>
              <a:buChar char="●"/>
            </a:pPr>
            <a:r>
              <a:rPr b="1" lang="en" sz="1200">
                <a:solidFill>
                  <a:srgbClr val="595959"/>
                </a:solidFill>
              </a:rPr>
              <a:t>Promotes</a:t>
            </a:r>
            <a:r>
              <a:rPr lang="en" sz="1200">
                <a:solidFill>
                  <a:srgbClr val="595959"/>
                </a:solidFill>
              </a:rPr>
              <a:t> </a:t>
            </a:r>
            <a:r>
              <a:rPr b="1" lang="en" sz="1200">
                <a:solidFill>
                  <a:srgbClr val="595959"/>
                </a:solidFill>
              </a:rPr>
              <a:t>open science</a:t>
            </a:r>
            <a:r>
              <a:rPr lang="en" sz="1200">
                <a:solidFill>
                  <a:srgbClr val="595959"/>
                </a:solidFill>
              </a:rPr>
              <a:t> and open research.</a:t>
            </a:r>
            <a:endParaRPr sz="1200">
              <a:solidFill>
                <a:srgbClr val="595959"/>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bd77785123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bd7778512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bd7778512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bd7778512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bd77785123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bd77785123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be5887544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be5887544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hand edit a CFF file, but I use the CFF Init site to walk me thru the fields.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bd000ec786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bd000ec786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bd000ec786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bd000ec786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bd7778512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bd7778512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GithHub screenshot instead of git commands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bd77785123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bd77785123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bd000ec786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bd000ec786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place end user people will look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bd000ec786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bd000ec786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Create a repo , create a readme &amp; add as much information you have at that point </a:t>
            </a:r>
            <a:endParaRPr b="1"/>
          </a:p>
          <a:p>
            <a:pPr indent="0" lvl="0" marL="0" rtl="0" algn="l">
              <a:spcBef>
                <a:spcPts val="0"/>
              </a:spcBef>
              <a:spcAft>
                <a:spcPts val="0"/>
              </a:spcAft>
              <a:buNone/>
            </a:pPr>
            <a:r>
              <a:rPr lang="en"/>
              <a:t>Puta s much </a:t>
            </a:r>
            <a:r>
              <a:rPr lang="en"/>
              <a:t>information</a:t>
            </a:r>
            <a:r>
              <a:rPr lang="en"/>
              <a:t> as you can at each point </a:t>
            </a:r>
            <a:r>
              <a:rPr lang="en"/>
              <a:t>during</a:t>
            </a:r>
            <a:r>
              <a:rPr lang="en"/>
              <a:t> your project </a:t>
            </a:r>
            <a:endParaRPr/>
          </a:p>
          <a:p>
            <a:pPr indent="0" lvl="0" marL="0" rtl="0" algn="l">
              <a:spcBef>
                <a:spcPts val="0"/>
              </a:spcBef>
              <a:spcAft>
                <a:spcPts val="0"/>
              </a:spcAft>
              <a:buNone/>
            </a:pPr>
            <a:r>
              <a:rPr lang="en"/>
              <a:t>Update Add </a:t>
            </a:r>
            <a:r>
              <a:rPr lang="en"/>
              <a:t>information</a:t>
            </a:r>
            <a:r>
              <a:rPr lang="en"/>
              <a:t> as you work on your project or make </a:t>
            </a:r>
            <a:r>
              <a:rPr lang="en"/>
              <a:t>changes</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bd7778512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bd7778512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bd77785123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bd77785123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bd77785123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bd77785123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bd7778512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bd7778512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bd77785123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bd77785123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1882ffce20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1882ffce20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bd000ec786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bd000ec786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4.jpg"/><Relationship Id="rId7" Type="http://schemas.openxmlformats.org/officeDocument/2006/relationships/image" Target="../media/image6.png"/><Relationship Id="rId8"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4.jpg"/><Relationship Id="rId7" Type="http://schemas.openxmlformats.org/officeDocument/2006/relationships/image" Target="../media/image6.png"/><Relationship Id="rId8"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4.jpg"/><Relationship Id="rId7" Type="http://schemas.openxmlformats.org/officeDocument/2006/relationships/image" Target="../media/image6.png"/><Relationship Id="rId8"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4.jpg"/><Relationship Id="rId7" Type="http://schemas.openxmlformats.org/officeDocument/2006/relationships/image" Target="../media/image6.png"/><Relationship Id="rId8"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4.jpg"/><Relationship Id="rId7" Type="http://schemas.openxmlformats.org/officeDocument/2006/relationships/image" Target="../media/image6.png"/><Relationship Id="rId8"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4.jpg"/><Relationship Id="rId7" Type="http://schemas.openxmlformats.org/officeDocument/2006/relationships/image" Target="../media/image6.png"/><Relationship Id="rId8"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mt="18000"/>
          </a:blip>
          <a:stretch>
            <a:fillRect/>
          </a:stretch>
        </p:blipFill>
        <p:spPr>
          <a:xfrm>
            <a:off x="0" y="0"/>
            <a:ext cx="9144000" cy="5143501"/>
          </a:xfrm>
          <a:prstGeom prst="rect">
            <a:avLst/>
          </a:prstGeom>
          <a:noFill/>
          <a:ln>
            <a:noFill/>
          </a:ln>
        </p:spPr>
      </p:pic>
      <p:sp>
        <p:nvSpPr>
          <p:cNvPr id="10" name="Google Shape;10;p2"/>
          <p:cNvSpPr txBox="1"/>
          <p:nvPr>
            <p:ph type="ctrTitle"/>
          </p:nvPr>
        </p:nvSpPr>
        <p:spPr>
          <a:xfrm>
            <a:off x="967850" y="984475"/>
            <a:ext cx="6919200" cy="1999200"/>
          </a:xfrm>
          <a:prstGeom prst="rect">
            <a:avLst/>
          </a:prstGeom>
          <a:effectLst>
            <a:outerShdw blurRad="57150" rotWithShape="0" algn="bl" dir="5400000" dist="19050">
              <a:srgbClr val="000000">
                <a:alpha val="50000"/>
              </a:srgbClr>
            </a:outerShdw>
          </a:effectLst>
        </p:spPr>
        <p:txBody>
          <a:bodyPr anchorCtr="0" anchor="b" bIns="91425" lIns="91425" spcFirstLastPara="1" rIns="91425" wrap="square" tIns="91425">
            <a:noAutofit/>
          </a:bodyPr>
          <a:lstStyle>
            <a:lvl1pPr lvl="0" algn="l">
              <a:lnSpc>
                <a:spcPct val="80000"/>
              </a:lnSpc>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967850" y="3175200"/>
            <a:ext cx="6267300" cy="38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nSpc>
                <a:spcPct val="100000"/>
              </a:lnSpc>
              <a:spcBef>
                <a:spcPts val="0"/>
              </a:spcBef>
              <a:spcAft>
                <a:spcPts val="0"/>
              </a:spcAft>
              <a:buSzPts val="1200"/>
              <a:buNone/>
              <a:defRPr sz="1600">
                <a:solidFill>
                  <a:schemeClr val="dk2"/>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 name="Google Shape;12;p2"/>
          <p:cNvGrpSpPr/>
          <p:nvPr/>
        </p:nvGrpSpPr>
        <p:grpSpPr>
          <a:xfrm>
            <a:off x="364200" y="344600"/>
            <a:ext cx="8426625" cy="4231212"/>
            <a:chOff x="364200" y="361300"/>
            <a:chExt cx="8426625" cy="4443150"/>
          </a:xfrm>
        </p:grpSpPr>
        <p:cxnSp>
          <p:nvCxnSpPr>
            <p:cNvPr id="13" name="Google Shape;13;p2"/>
            <p:cNvCxnSpPr/>
            <p:nvPr/>
          </p:nvCxnSpPr>
          <p:spPr>
            <a:xfrm>
              <a:off x="368400" y="364400"/>
              <a:ext cx="0" cy="4431600"/>
            </a:xfrm>
            <a:prstGeom prst="straightConnector1">
              <a:avLst/>
            </a:prstGeom>
            <a:noFill/>
            <a:ln cap="flat" cmpd="sng" w="9525">
              <a:solidFill>
                <a:srgbClr val="ECB63A"/>
              </a:solidFill>
              <a:prstDash val="solid"/>
              <a:round/>
              <a:headEnd len="med" w="med" type="none"/>
              <a:tailEnd len="med" w="med" type="none"/>
            </a:ln>
          </p:spPr>
        </p:cxnSp>
        <p:cxnSp>
          <p:nvCxnSpPr>
            <p:cNvPr id="14" name="Google Shape;14;p2"/>
            <p:cNvCxnSpPr/>
            <p:nvPr/>
          </p:nvCxnSpPr>
          <p:spPr>
            <a:xfrm>
              <a:off x="370795" y="4791550"/>
              <a:ext cx="6900000" cy="12900"/>
            </a:xfrm>
            <a:prstGeom prst="straightConnector1">
              <a:avLst/>
            </a:prstGeom>
            <a:noFill/>
            <a:ln cap="flat" cmpd="sng" w="9525">
              <a:solidFill>
                <a:srgbClr val="ECB63A"/>
              </a:solidFill>
              <a:prstDash val="solid"/>
              <a:round/>
              <a:headEnd len="med" w="med" type="none"/>
              <a:tailEnd len="med" w="med" type="oval"/>
            </a:ln>
          </p:spPr>
        </p:cxnSp>
        <p:cxnSp>
          <p:nvCxnSpPr>
            <p:cNvPr id="15" name="Google Shape;15;p2"/>
            <p:cNvCxnSpPr/>
            <p:nvPr/>
          </p:nvCxnSpPr>
          <p:spPr>
            <a:xfrm rot="10800000">
              <a:off x="8777625" y="361300"/>
              <a:ext cx="13200" cy="3524100"/>
            </a:xfrm>
            <a:prstGeom prst="straightConnector1">
              <a:avLst/>
            </a:prstGeom>
            <a:noFill/>
            <a:ln cap="flat" cmpd="sng" w="9525">
              <a:solidFill>
                <a:srgbClr val="ECB63A"/>
              </a:solidFill>
              <a:prstDash val="solid"/>
              <a:round/>
              <a:headEnd len="med" w="med" type="oval"/>
              <a:tailEnd len="med" w="med" type="none"/>
            </a:ln>
          </p:spPr>
        </p:cxnSp>
        <p:cxnSp>
          <p:nvCxnSpPr>
            <p:cNvPr id="16" name="Google Shape;16;p2"/>
            <p:cNvCxnSpPr/>
            <p:nvPr/>
          </p:nvCxnSpPr>
          <p:spPr>
            <a:xfrm>
              <a:off x="364200" y="364400"/>
              <a:ext cx="8418000" cy="0"/>
            </a:xfrm>
            <a:prstGeom prst="straightConnector1">
              <a:avLst/>
            </a:prstGeom>
            <a:noFill/>
            <a:ln cap="flat" cmpd="sng" w="9525">
              <a:solidFill>
                <a:srgbClr val="ECB63A"/>
              </a:solidFill>
              <a:prstDash val="solid"/>
              <a:round/>
              <a:headEnd len="med" w="med" type="none"/>
              <a:tailEnd len="med" w="med" type="none"/>
            </a:ln>
          </p:spPr>
        </p:cxnSp>
      </p:grpSp>
      <p:sp>
        <p:nvSpPr>
          <p:cNvPr id="17" name="Google Shape;17;p2"/>
          <p:cNvSpPr/>
          <p:nvPr/>
        </p:nvSpPr>
        <p:spPr>
          <a:xfrm>
            <a:off x="178200" y="176498"/>
            <a:ext cx="386400" cy="386400"/>
          </a:xfrm>
          <a:prstGeom prst="ellipse">
            <a:avLst/>
          </a:prstGeom>
          <a:solidFill>
            <a:srgbClr val="ECB63A"/>
          </a:solidFill>
          <a:ln cap="flat" cmpd="sng" w="9525">
            <a:solidFill>
              <a:srgbClr val="ECB63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18" name="Google Shape;18;p2"/>
          <p:cNvPicPr preferRelativeResize="0"/>
          <p:nvPr/>
        </p:nvPicPr>
        <p:blipFill>
          <a:blip r:embed="rId3">
            <a:alphaModFix/>
          </a:blip>
          <a:stretch>
            <a:fillRect/>
          </a:stretch>
        </p:blipFill>
        <p:spPr>
          <a:xfrm>
            <a:off x="3547955" y="4714846"/>
            <a:ext cx="563502" cy="276251"/>
          </a:xfrm>
          <a:prstGeom prst="rect">
            <a:avLst/>
          </a:prstGeom>
          <a:noFill/>
          <a:ln>
            <a:noFill/>
          </a:ln>
        </p:spPr>
      </p:pic>
      <p:pic>
        <p:nvPicPr>
          <p:cNvPr id="19" name="Google Shape;19;p2"/>
          <p:cNvPicPr preferRelativeResize="0"/>
          <p:nvPr/>
        </p:nvPicPr>
        <p:blipFill>
          <a:blip r:embed="rId4">
            <a:alphaModFix/>
          </a:blip>
          <a:stretch>
            <a:fillRect/>
          </a:stretch>
        </p:blipFill>
        <p:spPr>
          <a:xfrm>
            <a:off x="5704962" y="4714848"/>
            <a:ext cx="671135" cy="276249"/>
          </a:xfrm>
          <a:prstGeom prst="rect">
            <a:avLst/>
          </a:prstGeom>
          <a:noFill/>
          <a:ln>
            <a:noFill/>
          </a:ln>
        </p:spPr>
      </p:pic>
      <p:pic>
        <p:nvPicPr>
          <p:cNvPr id="20" name="Google Shape;20;p2"/>
          <p:cNvPicPr preferRelativeResize="0"/>
          <p:nvPr/>
        </p:nvPicPr>
        <p:blipFill>
          <a:blip r:embed="rId5">
            <a:alphaModFix/>
          </a:blip>
          <a:stretch>
            <a:fillRect/>
          </a:stretch>
        </p:blipFill>
        <p:spPr>
          <a:xfrm>
            <a:off x="364189" y="4714849"/>
            <a:ext cx="1460133" cy="276250"/>
          </a:xfrm>
          <a:prstGeom prst="rect">
            <a:avLst/>
          </a:prstGeom>
          <a:noFill/>
          <a:ln>
            <a:noFill/>
          </a:ln>
        </p:spPr>
      </p:pic>
      <p:pic>
        <p:nvPicPr>
          <p:cNvPr id="21" name="Google Shape;21;p2"/>
          <p:cNvPicPr preferRelativeResize="0"/>
          <p:nvPr/>
        </p:nvPicPr>
        <p:blipFill>
          <a:blip r:embed="rId6">
            <a:alphaModFix/>
          </a:blip>
          <a:stretch>
            <a:fillRect/>
          </a:stretch>
        </p:blipFill>
        <p:spPr>
          <a:xfrm>
            <a:off x="6445080" y="4714852"/>
            <a:ext cx="806074" cy="276250"/>
          </a:xfrm>
          <a:prstGeom prst="rect">
            <a:avLst/>
          </a:prstGeom>
          <a:noFill/>
          <a:ln>
            <a:noFill/>
          </a:ln>
        </p:spPr>
      </p:pic>
      <p:pic>
        <p:nvPicPr>
          <p:cNvPr id="22" name="Google Shape;22;p2"/>
          <p:cNvPicPr preferRelativeResize="0"/>
          <p:nvPr/>
        </p:nvPicPr>
        <p:blipFill>
          <a:blip r:embed="rId7">
            <a:alphaModFix/>
          </a:blip>
          <a:stretch>
            <a:fillRect/>
          </a:stretch>
        </p:blipFill>
        <p:spPr>
          <a:xfrm>
            <a:off x="4180441" y="4714850"/>
            <a:ext cx="1455537" cy="276250"/>
          </a:xfrm>
          <a:prstGeom prst="rect">
            <a:avLst/>
          </a:prstGeom>
          <a:noFill/>
          <a:ln>
            <a:noFill/>
          </a:ln>
        </p:spPr>
      </p:pic>
      <p:pic>
        <p:nvPicPr>
          <p:cNvPr id="23" name="Google Shape;23;p2" title="ucdavis_logo_gold.png"/>
          <p:cNvPicPr preferRelativeResize="0"/>
          <p:nvPr/>
        </p:nvPicPr>
        <p:blipFill>
          <a:blip r:embed="rId8">
            <a:alphaModFix/>
          </a:blip>
          <a:stretch>
            <a:fillRect/>
          </a:stretch>
        </p:blipFill>
        <p:spPr>
          <a:xfrm>
            <a:off x="1893306" y="4715823"/>
            <a:ext cx="1585664" cy="27432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pic>
        <p:nvPicPr>
          <p:cNvPr id="25" name="Google Shape;25;p3"/>
          <p:cNvPicPr preferRelativeResize="0"/>
          <p:nvPr/>
        </p:nvPicPr>
        <p:blipFill>
          <a:blip r:embed="rId2">
            <a:alphaModFix amt="18000"/>
          </a:blip>
          <a:stretch>
            <a:fillRect/>
          </a:stretch>
        </p:blipFill>
        <p:spPr>
          <a:xfrm>
            <a:off x="0" y="0"/>
            <a:ext cx="9144000" cy="5143501"/>
          </a:xfrm>
          <a:prstGeom prst="rect">
            <a:avLst/>
          </a:prstGeom>
          <a:noFill/>
          <a:ln>
            <a:noFill/>
          </a:ln>
        </p:spPr>
      </p:pic>
      <p:sp>
        <p:nvSpPr>
          <p:cNvPr id="26" name="Google Shape;26;p3"/>
          <p:cNvSpPr txBox="1"/>
          <p:nvPr>
            <p:ph type="title"/>
          </p:nvPr>
        </p:nvSpPr>
        <p:spPr>
          <a:xfrm>
            <a:off x="1155525" y="2074250"/>
            <a:ext cx="6681300" cy="15288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lvl1pPr lvl="0" algn="l">
              <a:spcBef>
                <a:spcPts val="0"/>
              </a:spcBef>
              <a:spcAft>
                <a:spcPts val="0"/>
              </a:spcAft>
              <a:buSzPts val="4200"/>
              <a:buNone/>
              <a:defRPr sz="4200"/>
            </a:lvl1pPr>
            <a:lvl2pPr lvl="1" algn="ctr">
              <a:spcBef>
                <a:spcPts val="0"/>
              </a:spcBef>
              <a:spcAft>
                <a:spcPts val="0"/>
              </a:spcAft>
              <a:buSzPts val="4200"/>
              <a:buFont typeface="Roboto"/>
              <a:buNone/>
              <a:defRPr sz="4200">
                <a:latin typeface="Roboto"/>
                <a:ea typeface="Roboto"/>
                <a:cs typeface="Roboto"/>
                <a:sym typeface="Roboto"/>
              </a:defRPr>
            </a:lvl2pPr>
            <a:lvl3pPr lvl="2" algn="ctr">
              <a:spcBef>
                <a:spcPts val="0"/>
              </a:spcBef>
              <a:spcAft>
                <a:spcPts val="0"/>
              </a:spcAft>
              <a:buSzPts val="4200"/>
              <a:buFont typeface="Roboto"/>
              <a:buNone/>
              <a:defRPr sz="4200">
                <a:latin typeface="Roboto"/>
                <a:ea typeface="Roboto"/>
                <a:cs typeface="Roboto"/>
                <a:sym typeface="Roboto"/>
              </a:defRPr>
            </a:lvl3pPr>
            <a:lvl4pPr lvl="3" algn="ctr">
              <a:spcBef>
                <a:spcPts val="0"/>
              </a:spcBef>
              <a:spcAft>
                <a:spcPts val="0"/>
              </a:spcAft>
              <a:buSzPts val="4200"/>
              <a:buFont typeface="Roboto"/>
              <a:buNone/>
              <a:defRPr sz="4200">
                <a:latin typeface="Roboto"/>
                <a:ea typeface="Roboto"/>
                <a:cs typeface="Roboto"/>
                <a:sym typeface="Roboto"/>
              </a:defRPr>
            </a:lvl4pPr>
            <a:lvl5pPr lvl="4" algn="ctr">
              <a:spcBef>
                <a:spcPts val="0"/>
              </a:spcBef>
              <a:spcAft>
                <a:spcPts val="0"/>
              </a:spcAft>
              <a:buSzPts val="4200"/>
              <a:buFont typeface="Roboto"/>
              <a:buNone/>
              <a:defRPr sz="4200">
                <a:latin typeface="Roboto"/>
                <a:ea typeface="Roboto"/>
                <a:cs typeface="Roboto"/>
                <a:sym typeface="Roboto"/>
              </a:defRPr>
            </a:lvl5pPr>
            <a:lvl6pPr lvl="5" algn="ctr">
              <a:spcBef>
                <a:spcPts val="0"/>
              </a:spcBef>
              <a:spcAft>
                <a:spcPts val="0"/>
              </a:spcAft>
              <a:buSzPts val="4200"/>
              <a:buFont typeface="Roboto"/>
              <a:buNone/>
              <a:defRPr sz="4200">
                <a:latin typeface="Roboto"/>
                <a:ea typeface="Roboto"/>
                <a:cs typeface="Roboto"/>
                <a:sym typeface="Roboto"/>
              </a:defRPr>
            </a:lvl6pPr>
            <a:lvl7pPr lvl="6" algn="ctr">
              <a:spcBef>
                <a:spcPts val="0"/>
              </a:spcBef>
              <a:spcAft>
                <a:spcPts val="0"/>
              </a:spcAft>
              <a:buSzPts val="4200"/>
              <a:buFont typeface="Roboto"/>
              <a:buNone/>
              <a:defRPr sz="4200">
                <a:latin typeface="Roboto"/>
                <a:ea typeface="Roboto"/>
                <a:cs typeface="Roboto"/>
                <a:sym typeface="Roboto"/>
              </a:defRPr>
            </a:lvl7pPr>
            <a:lvl8pPr lvl="7" algn="ctr">
              <a:spcBef>
                <a:spcPts val="0"/>
              </a:spcBef>
              <a:spcAft>
                <a:spcPts val="0"/>
              </a:spcAft>
              <a:buSzPts val="4200"/>
              <a:buFont typeface="Roboto"/>
              <a:buNone/>
              <a:defRPr sz="4200">
                <a:latin typeface="Roboto"/>
                <a:ea typeface="Roboto"/>
                <a:cs typeface="Roboto"/>
                <a:sym typeface="Roboto"/>
              </a:defRPr>
            </a:lvl8pPr>
            <a:lvl9pPr lvl="8" algn="ctr">
              <a:spcBef>
                <a:spcPts val="0"/>
              </a:spcBef>
              <a:spcAft>
                <a:spcPts val="0"/>
              </a:spcAft>
              <a:buSzPts val="4200"/>
              <a:buFont typeface="Roboto"/>
              <a:buNone/>
              <a:defRPr sz="4200">
                <a:latin typeface="Roboto"/>
                <a:ea typeface="Roboto"/>
                <a:cs typeface="Roboto"/>
                <a:sym typeface="Roboto"/>
              </a:defRPr>
            </a:lvl9pPr>
          </a:lstStyle>
          <a:p/>
        </p:txBody>
      </p:sp>
      <p:sp>
        <p:nvSpPr>
          <p:cNvPr id="27" name="Google Shape;27;p3"/>
          <p:cNvSpPr txBox="1"/>
          <p:nvPr>
            <p:ph hasCustomPrompt="1" idx="2" type="title"/>
          </p:nvPr>
        </p:nvSpPr>
        <p:spPr>
          <a:xfrm>
            <a:off x="1155525" y="1235625"/>
            <a:ext cx="6576600" cy="9159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Clr>
                <a:schemeClr val="lt1"/>
              </a:buClr>
              <a:buSzPts val="6000"/>
              <a:buNone/>
              <a:defRPr sz="6000">
                <a:solidFill>
                  <a:schemeClr val="dk2"/>
                </a:solidFill>
              </a:defRPr>
            </a:lvl1pPr>
            <a:lvl2pPr lvl="1" rtl="0" algn="ctr">
              <a:spcBef>
                <a:spcPts val="0"/>
              </a:spcBef>
              <a:spcAft>
                <a:spcPts val="0"/>
              </a:spcAft>
              <a:buClr>
                <a:schemeClr val="lt1"/>
              </a:buClr>
              <a:buSzPts val="6000"/>
              <a:buFont typeface="Roboto"/>
              <a:buNone/>
              <a:defRPr sz="6000">
                <a:solidFill>
                  <a:schemeClr val="lt1"/>
                </a:solidFill>
                <a:latin typeface="Roboto"/>
                <a:ea typeface="Roboto"/>
                <a:cs typeface="Roboto"/>
                <a:sym typeface="Roboto"/>
              </a:defRPr>
            </a:lvl2pPr>
            <a:lvl3pPr lvl="2" rtl="0" algn="ctr">
              <a:spcBef>
                <a:spcPts val="0"/>
              </a:spcBef>
              <a:spcAft>
                <a:spcPts val="0"/>
              </a:spcAft>
              <a:buClr>
                <a:schemeClr val="lt1"/>
              </a:buClr>
              <a:buSzPts val="6000"/>
              <a:buFont typeface="Roboto"/>
              <a:buNone/>
              <a:defRPr sz="6000">
                <a:solidFill>
                  <a:schemeClr val="lt1"/>
                </a:solidFill>
                <a:latin typeface="Roboto"/>
                <a:ea typeface="Roboto"/>
                <a:cs typeface="Roboto"/>
                <a:sym typeface="Roboto"/>
              </a:defRPr>
            </a:lvl3pPr>
            <a:lvl4pPr lvl="3" rtl="0" algn="ctr">
              <a:spcBef>
                <a:spcPts val="0"/>
              </a:spcBef>
              <a:spcAft>
                <a:spcPts val="0"/>
              </a:spcAft>
              <a:buClr>
                <a:schemeClr val="lt1"/>
              </a:buClr>
              <a:buSzPts val="6000"/>
              <a:buFont typeface="Roboto"/>
              <a:buNone/>
              <a:defRPr sz="6000">
                <a:solidFill>
                  <a:schemeClr val="lt1"/>
                </a:solidFill>
                <a:latin typeface="Roboto"/>
                <a:ea typeface="Roboto"/>
                <a:cs typeface="Roboto"/>
                <a:sym typeface="Roboto"/>
              </a:defRPr>
            </a:lvl4pPr>
            <a:lvl5pPr lvl="4" rtl="0" algn="ctr">
              <a:spcBef>
                <a:spcPts val="0"/>
              </a:spcBef>
              <a:spcAft>
                <a:spcPts val="0"/>
              </a:spcAft>
              <a:buClr>
                <a:schemeClr val="lt1"/>
              </a:buClr>
              <a:buSzPts val="6000"/>
              <a:buFont typeface="Roboto"/>
              <a:buNone/>
              <a:defRPr sz="6000">
                <a:solidFill>
                  <a:schemeClr val="lt1"/>
                </a:solidFill>
                <a:latin typeface="Roboto"/>
                <a:ea typeface="Roboto"/>
                <a:cs typeface="Roboto"/>
                <a:sym typeface="Roboto"/>
              </a:defRPr>
            </a:lvl5pPr>
            <a:lvl6pPr lvl="5" rtl="0" algn="ctr">
              <a:spcBef>
                <a:spcPts val="0"/>
              </a:spcBef>
              <a:spcAft>
                <a:spcPts val="0"/>
              </a:spcAft>
              <a:buClr>
                <a:schemeClr val="lt1"/>
              </a:buClr>
              <a:buSzPts val="6000"/>
              <a:buFont typeface="Roboto"/>
              <a:buNone/>
              <a:defRPr sz="6000">
                <a:solidFill>
                  <a:schemeClr val="lt1"/>
                </a:solidFill>
                <a:latin typeface="Roboto"/>
                <a:ea typeface="Roboto"/>
                <a:cs typeface="Roboto"/>
                <a:sym typeface="Roboto"/>
              </a:defRPr>
            </a:lvl6pPr>
            <a:lvl7pPr lvl="6" rtl="0" algn="ctr">
              <a:spcBef>
                <a:spcPts val="0"/>
              </a:spcBef>
              <a:spcAft>
                <a:spcPts val="0"/>
              </a:spcAft>
              <a:buClr>
                <a:schemeClr val="lt1"/>
              </a:buClr>
              <a:buSzPts val="6000"/>
              <a:buFont typeface="Roboto"/>
              <a:buNone/>
              <a:defRPr sz="6000">
                <a:solidFill>
                  <a:schemeClr val="lt1"/>
                </a:solidFill>
                <a:latin typeface="Roboto"/>
                <a:ea typeface="Roboto"/>
                <a:cs typeface="Roboto"/>
                <a:sym typeface="Roboto"/>
              </a:defRPr>
            </a:lvl7pPr>
            <a:lvl8pPr lvl="7" rtl="0" algn="ctr">
              <a:spcBef>
                <a:spcPts val="0"/>
              </a:spcBef>
              <a:spcAft>
                <a:spcPts val="0"/>
              </a:spcAft>
              <a:buClr>
                <a:schemeClr val="lt1"/>
              </a:buClr>
              <a:buSzPts val="6000"/>
              <a:buFont typeface="Roboto"/>
              <a:buNone/>
              <a:defRPr sz="6000">
                <a:solidFill>
                  <a:schemeClr val="lt1"/>
                </a:solidFill>
                <a:latin typeface="Roboto"/>
                <a:ea typeface="Roboto"/>
                <a:cs typeface="Roboto"/>
                <a:sym typeface="Roboto"/>
              </a:defRPr>
            </a:lvl8pPr>
            <a:lvl9pPr lvl="8" rtl="0" algn="ctr">
              <a:spcBef>
                <a:spcPts val="0"/>
              </a:spcBef>
              <a:spcAft>
                <a:spcPts val="0"/>
              </a:spcAft>
              <a:buClr>
                <a:schemeClr val="lt1"/>
              </a:buClr>
              <a:buSzPts val="6000"/>
              <a:buFont typeface="Roboto"/>
              <a:buNone/>
              <a:defRPr sz="6000">
                <a:solidFill>
                  <a:schemeClr val="lt1"/>
                </a:solidFill>
                <a:latin typeface="Roboto"/>
                <a:ea typeface="Roboto"/>
                <a:cs typeface="Roboto"/>
                <a:sym typeface="Roboto"/>
              </a:defRPr>
            </a:lvl9pPr>
          </a:lstStyle>
          <a:p>
            <a:r>
              <a:t>xx%</a:t>
            </a:r>
          </a:p>
        </p:txBody>
      </p:sp>
      <p:sp>
        <p:nvSpPr>
          <p:cNvPr id="28" name="Google Shape;28;p3"/>
          <p:cNvSpPr/>
          <p:nvPr/>
        </p:nvSpPr>
        <p:spPr>
          <a:xfrm>
            <a:off x="178200" y="176498"/>
            <a:ext cx="386400" cy="386400"/>
          </a:xfrm>
          <a:prstGeom prst="ellipse">
            <a:avLst/>
          </a:prstGeom>
          <a:noFill/>
          <a:ln cap="flat" cmpd="sng" w="9525">
            <a:solidFill>
              <a:srgbClr val="ECB63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29" name="Google Shape;29;p3"/>
          <p:cNvGrpSpPr/>
          <p:nvPr/>
        </p:nvGrpSpPr>
        <p:grpSpPr>
          <a:xfrm>
            <a:off x="364200" y="344517"/>
            <a:ext cx="8433975" cy="4239294"/>
            <a:chOff x="364200" y="361213"/>
            <a:chExt cx="8433975" cy="4451637"/>
          </a:xfrm>
        </p:grpSpPr>
        <p:cxnSp>
          <p:nvCxnSpPr>
            <p:cNvPr id="30" name="Google Shape;30;p3"/>
            <p:cNvCxnSpPr/>
            <p:nvPr/>
          </p:nvCxnSpPr>
          <p:spPr>
            <a:xfrm>
              <a:off x="368400" y="364400"/>
              <a:ext cx="0" cy="4431600"/>
            </a:xfrm>
            <a:prstGeom prst="straightConnector1">
              <a:avLst/>
            </a:prstGeom>
            <a:noFill/>
            <a:ln cap="flat" cmpd="sng" w="9525">
              <a:solidFill>
                <a:srgbClr val="ECB63A"/>
              </a:solidFill>
              <a:prstDash val="solid"/>
              <a:round/>
              <a:headEnd len="med" w="med" type="none"/>
              <a:tailEnd len="med" w="med" type="none"/>
            </a:ln>
          </p:spPr>
        </p:cxnSp>
        <p:cxnSp>
          <p:nvCxnSpPr>
            <p:cNvPr id="31" name="Google Shape;31;p3"/>
            <p:cNvCxnSpPr/>
            <p:nvPr/>
          </p:nvCxnSpPr>
          <p:spPr>
            <a:xfrm>
              <a:off x="370795" y="4791550"/>
              <a:ext cx="8266500" cy="21300"/>
            </a:xfrm>
            <a:prstGeom prst="straightConnector1">
              <a:avLst/>
            </a:prstGeom>
            <a:noFill/>
            <a:ln cap="flat" cmpd="sng" w="9525">
              <a:solidFill>
                <a:srgbClr val="ECB63A"/>
              </a:solidFill>
              <a:prstDash val="solid"/>
              <a:round/>
              <a:headEnd len="med" w="med" type="none"/>
              <a:tailEnd len="med" w="med" type="oval"/>
            </a:ln>
          </p:spPr>
        </p:cxnSp>
        <p:cxnSp>
          <p:nvCxnSpPr>
            <p:cNvPr id="32" name="Google Shape;32;p3"/>
            <p:cNvCxnSpPr/>
            <p:nvPr/>
          </p:nvCxnSpPr>
          <p:spPr>
            <a:xfrm rot="10800000">
              <a:off x="8777475" y="361213"/>
              <a:ext cx="20700" cy="3962100"/>
            </a:xfrm>
            <a:prstGeom prst="straightConnector1">
              <a:avLst/>
            </a:prstGeom>
            <a:noFill/>
            <a:ln cap="flat" cmpd="sng" w="9525">
              <a:solidFill>
                <a:srgbClr val="ECB63A"/>
              </a:solidFill>
              <a:prstDash val="solid"/>
              <a:round/>
              <a:headEnd len="med" w="med" type="oval"/>
              <a:tailEnd len="med" w="med" type="none"/>
            </a:ln>
          </p:spPr>
        </p:cxnSp>
        <p:cxnSp>
          <p:nvCxnSpPr>
            <p:cNvPr id="33" name="Google Shape;33;p3"/>
            <p:cNvCxnSpPr/>
            <p:nvPr/>
          </p:nvCxnSpPr>
          <p:spPr>
            <a:xfrm>
              <a:off x="364200" y="364400"/>
              <a:ext cx="8418000" cy="0"/>
            </a:xfrm>
            <a:prstGeom prst="straightConnector1">
              <a:avLst/>
            </a:prstGeom>
            <a:noFill/>
            <a:ln cap="flat" cmpd="sng" w="9525">
              <a:solidFill>
                <a:srgbClr val="ECB63A"/>
              </a:solidFill>
              <a:prstDash val="solid"/>
              <a:round/>
              <a:headEnd len="med" w="med" type="none"/>
              <a:tailEnd len="med" w="med" type="none"/>
            </a:ln>
          </p:spPr>
        </p:cxnSp>
      </p:grpSp>
      <p:pic>
        <p:nvPicPr>
          <p:cNvPr id="34" name="Google Shape;34;p3"/>
          <p:cNvPicPr preferRelativeResize="0"/>
          <p:nvPr/>
        </p:nvPicPr>
        <p:blipFill>
          <a:blip r:embed="rId2">
            <a:alphaModFix amt="18000"/>
          </a:blip>
          <a:stretch>
            <a:fillRect/>
          </a:stretch>
        </p:blipFill>
        <p:spPr>
          <a:xfrm>
            <a:off x="0" y="0"/>
            <a:ext cx="9144000" cy="5143501"/>
          </a:xfrm>
          <a:prstGeom prst="rect">
            <a:avLst/>
          </a:prstGeom>
          <a:noFill/>
          <a:ln>
            <a:noFill/>
          </a:ln>
        </p:spPr>
      </p:pic>
      <p:grpSp>
        <p:nvGrpSpPr>
          <p:cNvPr id="35" name="Google Shape;35;p3"/>
          <p:cNvGrpSpPr/>
          <p:nvPr/>
        </p:nvGrpSpPr>
        <p:grpSpPr>
          <a:xfrm>
            <a:off x="364200" y="347552"/>
            <a:ext cx="8418000" cy="4220213"/>
            <a:chOff x="364200" y="364400"/>
            <a:chExt cx="8418000" cy="4431600"/>
          </a:xfrm>
        </p:grpSpPr>
        <p:cxnSp>
          <p:nvCxnSpPr>
            <p:cNvPr id="36" name="Google Shape;36;p3"/>
            <p:cNvCxnSpPr/>
            <p:nvPr/>
          </p:nvCxnSpPr>
          <p:spPr>
            <a:xfrm>
              <a:off x="368400" y="364400"/>
              <a:ext cx="0" cy="4431600"/>
            </a:xfrm>
            <a:prstGeom prst="straightConnector1">
              <a:avLst/>
            </a:prstGeom>
            <a:noFill/>
            <a:ln cap="flat" cmpd="sng" w="9525">
              <a:solidFill>
                <a:srgbClr val="ECB63A"/>
              </a:solidFill>
              <a:prstDash val="solid"/>
              <a:round/>
              <a:headEnd len="med" w="med" type="none"/>
              <a:tailEnd len="med" w="med" type="none"/>
            </a:ln>
          </p:spPr>
        </p:cxnSp>
        <p:cxnSp>
          <p:nvCxnSpPr>
            <p:cNvPr id="37" name="Google Shape;37;p3"/>
            <p:cNvCxnSpPr/>
            <p:nvPr/>
          </p:nvCxnSpPr>
          <p:spPr>
            <a:xfrm>
              <a:off x="364200" y="364400"/>
              <a:ext cx="8418000" cy="0"/>
            </a:xfrm>
            <a:prstGeom prst="straightConnector1">
              <a:avLst/>
            </a:prstGeom>
            <a:noFill/>
            <a:ln cap="flat" cmpd="sng" w="9525">
              <a:solidFill>
                <a:srgbClr val="ECB63A"/>
              </a:solidFill>
              <a:prstDash val="solid"/>
              <a:round/>
              <a:headEnd len="med" w="med" type="none"/>
              <a:tailEnd len="med" w="med" type="none"/>
            </a:ln>
          </p:spPr>
        </p:cxnSp>
      </p:grpSp>
      <p:pic>
        <p:nvPicPr>
          <p:cNvPr id="38" name="Google Shape;38;p3"/>
          <p:cNvPicPr preferRelativeResize="0"/>
          <p:nvPr/>
        </p:nvPicPr>
        <p:blipFill>
          <a:blip r:embed="rId3">
            <a:alphaModFix/>
          </a:blip>
          <a:stretch>
            <a:fillRect/>
          </a:stretch>
        </p:blipFill>
        <p:spPr>
          <a:xfrm>
            <a:off x="3547955" y="4714846"/>
            <a:ext cx="563502" cy="276251"/>
          </a:xfrm>
          <a:prstGeom prst="rect">
            <a:avLst/>
          </a:prstGeom>
          <a:noFill/>
          <a:ln>
            <a:noFill/>
          </a:ln>
        </p:spPr>
      </p:pic>
      <p:pic>
        <p:nvPicPr>
          <p:cNvPr id="39" name="Google Shape;39;p3"/>
          <p:cNvPicPr preferRelativeResize="0"/>
          <p:nvPr/>
        </p:nvPicPr>
        <p:blipFill>
          <a:blip r:embed="rId4">
            <a:alphaModFix/>
          </a:blip>
          <a:stretch>
            <a:fillRect/>
          </a:stretch>
        </p:blipFill>
        <p:spPr>
          <a:xfrm>
            <a:off x="5704962" y="4714848"/>
            <a:ext cx="671135" cy="276249"/>
          </a:xfrm>
          <a:prstGeom prst="rect">
            <a:avLst/>
          </a:prstGeom>
          <a:noFill/>
          <a:ln>
            <a:noFill/>
          </a:ln>
        </p:spPr>
      </p:pic>
      <p:pic>
        <p:nvPicPr>
          <p:cNvPr id="40" name="Google Shape;40;p3"/>
          <p:cNvPicPr preferRelativeResize="0"/>
          <p:nvPr/>
        </p:nvPicPr>
        <p:blipFill>
          <a:blip r:embed="rId5">
            <a:alphaModFix/>
          </a:blip>
          <a:stretch>
            <a:fillRect/>
          </a:stretch>
        </p:blipFill>
        <p:spPr>
          <a:xfrm>
            <a:off x="364189" y="4714849"/>
            <a:ext cx="1460133" cy="276250"/>
          </a:xfrm>
          <a:prstGeom prst="rect">
            <a:avLst/>
          </a:prstGeom>
          <a:noFill/>
          <a:ln>
            <a:noFill/>
          </a:ln>
        </p:spPr>
      </p:pic>
      <p:pic>
        <p:nvPicPr>
          <p:cNvPr id="41" name="Google Shape;41;p3"/>
          <p:cNvPicPr preferRelativeResize="0"/>
          <p:nvPr/>
        </p:nvPicPr>
        <p:blipFill>
          <a:blip r:embed="rId6">
            <a:alphaModFix/>
          </a:blip>
          <a:stretch>
            <a:fillRect/>
          </a:stretch>
        </p:blipFill>
        <p:spPr>
          <a:xfrm>
            <a:off x="6445080" y="4714852"/>
            <a:ext cx="806074" cy="276250"/>
          </a:xfrm>
          <a:prstGeom prst="rect">
            <a:avLst/>
          </a:prstGeom>
          <a:noFill/>
          <a:ln>
            <a:noFill/>
          </a:ln>
        </p:spPr>
      </p:pic>
      <p:pic>
        <p:nvPicPr>
          <p:cNvPr id="42" name="Google Shape;42;p3"/>
          <p:cNvPicPr preferRelativeResize="0"/>
          <p:nvPr/>
        </p:nvPicPr>
        <p:blipFill>
          <a:blip r:embed="rId7">
            <a:alphaModFix/>
          </a:blip>
          <a:stretch>
            <a:fillRect/>
          </a:stretch>
        </p:blipFill>
        <p:spPr>
          <a:xfrm>
            <a:off x="4180441" y="4714850"/>
            <a:ext cx="1455537" cy="276250"/>
          </a:xfrm>
          <a:prstGeom prst="rect">
            <a:avLst/>
          </a:prstGeom>
          <a:noFill/>
          <a:ln>
            <a:noFill/>
          </a:ln>
        </p:spPr>
      </p:pic>
      <p:pic>
        <p:nvPicPr>
          <p:cNvPr id="43" name="Google Shape;43;p3" title="ucdavis_logo_gold.png"/>
          <p:cNvPicPr preferRelativeResize="0"/>
          <p:nvPr/>
        </p:nvPicPr>
        <p:blipFill>
          <a:blip r:embed="rId8">
            <a:alphaModFix/>
          </a:blip>
          <a:stretch>
            <a:fillRect/>
          </a:stretch>
        </p:blipFill>
        <p:spPr>
          <a:xfrm>
            <a:off x="1893306" y="4715823"/>
            <a:ext cx="1585664" cy="27432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l Institution Content Slide" type="titleOnly">
  <p:cSld name="TITLE_ONLY">
    <p:spTree>
      <p:nvGrpSpPr>
        <p:cNvPr id="44" name="Shape 44"/>
        <p:cNvGrpSpPr/>
        <p:nvPr/>
      </p:nvGrpSpPr>
      <p:grpSpPr>
        <a:xfrm>
          <a:off x="0" y="0"/>
          <a:ext cx="0" cy="0"/>
          <a:chOff x="0" y="0"/>
          <a:chExt cx="0" cy="0"/>
        </a:xfrm>
      </p:grpSpPr>
      <p:pic>
        <p:nvPicPr>
          <p:cNvPr id="45" name="Google Shape;45;p4"/>
          <p:cNvPicPr preferRelativeResize="0"/>
          <p:nvPr/>
        </p:nvPicPr>
        <p:blipFill>
          <a:blip r:embed="rId2">
            <a:alphaModFix amt="18000"/>
          </a:blip>
          <a:stretch>
            <a:fillRect/>
          </a:stretch>
        </p:blipFill>
        <p:spPr>
          <a:xfrm>
            <a:off x="0" y="0"/>
            <a:ext cx="9144000" cy="5143501"/>
          </a:xfrm>
          <a:prstGeom prst="rect">
            <a:avLst/>
          </a:prstGeom>
          <a:noFill/>
          <a:ln>
            <a:noFill/>
          </a:ln>
        </p:spPr>
      </p:pic>
      <p:grpSp>
        <p:nvGrpSpPr>
          <p:cNvPr id="46" name="Google Shape;46;p4"/>
          <p:cNvGrpSpPr/>
          <p:nvPr/>
        </p:nvGrpSpPr>
        <p:grpSpPr>
          <a:xfrm>
            <a:off x="364200" y="344517"/>
            <a:ext cx="8433975" cy="4239294"/>
            <a:chOff x="364200" y="361213"/>
            <a:chExt cx="8433975" cy="4451637"/>
          </a:xfrm>
        </p:grpSpPr>
        <p:cxnSp>
          <p:nvCxnSpPr>
            <p:cNvPr id="47" name="Google Shape;47;p4"/>
            <p:cNvCxnSpPr/>
            <p:nvPr/>
          </p:nvCxnSpPr>
          <p:spPr>
            <a:xfrm>
              <a:off x="368400" y="364400"/>
              <a:ext cx="0" cy="4431600"/>
            </a:xfrm>
            <a:prstGeom prst="straightConnector1">
              <a:avLst/>
            </a:prstGeom>
            <a:noFill/>
            <a:ln cap="flat" cmpd="sng" w="9525">
              <a:solidFill>
                <a:srgbClr val="ECB63A"/>
              </a:solidFill>
              <a:prstDash val="solid"/>
              <a:round/>
              <a:headEnd len="med" w="med" type="none"/>
              <a:tailEnd len="med" w="med" type="none"/>
            </a:ln>
          </p:spPr>
        </p:cxnSp>
        <p:cxnSp>
          <p:nvCxnSpPr>
            <p:cNvPr id="48" name="Google Shape;48;p4"/>
            <p:cNvCxnSpPr/>
            <p:nvPr/>
          </p:nvCxnSpPr>
          <p:spPr>
            <a:xfrm>
              <a:off x="370795" y="4791550"/>
              <a:ext cx="8266500" cy="21300"/>
            </a:xfrm>
            <a:prstGeom prst="straightConnector1">
              <a:avLst/>
            </a:prstGeom>
            <a:noFill/>
            <a:ln cap="flat" cmpd="sng" w="9525">
              <a:solidFill>
                <a:srgbClr val="ECB63A"/>
              </a:solidFill>
              <a:prstDash val="solid"/>
              <a:round/>
              <a:headEnd len="med" w="med" type="none"/>
              <a:tailEnd len="med" w="med" type="oval"/>
            </a:ln>
          </p:spPr>
        </p:cxnSp>
        <p:cxnSp>
          <p:nvCxnSpPr>
            <p:cNvPr id="49" name="Google Shape;49;p4"/>
            <p:cNvCxnSpPr/>
            <p:nvPr/>
          </p:nvCxnSpPr>
          <p:spPr>
            <a:xfrm rot="10800000">
              <a:off x="8777475" y="361213"/>
              <a:ext cx="20700" cy="3962100"/>
            </a:xfrm>
            <a:prstGeom prst="straightConnector1">
              <a:avLst/>
            </a:prstGeom>
            <a:noFill/>
            <a:ln cap="flat" cmpd="sng" w="9525">
              <a:solidFill>
                <a:srgbClr val="ECB63A"/>
              </a:solidFill>
              <a:prstDash val="solid"/>
              <a:round/>
              <a:headEnd len="med" w="med" type="oval"/>
              <a:tailEnd len="med" w="med" type="none"/>
            </a:ln>
          </p:spPr>
        </p:cxnSp>
        <p:cxnSp>
          <p:nvCxnSpPr>
            <p:cNvPr id="50" name="Google Shape;50;p4"/>
            <p:cNvCxnSpPr/>
            <p:nvPr/>
          </p:nvCxnSpPr>
          <p:spPr>
            <a:xfrm>
              <a:off x="364200" y="364400"/>
              <a:ext cx="8418000" cy="0"/>
            </a:xfrm>
            <a:prstGeom prst="straightConnector1">
              <a:avLst/>
            </a:prstGeom>
            <a:noFill/>
            <a:ln cap="flat" cmpd="sng" w="9525">
              <a:solidFill>
                <a:srgbClr val="ECB63A"/>
              </a:solidFill>
              <a:prstDash val="solid"/>
              <a:round/>
              <a:headEnd len="med" w="med" type="none"/>
              <a:tailEnd len="med" w="med" type="none"/>
            </a:ln>
          </p:spPr>
        </p:cxnSp>
      </p:grpSp>
      <p:sp>
        <p:nvSpPr>
          <p:cNvPr id="51" name="Google Shape;51;p4"/>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indent="-304800" lvl="1" marL="914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indent="-304800" lvl="2" marL="1371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indent="-304800" lvl="3" marL="1828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indent="-304800" lvl="4" marL="22860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indent="-304800" lvl="5" marL="2743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indent="-304800" lvl="6" marL="3200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indent="-304800" lvl="7" marL="3657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indent="-304800" lvl="8" marL="411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p:txBody>
      </p:sp>
      <p:sp>
        <p:nvSpPr>
          <p:cNvPr id="52" name="Google Shape;52;p4"/>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3" name="Google Shape;53;p4"/>
          <p:cNvSpPr/>
          <p:nvPr/>
        </p:nvSpPr>
        <p:spPr>
          <a:xfrm>
            <a:off x="178200" y="176498"/>
            <a:ext cx="386400" cy="386400"/>
          </a:xfrm>
          <a:prstGeom prst="ellipse">
            <a:avLst/>
          </a:prstGeom>
          <a:noFill/>
          <a:ln cap="flat" cmpd="sng" w="9525">
            <a:solidFill>
              <a:srgbClr val="ECB63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54" name="Google Shape;54;p4"/>
          <p:cNvPicPr preferRelativeResize="0"/>
          <p:nvPr/>
        </p:nvPicPr>
        <p:blipFill>
          <a:blip r:embed="rId2">
            <a:alphaModFix amt="18000"/>
          </a:blip>
          <a:stretch>
            <a:fillRect/>
          </a:stretch>
        </p:blipFill>
        <p:spPr>
          <a:xfrm>
            <a:off x="0" y="0"/>
            <a:ext cx="9144000" cy="5143501"/>
          </a:xfrm>
          <a:prstGeom prst="rect">
            <a:avLst/>
          </a:prstGeom>
          <a:noFill/>
          <a:ln>
            <a:noFill/>
          </a:ln>
        </p:spPr>
      </p:pic>
      <p:grpSp>
        <p:nvGrpSpPr>
          <p:cNvPr id="55" name="Google Shape;55;p4"/>
          <p:cNvGrpSpPr/>
          <p:nvPr/>
        </p:nvGrpSpPr>
        <p:grpSpPr>
          <a:xfrm>
            <a:off x="364200" y="347552"/>
            <a:ext cx="8418000" cy="4220213"/>
            <a:chOff x="364200" y="364400"/>
            <a:chExt cx="8418000" cy="4431600"/>
          </a:xfrm>
        </p:grpSpPr>
        <p:cxnSp>
          <p:nvCxnSpPr>
            <p:cNvPr id="56" name="Google Shape;56;p4"/>
            <p:cNvCxnSpPr/>
            <p:nvPr/>
          </p:nvCxnSpPr>
          <p:spPr>
            <a:xfrm>
              <a:off x="368400" y="364400"/>
              <a:ext cx="0" cy="4431600"/>
            </a:xfrm>
            <a:prstGeom prst="straightConnector1">
              <a:avLst/>
            </a:prstGeom>
            <a:noFill/>
            <a:ln cap="flat" cmpd="sng" w="9525">
              <a:solidFill>
                <a:srgbClr val="ECB63A"/>
              </a:solidFill>
              <a:prstDash val="solid"/>
              <a:round/>
              <a:headEnd len="med" w="med" type="none"/>
              <a:tailEnd len="med" w="med" type="none"/>
            </a:ln>
          </p:spPr>
        </p:cxnSp>
        <p:cxnSp>
          <p:nvCxnSpPr>
            <p:cNvPr id="57" name="Google Shape;57;p4"/>
            <p:cNvCxnSpPr/>
            <p:nvPr/>
          </p:nvCxnSpPr>
          <p:spPr>
            <a:xfrm>
              <a:off x="364200" y="364400"/>
              <a:ext cx="8418000" cy="0"/>
            </a:xfrm>
            <a:prstGeom prst="straightConnector1">
              <a:avLst/>
            </a:prstGeom>
            <a:noFill/>
            <a:ln cap="flat" cmpd="sng" w="9525">
              <a:solidFill>
                <a:srgbClr val="ECB63A"/>
              </a:solidFill>
              <a:prstDash val="solid"/>
              <a:round/>
              <a:headEnd len="med" w="med" type="none"/>
              <a:tailEnd len="med" w="med" type="none"/>
            </a:ln>
          </p:spPr>
        </p:cxnSp>
      </p:grpSp>
      <p:pic>
        <p:nvPicPr>
          <p:cNvPr id="58" name="Google Shape;58;p4"/>
          <p:cNvPicPr preferRelativeResize="0"/>
          <p:nvPr/>
        </p:nvPicPr>
        <p:blipFill>
          <a:blip r:embed="rId3">
            <a:alphaModFix/>
          </a:blip>
          <a:stretch>
            <a:fillRect/>
          </a:stretch>
        </p:blipFill>
        <p:spPr>
          <a:xfrm>
            <a:off x="3547955" y="4714846"/>
            <a:ext cx="563502" cy="276251"/>
          </a:xfrm>
          <a:prstGeom prst="rect">
            <a:avLst/>
          </a:prstGeom>
          <a:noFill/>
          <a:ln>
            <a:noFill/>
          </a:ln>
        </p:spPr>
      </p:pic>
      <p:pic>
        <p:nvPicPr>
          <p:cNvPr id="59" name="Google Shape;59;p4"/>
          <p:cNvPicPr preferRelativeResize="0"/>
          <p:nvPr/>
        </p:nvPicPr>
        <p:blipFill>
          <a:blip r:embed="rId4">
            <a:alphaModFix/>
          </a:blip>
          <a:stretch>
            <a:fillRect/>
          </a:stretch>
        </p:blipFill>
        <p:spPr>
          <a:xfrm>
            <a:off x="5704962" y="4714848"/>
            <a:ext cx="671135" cy="276249"/>
          </a:xfrm>
          <a:prstGeom prst="rect">
            <a:avLst/>
          </a:prstGeom>
          <a:noFill/>
          <a:ln>
            <a:noFill/>
          </a:ln>
        </p:spPr>
      </p:pic>
      <p:pic>
        <p:nvPicPr>
          <p:cNvPr id="60" name="Google Shape;60;p4"/>
          <p:cNvPicPr preferRelativeResize="0"/>
          <p:nvPr/>
        </p:nvPicPr>
        <p:blipFill>
          <a:blip r:embed="rId5">
            <a:alphaModFix/>
          </a:blip>
          <a:stretch>
            <a:fillRect/>
          </a:stretch>
        </p:blipFill>
        <p:spPr>
          <a:xfrm>
            <a:off x="364189" y="4714849"/>
            <a:ext cx="1460133" cy="276250"/>
          </a:xfrm>
          <a:prstGeom prst="rect">
            <a:avLst/>
          </a:prstGeom>
          <a:noFill/>
          <a:ln>
            <a:noFill/>
          </a:ln>
        </p:spPr>
      </p:pic>
      <p:pic>
        <p:nvPicPr>
          <p:cNvPr id="61" name="Google Shape;61;p4"/>
          <p:cNvPicPr preferRelativeResize="0"/>
          <p:nvPr/>
        </p:nvPicPr>
        <p:blipFill>
          <a:blip r:embed="rId6">
            <a:alphaModFix/>
          </a:blip>
          <a:stretch>
            <a:fillRect/>
          </a:stretch>
        </p:blipFill>
        <p:spPr>
          <a:xfrm>
            <a:off x="6445080" y="4714852"/>
            <a:ext cx="806074" cy="276250"/>
          </a:xfrm>
          <a:prstGeom prst="rect">
            <a:avLst/>
          </a:prstGeom>
          <a:noFill/>
          <a:ln>
            <a:noFill/>
          </a:ln>
        </p:spPr>
      </p:pic>
      <p:pic>
        <p:nvPicPr>
          <p:cNvPr id="62" name="Google Shape;62;p4"/>
          <p:cNvPicPr preferRelativeResize="0"/>
          <p:nvPr/>
        </p:nvPicPr>
        <p:blipFill>
          <a:blip r:embed="rId7">
            <a:alphaModFix/>
          </a:blip>
          <a:stretch>
            <a:fillRect/>
          </a:stretch>
        </p:blipFill>
        <p:spPr>
          <a:xfrm>
            <a:off x="4180441" y="4714850"/>
            <a:ext cx="1455537" cy="276250"/>
          </a:xfrm>
          <a:prstGeom prst="rect">
            <a:avLst/>
          </a:prstGeom>
          <a:noFill/>
          <a:ln>
            <a:noFill/>
          </a:ln>
        </p:spPr>
      </p:pic>
      <p:pic>
        <p:nvPicPr>
          <p:cNvPr id="63" name="Google Shape;63;p4" title="ucdavis_logo_gold.png"/>
          <p:cNvPicPr preferRelativeResize="0"/>
          <p:nvPr/>
        </p:nvPicPr>
        <p:blipFill>
          <a:blip r:embed="rId8">
            <a:alphaModFix/>
          </a:blip>
          <a:stretch>
            <a:fillRect/>
          </a:stretch>
        </p:blipFill>
        <p:spPr>
          <a:xfrm>
            <a:off x="1893306" y="4715823"/>
            <a:ext cx="1585664" cy="27432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CLA">
  <p:cSld name="TITLE_ONLY_2">
    <p:spTree>
      <p:nvGrpSpPr>
        <p:cNvPr id="64" name="Shape 64"/>
        <p:cNvGrpSpPr/>
        <p:nvPr/>
      </p:nvGrpSpPr>
      <p:grpSpPr>
        <a:xfrm>
          <a:off x="0" y="0"/>
          <a:ext cx="0" cy="0"/>
          <a:chOff x="0" y="0"/>
          <a:chExt cx="0" cy="0"/>
        </a:xfrm>
      </p:grpSpPr>
      <p:pic>
        <p:nvPicPr>
          <p:cNvPr id="65" name="Google Shape;65;p5"/>
          <p:cNvPicPr preferRelativeResize="0"/>
          <p:nvPr/>
        </p:nvPicPr>
        <p:blipFill>
          <a:blip r:embed="rId2">
            <a:alphaModFix amt="18000"/>
          </a:blip>
          <a:stretch>
            <a:fillRect/>
          </a:stretch>
        </p:blipFill>
        <p:spPr>
          <a:xfrm>
            <a:off x="0" y="0"/>
            <a:ext cx="9144000" cy="5143501"/>
          </a:xfrm>
          <a:prstGeom prst="rect">
            <a:avLst/>
          </a:prstGeom>
          <a:noFill/>
          <a:ln>
            <a:noFill/>
          </a:ln>
        </p:spPr>
      </p:pic>
      <p:grpSp>
        <p:nvGrpSpPr>
          <p:cNvPr id="66" name="Google Shape;66;p5"/>
          <p:cNvGrpSpPr/>
          <p:nvPr/>
        </p:nvGrpSpPr>
        <p:grpSpPr>
          <a:xfrm>
            <a:off x="364200" y="344517"/>
            <a:ext cx="8433975" cy="4239294"/>
            <a:chOff x="364200" y="361213"/>
            <a:chExt cx="8433975" cy="4451637"/>
          </a:xfrm>
        </p:grpSpPr>
        <p:cxnSp>
          <p:nvCxnSpPr>
            <p:cNvPr id="67" name="Google Shape;67;p5"/>
            <p:cNvCxnSpPr/>
            <p:nvPr/>
          </p:nvCxnSpPr>
          <p:spPr>
            <a:xfrm>
              <a:off x="368400" y="364400"/>
              <a:ext cx="0" cy="4431600"/>
            </a:xfrm>
            <a:prstGeom prst="straightConnector1">
              <a:avLst/>
            </a:prstGeom>
            <a:noFill/>
            <a:ln cap="flat" cmpd="sng" w="9525">
              <a:solidFill>
                <a:srgbClr val="ECB63A"/>
              </a:solidFill>
              <a:prstDash val="solid"/>
              <a:round/>
              <a:headEnd len="med" w="med" type="none"/>
              <a:tailEnd len="med" w="med" type="none"/>
            </a:ln>
          </p:spPr>
        </p:cxnSp>
        <p:cxnSp>
          <p:nvCxnSpPr>
            <p:cNvPr id="68" name="Google Shape;68;p5"/>
            <p:cNvCxnSpPr/>
            <p:nvPr/>
          </p:nvCxnSpPr>
          <p:spPr>
            <a:xfrm>
              <a:off x="370795" y="4791550"/>
              <a:ext cx="8266500" cy="21300"/>
            </a:xfrm>
            <a:prstGeom prst="straightConnector1">
              <a:avLst/>
            </a:prstGeom>
            <a:noFill/>
            <a:ln cap="flat" cmpd="sng" w="9525">
              <a:solidFill>
                <a:srgbClr val="ECB63A"/>
              </a:solidFill>
              <a:prstDash val="solid"/>
              <a:round/>
              <a:headEnd len="med" w="med" type="none"/>
              <a:tailEnd len="med" w="med" type="oval"/>
            </a:ln>
          </p:spPr>
        </p:cxnSp>
        <p:cxnSp>
          <p:nvCxnSpPr>
            <p:cNvPr id="69" name="Google Shape;69;p5"/>
            <p:cNvCxnSpPr/>
            <p:nvPr/>
          </p:nvCxnSpPr>
          <p:spPr>
            <a:xfrm rot="10800000">
              <a:off x="8777475" y="361213"/>
              <a:ext cx="20700" cy="3962100"/>
            </a:xfrm>
            <a:prstGeom prst="straightConnector1">
              <a:avLst/>
            </a:prstGeom>
            <a:noFill/>
            <a:ln cap="flat" cmpd="sng" w="9525">
              <a:solidFill>
                <a:srgbClr val="ECB63A"/>
              </a:solidFill>
              <a:prstDash val="solid"/>
              <a:round/>
              <a:headEnd len="med" w="med" type="oval"/>
              <a:tailEnd len="med" w="med" type="none"/>
            </a:ln>
          </p:spPr>
        </p:cxnSp>
        <p:cxnSp>
          <p:nvCxnSpPr>
            <p:cNvPr id="70" name="Google Shape;70;p5"/>
            <p:cNvCxnSpPr/>
            <p:nvPr/>
          </p:nvCxnSpPr>
          <p:spPr>
            <a:xfrm>
              <a:off x="364200" y="364400"/>
              <a:ext cx="8418000" cy="0"/>
            </a:xfrm>
            <a:prstGeom prst="straightConnector1">
              <a:avLst/>
            </a:prstGeom>
            <a:noFill/>
            <a:ln cap="flat" cmpd="sng" w="9525">
              <a:solidFill>
                <a:srgbClr val="ECB63A"/>
              </a:solidFill>
              <a:prstDash val="solid"/>
              <a:round/>
              <a:headEnd len="med" w="med" type="none"/>
              <a:tailEnd len="med" w="med" type="none"/>
            </a:ln>
          </p:spPr>
        </p:cxnSp>
      </p:grpSp>
      <p:sp>
        <p:nvSpPr>
          <p:cNvPr id="71" name="Google Shape;71;p5"/>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indent="-304800" lvl="1" marL="914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indent="-304800" lvl="2" marL="1371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indent="-304800" lvl="3" marL="1828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indent="-304800" lvl="4" marL="22860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indent="-304800" lvl="5" marL="2743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indent="-304800" lvl="6" marL="3200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indent="-304800" lvl="7" marL="3657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indent="-304800" lvl="8" marL="411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p:txBody>
      </p:sp>
      <p:sp>
        <p:nvSpPr>
          <p:cNvPr id="72" name="Google Shape;72;p5"/>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73" name="Google Shape;73;p5"/>
          <p:cNvSpPr/>
          <p:nvPr/>
        </p:nvSpPr>
        <p:spPr>
          <a:xfrm>
            <a:off x="178200" y="176498"/>
            <a:ext cx="386400" cy="386400"/>
          </a:xfrm>
          <a:prstGeom prst="ellipse">
            <a:avLst/>
          </a:prstGeom>
          <a:noFill/>
          <a:ln cap="flat" cmpd="sng" w="9525">
            <a:solidFill>
              <a:srgbClr val="ECB63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74" name="Google Shape;74;p5"/>
          <p:cNvPicPr preferRelativeResize="0"/>
          <p:nvPr/>
        </p:nvPicPr>
        <p:blipFill>
          <a:blip r:embed="rId2">
            <a:alphaModFix amt="18000"/>
          </a:blip>
          <a:stretch>
            <a:fillRect/>
          </a:stretch>
        </p:blipFill>
        <p:spPr>
          <a:xfrm>
            <a:off x="0" y="0"/>
            <a:ext cx="9144000" cy="5143501"/>
          </a:xfrm>
          <a:prstGeom prst="rect">
            <a:avLst/>
          </a:prstGeom>
          <a:noFill/>
          <a:ln>
            <a:noFill/>
          </a:ln>
        </p:spPr>
      </p:pic>
      <p:pic>
        <p:nvPicPr>
          <p:cNvPr id="75" name="Google Shape;75;p5"/>
          <p:cNvPicPr preferRelativeResize="0"/>
          <p:nvPr/>
        </p:nvPicPr>
        <p:blipFill>
          <a:blip r:embed="rId3">
            <a:alphaModFix/>
          </a:blip>
          <a:stretch>
            <a:fillRect/>
          </a:stretch>
        </p:blipFill>
        <p:spPr>
          <a:xfrm>
            <a:off x="3547955" y="4714846"/>
            <a:ext cx="563502" cy="276251"/>
          </a:xfrm>
          <a:prstGeom prst="rect">
            <a:avLst/>
          </a:prstGeom>
          <a:noFill/>
          <a:ln>
            <a:noFill/>
          </a:ln>
        </p:spPr>
      </p:pic>
      <p:pic>
        <p:nvPicPr>
          <p:cNvPr id="76" name="Google Shape;76;p5"/>
          <p:cNvPicPr preferRelativeResize="0"/>
          <p:nvPr/>
        </p:nvPicPr>
        <p:blipFill>
          <a:blip r:embed="rId4">
            <a:alphaModFix/>
          </a:blip>
          <a:stretch>
            <a:fillRect/>
          </a:stretch>
        </p:blipFill>
        <p:spPr>
          <a:xfrm>
            <a:off x="5704962" y="4714848"/>
            <a:ext cx="671135" cy="276249"/>
          </a:xfrm>
          <a:prstGeom prst="rect">
            <a:avLst/>
          </a:prstGeom>
          <a:noFill/>
          <a:ln>
            <a:noFill/>
          </a:ln>
        </p:spPr>
      </p:pic>
      <p:pic>
        <p:nvPicPr>
          <p:cNvPr id="77" name="Google Shape;77;p5"/>
          <p:cNvPicPr preferRelativeResize="0"/>
          <p:nvPr/>
        </p:nvPicPr>
        <p:blipFill>
          <a:blip r:embed="rId5">
            <a:alphaModFix/>
          </a:blip>
          <a:stretch>
            <a:fillRect/>
          </a:stretch>
        </p:blipFill>
        <p:spPr>
          <a:xfrm>
            <a:off x="364189" y="4714849"/>
            <a:ext cx="1460133" cy="276250"/>
          </a:xfrm>
          <a:prstGeom prst="rect">
            <a:avLst/>
          </a:prstGeom>
          <a:noFill/>
          <a:ln>
            <a:noFill/>
          </a:ln>
        </p:spPr>
      </p:pic>
      <p:pic>
        <p:nvPicPr>
          <p:cNvPr id="78" name="Google Shape;78;p5"/>
          <p:cNvPicPr preferRelativeResize="0"/>
          <p:nvPr/>
        </p:nvPicPr>
        <p:blipFill>
          <a:blip r:embed="rId6">
            <a:alphaModFix/>
          </a:blip>
          <a:stretch>
            <a:fillRect/>
          </a:stretch>
        </p:blipFill>
        <p:spPr>
          <a:xfrm>
            <a:off x="6445080" y="4714852"/>
            <a:ext cx="806074" cy="276250"/>
          </a:xfrm>
          <a:prstGeom prst="rect">
            <a:avLst/>
          </a:prstGeom>
          <a:noFill/>
          <a:ln>
            <a:noFill/>
          </a:ln>
        </p:spPr>
      </p:pic>
      <p:pic>
        <p:nvPicPr>
          <p:cNvPr id="79" name="Google Shape;79;p5"/>
          <p:cNvPicPr preferRelativeResize="0"/>
          <p:nvPr/>
        </p:nvPicPr>
        <p:blipFill>
          <a:blip r:embed="rId7">
            <a:alphaModFix/>
          </a:blip>
          <a:stretch>
            <a:fillRect/>
          </a:stretch>
        </p:blipFill>
        <p:spPr>
          <a:xfrm>
            <a:off x="4180441" y="4714850"/>
            <a:ext cx="1455537" cy="276250"/>
          </a:xfrm>
          <a:prstGeom prst="rect">
            <a:avLst/>
          </a:prstGeom>
          <a:noFill/>
          <a:ln>
            <a:noFill/>
          </a:ln>
        </p:spPr>
      </p:pic>
      <p:pic>
        <p:nvPicPr>
          <p:cNvPr id="80" name="Google Shape;80;p5" title="ucdavis_logo_gold.png"/>
          <p:cNvPicPr preferRelativeResize="0"/>
          <p:nvPr/>
        </p:nvPicPr>
        <p:blipFill>
          <a:blip r:embed="rId8">
            <a:alphaModFix/>
          </a:blip>
          <a:stretch>
            <a:fillRect/>
          </a:stretch>
        </p:blipFill>
        <p:spPr>
          <a:xfrm>
            <a:off x="1893306" y="4715823"/>
            <a:ext cx="1585664" cy="274320"/>
          </a:xfrm>
          <a:prstGeom prst="rect">
            <a:avLst/>
          </a:prstGeom>
          <a:noFill/>
          <a:ln>
            <a:noFill/>
          </a:ln>
        </p:spPr>
      </p:pic>
      <p:grpSp>
        <p:nvGrpSpPr>
          <p:cNvPr id="81" name="Google Shape;81;p5"/>
          <p:cNvGrpSpPr/>
          <p:nvPr/>
        </p:nvGrpSpPr>
        <p:grpSpPr>
          <a:xfrm>
            <a:off x="364200" y="347552"/>
            <a:ext cx="8418000" cy="4220213"/>
            <a:chOff x="364200" y="364400"/>
            <a:chExt cx="8418000" cy="4431600"/>
          </a:xfrm>
        </p:grpSpPr>
        <p:cxnSp>
          <p:nvCxnSpPr>
            <p:cNvPr id="82" name="Google Shape;82;p5"/>
            <p:cNvCxnSpPr/>
            <p:nvPr/>
          </p:nvCxnSpPr>
          <p:spPr>
            <a:xfrm>
              <a:off x="368400" y="364400"/>
              <a:ext cx="0" cy="4431600"/>
            </a:xfrm>
            <a:prstGeom prst="straightConnector1">
              <a:avLst/>
            </a:prstGeom>
            <a:noFill/>
            <a:ln cap="flat" cmpd="sng" w="9525">
              <a:solidFill>
                <a:srgbClr val="ECB63A"/>
              </a:solidFill>
              <a:prstDash val="solid"/>
              <a:round/>
              <a:headEnd len="med" w="med" type="none"/>
              <a:tailEnd len="med" w="med" type="none"/>
            </a:ln>
          </p:spPr>
        </p:cxnSp>
        <p:cxnSp>
          <p:nvCxnSpPr>
            <p:cNvPr id="83" name="Google Shape;83;p5"/>
            <p:cNvCxnSpPr/>
            <p:nvPr/>
          </p:nvCxnSpPr>
          <p:spPr>
            <a:xfrm>
              <a:off x="364200" y="364400"/>
              <a:ext cx="8418000" cy="0"/>
            </a:xfrm>
            <a:prstGeom prst="straightConnector1">
              <a:avLst/>
            </a:prstGeom>
            <a:noFill/>
            <a:ln cap="flat" cmpd="sng" w="9525">
              <a:solidFill>
                <a:srgbClr val="ECB63A"/>
              </a:solidFill>
              <a:prstDash val="solid"/>
              <a:round/>
              <a:headEnd len="med" w="med" type="none"/>
              <a:tailEnd len="med" w="med" type="none"/>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CSB">
  <p:cSld name="TITLE_ONLY_3">
    <p:spTree>
      <p:nvGrpSpPr>
        <p:cNvPr id="84" name="Shape 84"/>
        <p:cNvGrpSpPr/>
        <p:nvPr/>
      </p:nvGrpSpPr>
      <p:grpSpPr>
        <a:xfrm>
          <a:off x="0" y="0"/>
          <a:ext cx="0" cy="0"/>
          <a:chOff x="0" y="0"/>
          <a:chExt cx="0" cy="0"/>
        </a:xfrm>
      </p:grpSpPr>
      <p:pic>
        <p:nvPicPr>
          <p:cNvPr id="85" name="Google Shape;85;p6"/>
          <p:cNvPicPr preferRelativeResize="0"/>
          <p:nvPr/>
        </p:nvPicPr>
        <p:blipFill>
          <a:blip r:embed="rId2">
            <a:alphaModFix amt="18000"/>
          </a:blip>
          <a:stretch>
            <a:fillRect/>
          </a:stretch>
        </p:blipFill>
        <p:spPr>
          <a:xfrm>
            <a:off x="0" y="0"/>
            <a:ext cx="9144000" cy="5143501"/>
          </a:xfrm>
          <a:prstGeom prst="rect">
            <a:avLst/>
          </a:prstGeom>
          <a:noFill/>
          <a:ln>
            <a:noFill/>
          </a:ln>
        </p:spPr>
      </p:pic>
      <p:grpSp>
        <p:nvGrpSpPr>
          <p:cNvPr id="86" name="Google Shape;86;p6"/>
          <p:cNvGrpSpPr/>
          <p:nvPr/>
        </p:nvGrpSpPr>
        <p:grpSpPr>
          <a:xfrm>
            <a:off x="364200" y="344517"/>
            <a:ext cx="8433975" cy="4239294"/>
            <a:chOff x="364200" y="361213"/>
            <a:chExt cx="8433975" cy="4451637"/>
          </a:xfrm>
        </p:grpSpPr>
        <p:cxnSp>
          <p:nvCxnSpPr>
            <p:cNvPr id="87" name="Google Shape;87;p6"/>
            <p:cNvCxnSpPr/>
            <p:nvPr/>
          </p:nvCxnSpPr>
          <p:spPr>
            <a:xfrm>
              <a:off x="368400" y="364400"/>
              <a:ext cx="0" cy="4431600"/>
            </a:xfrm>
            <a:prstGeom prst="straightConnector1">
              <a:avLst/>
            </a:prstGeom>
            <a:noFill/>
            <a:ln cap="flat" cmpd="sng" w="9525">
              <a:solidFill>
                <a:srgbClr val="ECB63A"/>
              </a:solidFill>
              <a:prstDash val="solid"/>
              <a:round/>
              <a:headEnd len="med" w="med" type="none"/>
              <a:tailEnd len="med" w="med" type="none"/>
            </a:ln>
          </p:spPr>
        </p:cxnSp>
        <p:cxnSp>
          <p:nvCxnSpPr>
            <p:cNvPr id="88" name="Google Shape;88;p6"/>
            <p:cNvCxnSpPr/>
            <p:nvPr/>
          </p:nvCxnSpPr>
          <p:spPr>
            <a:xfrm>
              <a:off x="370795" y="4791550"/>
              <a:ext cx="8266500" cy="21300"/>
            </a:xfrm>
            <a:prstGeom prst="straightConnector1">
              <a:avLst/>
            </a:prstGeom>
            <a:noFill/>
            <a:ln cap="flat" cmpd="sng" w="9525">
              <a:solidFill>
                <a:srgbClr val="ECB63A"/>
              </a:solidFill>
              <a:prstDash val="solid"/>
              <a:round/>
              <a:headEnd len="med" w="med" type="none"/>
              <a:tailEnd len="med" w="med" type="oval"/>
            </a:ln>
          </p:spPr>
        </p:cxnSp>
        <p:cxnSp>
          <p:nvCxnSpPr>
            <p:cNvPr id="89" name="Google Shape;89;p6"/>
            <p:cNvCxnSpPr/>
            <p:nvPr/>
          </p:nvCxnSpPr>
          <p:spPr>
            <a:xfrm rot="10800000">
              <a:off x="8777475" y="361213"/>
              <a:ext cx="20700" cy="3962100"/>
            </a:xfrm>
            <a:prstGeom prst="straightConnector1">
              <a:avLst/>
            </a:prstGeom>
            <a:noFill/>
            <a:ln cap="flat" cmpd="sng" w="9525">
              <a:solidFill>
                <a:srgbClr val="ECB63A"/>
              </a:solidFill>
              <a:prstDash val="solid"/>
              <a:round/>
              <a:headEnd len="med" w="med" type="oval"/>
              <a:tailEnd len="med" w="med" type="none"/>
            </a:ln>
          </p:spPr>
        </p:cxnSp>
        <p:cxnSp>
          <p:nvCxnSpPr>
            <p:cNvPr id="90" name="Google Shape;90;p6"/>
            <p:cNvCxnSpPr/>
            <p:nvPr/>
          </p:nvCxnSpPr>
          <p:spPr>
            <a:xfrm>
              <a:off x="364200" y="364400"/>
              <a:ext cx="8418000" cy="0"/>
            </a:xfrm>
            <a:prstGeom prst="straightConnector1">
              <a:avLst/>
            </a:prstGeom>
            <a:noFill/>
            <a:ln cap="flat" cmpd="sng" w="9525">
              <a:solidFill>
                <a:srgbClr val="ECB63A"/>
              </a:solidFill>
              <a:prstDash val="solid"/>
              <a:round/>
              <a:headEnd len="med" w="med" type="none"/>
              <a:tailEnd len="med" w="med" type="none"/>
            </a:ln>
          </p:spPr>
        </p:cxnSp>
      </p:grpSp>
      <p:sp>
        <p:nvSpPr>
          <p:cNvPr id="91" name="Google Shape;91;p6"/>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indent="-304800" lvl="1" marL="914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indent="-304800" lvl="2" marL="1371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indent="-304800" lvl="3" marL="1828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indent="-304800" lvl="4" marL="22860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indent="-304800" lvl="5" marL="2743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indent="-304800" lvl="6" marL="3200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indent="-304800" lvl="7" marL="3657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indent="-304800" lvl="8" marL="411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p:txBody>
      </p:sp>
      <p:sp>
        <p:nvSpPr>
          <p:cNvPr id="92" name="Google Shape;92;p6"/>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3" name="Google Shape;93;p6"/>
          <p:cNvSpPr/>
          <p:nvPr/>
        </p:nvSpPr>
        <p:spPr>
          <a:xfrm>
            <a:off x="178200" y="176498"/>
            <a:ext cx="386400" cy="386400"/>
          </a:xfrm>
          <a:prstGeom prst="ellipse">
            <a:avLst/>
          </a:prstGeom>
          <a:noFill/>
          <a:ln cap="flat" cmpd="sng" w="9525">
            <a:solidFill>
              <a:srgbClr val="ECB63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94" name="Google Shape;94;p6"/>
          <p:cNvPicPr preferRelativeResize="0"/>
          <p:nvPr/>
        </p:nvPicPr>
        <p:blipFill>
          <a:blip r:embed="rId2">
            <a:alphaModFix amt="18000"/>
          </a:blip>
          <a:stretch>
            <a:fillRect/>
          </a:stretch>
        </p:blipFill>
        <p:spPr>
          <a:xfrm>
            <a:off x="0" y="0"/>
            <a:ext cx="9144000" cy="5143501"/>
          </a:xfrm>
          <a:prstGeom prst="rect">
            <a:avLst/>
          </a:prstGeom>
          <a:noFill/>
          <a:ln>
            <a:noFill/>
          </a:ln>
        </p:spPr>
      </p:pic>
      <p:grpSp>
        <p:nvGrpSpPr>
          <p:cNvPr id="95" name="Google Shape;95;p6"/>
          <p:cNvGrpSpPr/>
          <p:nvPr/>
        </p:nvGrpSpPr>
        <p:grpSpPr>
          <a:xfrm>
            <a:off x="364200" y="347552"/>
            <a:ext cx="8418000" cy="4220213"/>
            <a:chOff x="364200" y="364400"/>
            <a:chExt cx="8418000" cy="4431600"/>
          </a:xfrm>
        </p:grpSpPr>
        <p:cxnSp>
          <p:nvCxnSpPr>
            <p:cNvPr id="96" name="Google Shape;96;p6"/>
            <p:cNvCxnSpPr/>
            <p:nvPr/>
          </p:nvCxnSpPr>
          <p:spPr>
            <a:xfrm>
              <a:off x="368400" y="364400"/>
              <a:ext cx="0" cy="4431600"/>
            </a:xfrm>
            <a:prstGeom prst="straightConnector1">
              <a:avLst/>
            </a:prstGeom>
            <a:noFill/>
            <a:ln cap="flat" cmpd="sng" w="9525">
              <a:solidFill>
                <a:srgbClr val="ECB63A"/>
              </a:solidFill>
              <a:prstDash val="solid"/>
              <a:round/>
              <a:headEnd len="med" w="med" type="none"/>
              <a:tailEnd len="med" w="med" type="none"/>
            </a:ln>
          </p:spPr>
        </p:cxnSp>
        <p:cxnSp>
          <p:nvCxnSpPr>
            <p:cNvPr id="97" name="Google Shape;97;p6"/>
            <p:cNvCxnSpPr/>
            <p:nvPr/>
          </p:nvCxnSpPr>
          <p:spPr>
            <a:xfrm>
              <a:off x="364200" y="364400"/>
              <a:ext cx="8418000" cy="0"/>
            </a:xfrm>
            <a:prstGeom prst="straightConnector1">
              <a:avLst/>
            </a:prstGeom>
            <a:noFill/>
            <a:ln cap="flat" cmpd="sng" w="9525">
              <a:solidFill>
                <a:srgbClr val="ECB63A"/>
              </a:solidFill>
              <a:prstDash val="solid"/>
              <a:round/>
              <a:headEnd len="med" w="med" type="none"/>
              <a:tailEnd len="med" w="med" type="none"/>
            </a:ln>
          </p:spPr>
        </p:cxnSp>
      </p:grpSp>
      <p:pic>
        <p:nvPicPr>
          <p:cNvPr id="98" name="Google Shape;98;p6"/>
          <p:cNvPicPr preferRelativeResize="0"/>
          <p:nvPr/>
        </p:nvPicPr>
        <p:blipFill>
          <a:blip r:embed="rId3">
            <a:alphaModFix/>
          </a:blip>
          <a:stretch>
            <a:fillRect/>
          </a:stretch>
        </p:blipFill>
        <p:spPr>
          <a:xfrm>
            <a:off x="3547955" y="4714846"/>
            <a:ext cx="563502" cy="276251"/>
          </a:xfrm>
          <a:prstGeom prst="rect">
            <a:avLst/>
          </a:prstGeom>
          <a:noFill/>
          <a:ln>
            <a:noFill/>
          </a:ln>
        </p:spPr>
      </p:pic>
      <p:pic>
        <p:nvPicPr>
          <p:cNvPr id="99" name="Google Shape;99;p6"/>
          <p:cNvPicPr preferRelativeResize="0"/>
          <p:nvPr/>
        </p:nvPicPr>
        <p:blipFill>
          <a:blip r:embed="rId4">
            <a:alphaModFix/>
          </a:blip>
          <a:stretch>
            <a:fillRect/>
          </a:stretch>
        </p:blipFill>
        <p:spPr>
          <a:xfrm>
            <a:off x="5704962" y="4714848"/>
            <a:ext cx="671135" cy="276249"/>
          </a:xfrm>
          <a:prstGeom prst="rect">
            <a:avLst/>
          </a:prstGeom>
          <a:noFill/>
          <a:ln>
            <a:noFill/>
          </a:ln>
        </p:spPr>
      </p:pic>
      <p:pic>
        <p:nvPicPr>
          <p:cNvPr id="100" name="Google Shape;100;p6"/>
          <p:cNvPicPr preferRelativeResize="0"/>
          <p:nvPr/>
        </p:nvPicPr>
        <p:blipFill>
          <a:blip r:embed="rId5">
            <a:alphaModFix/>
          </a:blip>
          <a:stretch>
            <a:fillRect/>
          </a:stretch>
        </p:blipFill>
        <p:spPr>
          <a:xfrm>
            <a:off x="364189" y="4714849"/>
            <a:ext cx="1460133" cy="276250"/>
          </a:xfrm>
          <a:prstGeom prst="rect">
            <a:avLst/>
          </a:prstGeom>
          <a:noFill/>
          <a:ln>
            <a:noFill/>
          </a:ln>
        </p:spPr>
      </p:pic>
      <p:pic>
        <p:nvPicPr>
          <p:cNvPr id="101" name="Google Shape;101;p6"/>
          <p:cNvPicPr preferRelativeResize="0"/>
          <p:nvPr/>
        </p:nvPicPr>
        <p:blipFill>
          <a:blip r:embed="rId6">
            <a:alphaModFix/>
          </a:blip>
          <a:stretch>
            <a:fillRect/>
          </a:stretch>
        </p:blipFill>
        <p:spPr>
          <a:xfrm>
            <a:off x="6445080" y="4714852"/>
            <a:ext cx="806074" cy="276250"/>
          </a:xfrm>
          <a:prstGeom prst="rect">
            <a:avLst/>
          </a:prstGeom>
          <a:noFill/>
          <a:ln>
            <a:noFill/>
          </a:ln>
        </p:spPr>
      </p:pic>
      <p:pic>
        <p:nvPicPr>
          <p:cNvPr id="102" name="Google Shape;102;p6"/>
          <p:cNvPicPr preferRelativeResize="0"/>
          <p:nvPr/>
        </p:nvPicPr>
        <p:blipFill>
          <a:blip r:embed="rId7">
            <a:alphaModFix/>
          </a:blip>
          <a:stretch>
            <a:fillRect/>
          </a:stretch>
        </p:blipFill>
        <p:spPr>
          <a:xfrm>
            <a:off x="4180441" y="4714850"/>
            <a:ext cx="1455537" cy="276250"/>
          </a:xfrm>
          <a:prstGeom prst="rect">
            <a:avLst/>
          </a:prstGeom>
          <a:noFill/>
          <a:ln>
            <a:noFill/>
          </a:ln>
        </p:spPr>
      </p:pic>
      <p:pic>
        <p:nvPicPr>
          <p:cNvPr id="103" name="Google Shape;103;p6" title="ucdavis_logo_gold.png"/>
          <p:cNvPicPr preferRelativeResize="0"/>
          <p:nvPr/>
        </p:nvPicPr>
        <p:blipFill>
          <a:blip r:embed="rId8">
            <a:alphaModFix/>
          </a:blip>
          <a:stretch>
            <a:fillRect/>
          </a:stretch>
        </p:blipFill>
        <p:spPr>
          <a:xfrm>
            <a:off x="1893306" y="4715823"/>
            <a:ext cx="1585664" cy="27432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CD">
  <p:cSld name="TITLE_ONLY_4">
    <p:spTree>
      <p:nvGrpSpPr>
        <p:cNvPr id="104" name="Shape 104"/>
        <p:cNvGrpSpPr/>
        <p:nvPr/>
      </p:nvGrpSpPr>
      <p:grpSpPr>
        <a:xfrm>
          <a:off x="0" y="0"/>
          <a:ext cx="0" cy="0"/>
          <a:chOff x="0" y="0"/>
          <a:chExt cx="0" cy="0"/>
        </a:xfrm>
      </p:grpSpPr>
      <p:pic>
        <p:nvPicPr>
          <p:cNvPr id="105" name="Google Shape;105;p7"/>
          <p:cNvPicPr preferRelativeResize="0"/>
          <p:nvPr/>
        </p:nvPicPr>
        <p:blipFill>
          <a:blip r:embed="rId2">
            <a:alphaModFix amt="18000"/>
          </a:blip>
          <a:stretch>
            <a:fillRect/>
          </a:stretch>
        </p:blipFill>
        <p:spPr>
          <a:xfrm>
            <a:off x="0" y="0"/>
            <a:ext cx="9144000" cy="5143501"/>
          </a:xfrm>
          <a:prstGeom prst="rect">
            <a:avLst/>
          </a:prstGeom>
          <a:noFill/>
          <a:ln>
            <a:noFill/>
          </a:ln>
        </p:spPr>
      </p:pic>
      <p:grpSp>
        <p:nvGrpSpPr>
          <p:cNvPr id="106" name="Google Shape;106;p7"/>
          <p:cNvGrpSpPr/>
          <p:nvPr/>
        </p:nvGrpSpPr>
        <p:grpSpPr>
          <a:xfrm>
            <a:off x="364200" y="344517"/>
            <a:ext cx="8433975" cy="4239294"/>
            <a:chOff x="364200" y="361213"/>
            <a:chExt cx="8433975" cy="4451637"/>
          </a:xfrm>
        </p:grpSpPr>
        <p:cxnSp>
          <p:nvCxnSpPr>
            <p:cNvPr id="107" name="Google Shape;107;p7"/>
            <p:cNvCxnSpPr/>
            <p:nvPr/>
          </p:nvCxnSpPr>
          <p:spPr>
            <a:xfrm>
              <a:off x="368400" y="364400"/>
              <a:ext cx="0" cy="4431600"/>
            </a:xfrm>
            <a:prstGeom prst="straightConnector1">
              <a:avLst/>
            </a:prstGeom>
            <a:noFill/>
            <a:ln cap="flat" cmpd="sng" w="9525">
              <a:solidFill>
                <a:srgbClr val="ECB63A"/>
              </a:solidFill>
              <a:prstDash val="solid"/>
              <a:round/>
              <a:headEnd len="med" w="med" type="none"/>
              <a:tailEnd len="med" w="med" type="none"/>
            </a:ln>
          </p:spPr>
        </p:cxnSp>
        <p:cxnSp>
          <p:nvCxnSpPr>
            <p:cNvPr id="108" name="Google Shape;108;p7"/>
            <p:cNvCxnSpPr/>
            <p:nvPr/>
          </p:nvCxnSpPr>
          <p:spPr>
            <a:xfrm>
              <a:off x="370795" y="4791550"/>
              <a:ext cx="8266500" cy="21300"/>
            </a:xfrm>
            <a:prstGeom prst="straightConnector1">
              <a:avLst/>
            </a:prstGeom>
            <a:noFill/>
            <a:ln cap="flat" cmpd="sng" w="9525">
              <a:solidFill>
                <a:srgbClr val="ECB63A"/>
              </a:solidFill>
              <a:prstDash val="solid"/>
              <a:round/>
              <a:headEnd len="med" w="med" type="none"/>
              <a:tailEnd len="med" w="med" type="oval"/>
            </a:ln>
          </p:spPr>
        </p:cxnSp>
        <p:cxnSp>
          <p:nvCxnSpPr>
            <p:cNvPr id="109" name="Google Shape;109;p7"/>
            <p:cNvCxnSpPr/>
            <p:nvPr/>
          </p:nvCxnSpPr>
          <p:spPr>
            <a:xfrm rot="10800000">
              <a:off x="8777475" y="361213"/>
              <a:ext cx="20700" cy="3962100"/>
            </a:xfrm>
            <a:prstGeom prst="straightConnector1">
              <a:avLst/>
            </a:prstGeom>
            <a:noFill/>
            <a:ln cap="flat" cmpd="sng" w="9525">
              <a:solidFill>
                <a:srgbClr val="ECB63A"/>
              </a:solidFill>
              <a:prstDash val="solid"/>
              <a:round/>
              <a:headEnd len="med" w="med" type="oval"/>
              <a:tailEnd len="med" w="med" type="none"/>
            </a:ln>
          </p:spPr>
        </p:cxnSp>
        <p:cxnSp>
          <p:nvCxnSpPr>
            <p:cNvPr id="110" name="Google Shape;110;p7"/>
            <p:cNvCxnSpPr/>
            <p:nvPr/>
          </p:nvCxnSpPr>
          <p:spPr>
            <a:xfrm>
              <a:off x="364200" y="364400"/>
              <a:ext cx="8418000" cy="0"/>
            </a:xfrm>
            <a:prstGeom prst="straightConnector1">
              <a:avLst/>
            </a:prstGeom>
            <a:noFill/>
            <a:ln cap="flat" cmpd="sng" w="9525">
              <a:solidFill>
                <a:srgbClr val="ECB63A"/>
              </a:solidFill>
              <a:prstDash val="solid"/>
              <a:round/>
              <a:headEnd len="med" w="med" type="none"/>
              <a:tailEnd len="med" w="med" type="none"/>
            </a:ln>
          </p:spPr>
        </p:cxnSp>
      </p:grpSp>
      <p:sp>
        <p:nvSpPr>
          <p:cNvPr id="111" name="Google Shape;111;p7"/>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indent="-304800" lvl="1" marL="914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indent="-304800" lvl="2" marL="1371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indent="-304800" lvl="3" marL="1828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indent="-304800" lvl="4" marL="22860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indent="-304800" lvl="5" marL="2743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indent="-304800" lvl="6" marL="3200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indent="-304800" lvl="7" marL="3657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indent="-304800" lvl="8" marL="411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p:txBody>
      </p:sp>
      <p:sp>
        <p:nvSpPr>
          <p:cNvPr id="112" name="Google Shape;112;p7"/>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3" name="Google Shape;113;p7"/>
          <p:cNvSpPr/>
          <p:nvPr/>
        </p:nvSpPr>
        <p:spPr>
          <a:xfrm>
            <a:off x="178200" y="176498"/>
            <a:ext cx="386400" cy="386400"/>
          </a:xfrm>
          <a:prstGeom prst="ellipse">
            <a:avLst/>
          </a:prstGeom>
          <a:noFill/>
          <a:ln cap="flat" cmpd="sng" w="9525">
            <a:solidFill>
              <a:srgbClr val="ECB63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114" name="Google Shape;114;p7"/>
          <p:cNvPicPr preferRelativeResize="0"/>
          <p:nvPr/>
        </p:nvPicPr>
        <p:blipFill>
          <a:blip r:embed="rId2">
            <a:alphaModFix amt="18000"/>
          </a:blip>
          <a:stretch>
            <a:fillRect/>
          </a:stretch>
        </p:blipFill>
        <p:spPr>
          <a:xfrm>
            <a:off x="0" y="0"/>
            <a:ext cx="9144000" cy="5143501"/>
          </a:xfrm>
          <a:prstGeom prst="rect">
            <a:avLst/>
          </a:prstGeom>
          <a:noFill/>
          <a:ln>
            <a:noFill/>
          </a:ln>
        </p:spPr>
      </p:pic>
      <p:grpSp>
        <p:nvGrpSpPr>
          <p:cNvPr id="115" name="Google Shape;115;p7"/>
          <p:cNvGrpSpPr/>
          <p:nvPr/>
        </p:nvGrpSpPr>
        <p:grpSpPr>
          <a:xfrm>
            <a:off x="364200" y="347552"/>
            <a:ext cx="8418000" cy="4220213"/>
            <a:chOff x="364200" y="364400"/>
            <a:chExt cx="8418000" cy="4431600"/>
          </a:xfrm>
        </p:grpSpPr>
        <p:cxnSp>
          <p:nvCxnSpPr>
            <p:cNvPr id="116" name="Google Shape;116;p7"/>
            <p:cNvCxnSpPr/>
            <p:nvPr/>
          </p:nvCxnSpPr>
          <p:spPr>
            <a:xfrm>
              <a:off x="368400" y="364400"/>
              <a:ext cx="0" cy="4431600"/>
            </a:xfrm>
            <a:prstGeom prst="straightConnector1">
              <a:avLst/>
            </a:prstGeom>
            <a:noFill/>
            <a:ln cap="flat" cmpd="sng" w="9525">
              <a:solidFill>
                <a:srgbClr val="ECB63A"/>
              </a:solidFill>
              <a:prstDash val="solid"/>
              <a:round/>
              <a:headEnd len="med" w="med" type="none"/>
              <a:tailEnd len="med" w="med" type="none"/>
            </a:ln>
          </p:spPr>
        </p:cxnSp>
        <p:cxnSp>
          <p:nvCxnSpPr>
            <p:cNvPr id="117" name="Google Shape;117;p7"/>
            <p:cNvCxnSpPr/>
            <p:nvPr/>
          </p:nvCxnSpPr>
          <p:spPr>
            <a:xfrm>
              <a:off x="364200" y="364400"/>
              <a:ext cx="8418000" cy="0"/>
            </a:xfrm>
            <a:prstGeom prst="straightConnector1">
              <a:avLst/>
            </a:prstGeom>
            <a:noFill/>
            <a:ln cap="flat" cmpd="sng" w="9525">
              <a:solidFill>
                <a:srgbClr val="ECB63A"/>
              </a:solidFill>
              <a:prstDash val="solid"/>
              <a:round/>
              <a:headEnd len="med" w="med" type="none"/>
              <a:tailEnd len="med" w="med" type="none"/>
            </a:ln>
          </p:spPr>
        </p:cxnSp>
      </p:grpSp>
      <p:pic>
        <p:nvPicPr>
          <p:cNvPr id="118" name="Google Shape;118;p7"/>
          <p:cNvPicPr preferRelativeResize="0"/>
          <p:nvPr/>
        </p:nvPicPr>
        <p:blipFill>
          <a:blip r:embed="rId3">
            <a:alphaModFix/>
          </a:blip>
          <a:stretch>
            <a:fillRect/>
          </a:stretch>
        </p:blipFill>
        <p:spPr>
          <a:xfrm>
            <a:off x="3547955" y="4714846"/>
            <a:ext cx="563502" cy="276251"/>
          </a:xfrm>
          <a:prstGeom prst="rect">
            <a:avLst/>
          </a:prstGeom>
          <a:noFill/>
          <a:ln>
            <a:noFill/>
          </a:ln>
        </p:spPr>
      </p:pic>
      <p:pic>
        <p:nvPicPr>
          <p:cNvPr id="119" name="Google Shape;119;p7"/>
          <p:cNvPicPr preferRelativeResize="0"/>
          <p:nvPr/>
        </p:nvPicPr>
        <p:blipFill>
          <a:blip r:embed="rId4">
            <a:alphaModFix/>
          </a:blip>
          <a:stretch>
            <a:fillRect/>
          </a:stretch>
        </p:blipFill>
        <p:spPr>
          <a:xfrm>
            <a:off x="5704962" y="4714848"/>
            <a:ext cx="671135" cy="276249"/>
          </a:xfrm>
          <a:prstGeom prst="rect">
            <a:avLst/>
          </a:prstGeom>
          <a:noFill/>
          <a:ln>
            <a:noFill/>
          </a:ln>
        </p:spPr>
      </p:pic>
      <p:pic>
        <p:nvPicPr>
          <p:cNvPr id="120" name="Google Shape;120;p7"/>
          <p:cNvPicPr preferRelativeResize="0"/>
          <p:nvPr/>
        </p:nvPicPr>
        <p:blipFill>
          <a:blip r:embed="rId5">
            <a:alphaModFix/>
          </a:blip>
          <a:stretch>
            <a:fillRect/>
          </a:stretch>
        </p:blipFill>
        <p:spPr>
          <a:xfrm>
            <a:off x="364189" y="4714849"/>
            <a:ext cx="1460133" cy="276250"/>
          </a:xfrm>
          <a:prstGeom prst="rect">
            <a:avLst/>
          </a:prstGeom>
          <a:noFill/>
          <a:ln>
            <a:noFill/>
          </a:ln>
        </p:spPr>
      </p:pic>
      <p:pic>
        <p:nvPicPr>
          <p:cNvPr id="121" name="Google Shape;121;p7"/>
          <p:cNvPicPr preferRelativeResize="0"/>
          <p:nvPr/>
        </p:nvPicPr>
        <p:blipFill>
          <a:blip r:embed="rId6">
            <a:alphaModFix/>
          </a:blip>
          <a:stretch>
            <a:fillRect/>
          </a:stretch>
        </p:blipFill>
        <p:spPr>
          <a:xfrm>
            <a:off x="6445080" y="4714852"/>
            <a:ext cx="806074" cy="276250"/>
          </a:xfrm>
          <a:prstGeom prst="rect">
            <a:avLst/>
          </a:prstGeom>
          <a:noFill/>
          <a:ln>
            <a:noFill/>
          </a:ln>
        </p:spPr>
      </p:pic>
      <p:pic>
        <p:nvPicPr>
          <p:cNvPr id="122" name="Google Shape;122;p7"/>
          <p:cNvPicPr preferRelativeResize="0"/>
          <p:nvPr/>
        </p:nvPicPr>
        <p:blipFill>
          <a:blip r:embed="rId7">
            <a:alphaModFix/>
          </a:blip>
          <a:stretch>
            <a:fillRect/>
          </a:stretch>
        </p:blipFill>
        <p:spPr>
          <a:xfrm>
            <a:off x="4180441" y="4714850"/>
            <a:ext cx="1455537" cy="276250"/>
          </a:xfrm>
          <a:prstGeom prst="rect">
            <a:avLst/>
          </a:prstGeom>
          <a:noFill/>
          <a:ln>
            <a:noFill/>
          </a:ln>
        </p:spPr>
      </p:pic>
      <p:pic>
        <p:nvPicPr>
          <p:cNvPr id="123" name="Google Shape;123;p7" title="ucdavis_logo_gold.png"/>
          <p:cNvPicPr preferRelativeResize="0"/>
          <p:nvPr/>
        </p:nvPicPr>
        <p:blipFill>
          <a:blip r:embed="rId8">
            <a:alphaModFix/>
          </a:blip>
          <a:stretch>
            <a:fillRect/>
          </a:stretch>
        </p:blipFill>
        <p:spPr>
          <a:xfrm>
            <a:off x="1893306" y="4715823"/>
            <a:ext cx="1585664" cy="27432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000"/>
              <a:buFont typeface="Roboto"/>
              <a:buNone/>
              <a:defRPr b="1" sz="3000">
                <a:solidFill>
                  <a:schemeClr val="dk1"/>
                </a:solidFill>
                <a:latin typeface="Roboto"/>
                <a:ea typeface="Roboto"/>
                <a:cs typeface="Roboto"/>
                <a:sym typeface="Roboto"/>
              </a:defRPr>
            </a:lvl1pPr>
            <a:lvl2pPr lvl="1" rtl="0">
              <a:spcBef>
                <a:spcPts val="0"/>
              </a:spcBef>
              <a:spcAft>
                <a:spcPts val="0"/>
              </a:spcAft>
              <a:buClr>
                <a:schemeClr val="dk2"/>
              </a:buClr>
              <a:buSzPts val="3500"/>
              <a:buFont typeface="Open Sans"/>
              <a:buNone/>
              <a:defRPr b="1" sz="3500">
                <a:solidFill>
                  <a:schemeClr val="dk2"/>
                </a:solidFill>
                <a:latin typeface="Open Sans"/>
                <a:ea typeface="Open Sans"/>
                <a:cs typeface="Open Sans"/>
                <a:sym typeface="Open Sans"/>
              </a:defRPr>
            </a:lvl2pPr>
            <a:lvl3pPr lvl="2" rtl="0">
              <a:spcBef>
                <a:spcPts val="0"/>
              </a:spcBef>
              <a:spcAft>
                <a:spcPts val="0"/>
              </a:spcAft>
              <a:buClr>
                <a:schemeClr val="dk2"/>
              </a:buClr>
              <a:buSzPts val="3500"/>
              <a:buFont typeface="Open Sans"/>
              <a:buNone/>
              <a:defRPr b="1" sz="3500">
                <a:solidFill>
                  <a:schemeClr val="dk2"/>
                </a:solidFill>
                <a:latin typeface="Open Sans"/>
                <a:ea typeface="Open Sans"/>
                <a:cs typeface="Open Sans"/>
                <a:sym typeface="Open Sans"/>
              </a:defRPr>
            </a:lvl3pPr>
            <a:lvl4pPr lvl="3" rtl="0">
              <a:spcBef>
                <a:spcPts val="0"/>
              </a:spcBef>
              <a:spcAft>
                <a:spcPts val="0"/>
              </a:spcAft>
              <a:buClr>
                <a:schemeClr val="dk2"/>
              </a:buClr>
              <a:buSzPts val="3500"/>
              <a:buFont typeface="Open Sans"/>
              <a:buNone/>
              <a:defRPr b="1" sz="3500">
                <a:solidFill>
                  <a:schemeClr val="dk2"/>
                </a:solidFill>
                <a:latin typeface="Open Sans"/>
                <a:ea typeface="Open Sans"/>
                <a:cs typeface="Open Sans"/>
                <a:sym typeface="Open Sans"/>
              </a:defRPr>
            </a:lvl4pPr>
            <a:lvl5pPr lvl="4" rtl="0">
              <a:spcBef>
                <a:spcPts val="0"/>
              </a:spcBef>
              <a:spcAft>
                <a:spcPts val="0"/>
              </a:spcAft>
              <a:buClr>
                <a:schemeClr val="dk2"/>
              </a:buClr>
              <a:buSzPts val="3500"/>
              <a:buFont typeface="Open Sans"/>
              <a:buNone/>
              <a:defRPr b="1" sz="3500">
                <a:solidFill>
                  <a:schemeClr val="dk2"/>
                </a:solidFill>
                <a:latin typeface="Open Sans"/>
                <a:ea typeface="Open Sans"/>
                <a:cs typeface="Open Sans"/>
                <a:sym typeface="Open Sans"/>
              </a:defRPr>
            </a:lvl5pPr>
            <a:lvl6pPr lvl="5" rtl="0">
              <a:spcBef>
                <a:spcPts val="0"/>
              </a:spcBef>
              <a:spcAft>
                <a:spcPts val="0"/>
              </a:spcAft>
              <a:buClr>
                <a:schemeClr val="dk2"/>
              </a:buClr>
              <a:buSzPts val="3500"/>
              <a:buFont typeface="Open Sans"/>
              <a:buNone/>
              <a:defRPr b="1" sz="3500">
                <a:solidFill>
                  <a:schemeClr val="dk2"/>
                </a:solidFill>
                <a:latin typeface="Open Sans"/>
                <a:ea typeface="Open Sans"/>
                <a:cs typeface="Open Sans"/>
                <a:sym typeface="Open Sans"/>
              </a:defRPr>
            </a:lvl6pPr>
            <a:lvl7pPr lvl="6" rtl="0">
              <a:spcBef>
                <a:spcPts val="0"/>
              </a:spcBef>
              <a:spcAft>
                <a:spcPts val="0"/>
              </a:spcAft>
              <a:buClr>
                <a:schemeClr val="dk2"/>
              </a:buClr>
              <a:buSzPts val="3500"/>
              <a:buFont typeface="Open Sans"/>
              <a:buNone/>
              <a:defRPr b="1" sz="3500">
                <a:solidFill>
                  <a:schemeClr val="dk2"/>
                </a:solidFill>
                <a:latin typeface="Open Sans"/>
                <a:ea typeface="Open Sans"/>
                <a:cs typeface="Open Sans"/>
                <a:sym typeface="Open Sans"/>
              </a:defRPr>
            </a:lvl7pPr>
            <a:lvl8pPr lvl="7" rtl="0">
              <a:spcBef>
                <a:spcPts val="0"/>
              </a:spcBef>
              <a:spcAft>
                <a:spcPts val="0"/>
              </a:spcAft>
              <a:buClr>
                <a:schemeClr val="dk2"/>
              </a:buClr>
              <a:buSzPts val="3500"/>
              <a:buFont typeface="Open Sans"/>
              <a:buNone/>
              <a:defRPr b="1" sz="3500">
                <a:solidFill>
                  <a:schemeClr val="dk2"/>
                </a:solidFill>
                <a:latin typeface="Open Sans"/>
                <a:ea typeface="Open Sans"/>
                <a:cs typeface="Open Sans"/>
                <a:sym typeface="Open Sans"/>
              </a:defRPr>
            </a:lvl8pPr>
            <a:lvl9pPr lvl="8" rtl="0">
              <a:spcBef>
                <a:spcPts val="0"/>
              </a:spcBef>
              <a:spcAft>
                <a:spcPts val="0"/>
              </a:spcAft>
              <a:buClr>
                <a:schemeClr val="dk2"/>
              </a:buClr>
              <a:buSzPts val="3500"/>
              <a:buFont typeface="Open Sans"/>
              <a:buNone/>
              <a:defRPr b="1" sz="3500">
                <a:solidFill>
                  <a:schemeClr val="dk2"/>
                </a:solidFill>
                <a:latin typeface="Open Sans"/>
                <a:ea typeface="Open Sans"/>
                <a:cs typeface="Open Sans"/>
                <a:sym typeface="Open Sans"/>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indent="-304800" lvl="1" marL="914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indent="-304800" lvl="2" marL="1371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indent="-304800" lvl="3" marL="1828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indent="-304800" lvl="4" marL="22860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indent="-304800" lvl="5" marL="2743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indent="-304800" lvl="6" marL="3200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indent="-304800" lvl="7" marL="3657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indent="-304800" lvl="8" marL="411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0.png"/><Relationship Id="rId4" Type="http://schemas.openxmlformats.org/officeDocument/2006/relationships/image" Target="../media/image3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hyperlink" Target="https://docs.google.com/document/d/19In4j2_DfarphGMjTmIkyqXd_WB95QbZBYWSJtK2PhM/edit?usp=shari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hyperlink" Target="https://github.com/spack/spack" TargetMode="External"/><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hyperlink" Target="https://security.ucop.edu/files/documents/resources/oss-chart.pdf" TargetMode="External"/><Relationship Id="rId4" Type="http://schemas.openxmlformats.org/officeDocument/2006/relationships/hyperlink" Target="https://security.ucop.edu/files/documents/resources/oss-chart.pdf" TargetMode="External"/><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hyperlink" Target="https://security.ucop.edu/resources/open-source-software-licensing.html" TargetMode="External"/><Relationship Id="rId4" Type="http://schemas.openxmlformats.org/officeDocument/2006/relationships/hyperlink" Target="https://security.ucop.edu/resources/open-source-software-licensing.html" TargetMode="External"/><Relationship Id="rId5" Type="http://schemas.openxmlformats.org/officeDocument/2006/relationships/hyperlink" Target="https://ucospo.net/oss-resources/template-guides/license-guide/" TargetMode="External"/><Relationship Id="rId6" Type="http://schemas.openxmlformats.org/officeDocument/2006/relationships/hyperlink" Target="https://choosealicense.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hyperlink" Target="https://pixi.sh"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hyperlink" Target="https://citation-file-format.github.io/" TargetMode="External"/><Relationship Id="rId4" Type="http://schemas.openxmlformats.org/officeDocument/2006/relationships/hyperlink" Target="https://citation-file-format.github.io/cff-initializer-javascript/#/" TargetMode="External"/><Relationship Id="rId5" Type="http://schemas.openxmlformats.org/officeDocument/2006/relationships/hyperlink" Target="https://citation-file-format.github.io/cff-initializer-javascript/#/" TargetMode="External"/><Relationship Id="rId6"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hyperlink" Target="http://github.com/jt14den/software-demo"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comments" Target="../comments/commen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hyperlink" Target="http://contributing.md" TargetMode="External"/><Relationship Id="rId4" Type="http://schemas.openxmlformats.org/officeDocument/2006/relationships/hyperlink" Target="http://changelog.md"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hyperlink" Target="https://choosealicense.com" TargetMode="External"/><Relationship Id="rId4" Type="http://schemas.openxmlformats.org/officeDocument/2006/relationships/hyperlink" Target="https://security.ucop.edu/files/documents/resources/oss-chart.pdf"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4.jpg"/><Relationship Id="rId8" Type="http://schemas.openxmlformats.org/officeDocument/2006/relationships/image" Target="../media/image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hyperlink" Target="mailto:tdennis@library.ucla.edu" TargetMode="External"/><Relationship Id="rId4" Type="http://schemas.openxmlformats.org/officeDocument/2006/relationships/hyperlink" Target="mailto:rotsuji@ucsd.edu"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8"/>
          <p:cNvPicPr preferRelativeResize="0"/>
          <p:nvPr/>
        </p:nvPicPr>
        <p:blipFill>
          <a:blip r:embed="rId3">
            <a:alphaModFix/>
          </a:blip>
          <a:stretch>
            <a:fillRect/>
          </a:stretch>
        </p:blipFill>
        <p:spPr>
          <a:xfrm>
            <a:off x="0" y="-20175"/>
            <a:ext cx="9238152" cy="5184826"/>
          </a:xfrm>
          <a:prstGeom prst="rect">
            <a:avLst/>
          </a:prstGeom>
          <a:noFill/>
          <a:ln>
            <a:noFill/>
          </a:ln>
        </p:spPr>
      </p:pic>
      <p:sp>
        <p:nvSpPr>
          <p:cNvPr id="129" name="Google Shape;129;p8"/>
          <p:cNvSpPr txBox="1"/>
          <p:nvPr/>
        </p:nvSpPr>
        <p:spPr>
          <a:xfrm rot="783">
            <a:off x="2519254" y="2325450"/>
            <a:ext cx="39531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C3D9E6"/>
                </a:solidFill>
                <a:latin typeface="Josefin Sans"/>
                <a:ea typeface="Josefin Sans"/>
                <a:cs typeface="Josefin Sans"/>
                <a:sym typeface="Josefin Sans"/>
              </a:rPr>
              <a:t>February 9 - 13, 2026</a:t>
            </a:r>
            <a:endParaRPr b="1" sz="2000">
              <a:solidFill>
                <a:srgbClr val="C3D9E6"/>
              </a:solidFill>
              <a:latin typeface="Josefin Sans"/>
              <a:ea typeface="Josefin Sans"/>
              <a:cs typeface="Josefin Sans"/>
              <a:sym typeface="Josefin Sans"/>
            </a:endParaRPr>
          </a:p>
        </p:txBody>
      </p:sp>
      <p:sp>
        <p:nvSpPr>
          <p:cNvPr id="130" name="Google Shape;130;p8"/>
          <p:cNvSpPr txBox="1"/>
          <p:nvPr/>
        </p:nvSpPr>
        <p:spPr>
          <a:xfrm>
            <a:off x="2161075" y="3909000"/>
            <a:ext cx="4637700" cy="1216200"/>
          </a:xfrm>
          <a:prstGeom prst="rect">
            <a:avLst/>
          </a:prstGeom>
          <a:noFill/>
          <a:ln>
            <a:noFill/>
          </a:ln>
        </p:spPr>
        <p:txBody>
          <a:bodyPr anchorCtr="0" anchor="t" bIns="91425" lIns="91425" spcFirstLastPara="1" rIns="91425" wrap="square" tIns="91425">
            <a:spAutoFit/>
          </a:bodyPr>
          <a:lstStyle/>
          <a:p>
            <a:pPr indent="0" lvl="0" marL="0" rtl="0" algn="ctr">
              <a:lnSpc>
                <a:spcPct val="140018"/>
              </a:lnSpc>
              <a:spcBef>
                <a:spcPts val="0"/>
              </a:spcBef>
              <a:spcAft>
                <a:spcPts val="0"/>
              </a:spcAft>
              <a:buNone/>
            </a:pPr>
            <a:r>
              <a:rPr b="1" lang="en" sz="1000">
                <a:solidFill>
                  <a:srgbClr val="C3D9E6"/>
                </a:solidFill>
                <a:latin typeface="Josefin Sans"/>
                <a:ea typeface="Josefin Sans"/>
                <a:cs typeface="Josefin Sans"/>
                <a:sym typeface="Josefin Sans"/>
              </a:rPr>
              <a:t>ALL EVENTS ARE FREE TO ATTEND AND OPEN TO ANY MEMBER OF THE UC COMMUNITY.</a:t>
            </a:r>
            <a:endParaRPr b="1" sz="1000">
              <a:solidFill>
                <a:srgbClr val="C3D9E6"/>
              </a:solidFill>
              <a:latin typeface="Josefin Sans"/>
              <a:ea typeface="Josefin Sans"/>
              <a:cs typeface="Josefin Sans"/>
              <a:sym typeface="Josefin Sans"/>
            </a:endParaRPr>
          </a:p>
          <a:p>
            <a:pPr indent="0" lvl="0" marL="0" rtl="0" algn="ctr">
              <a:lnSpc>
                <a:spcPct val="140017"/>
              </a:lnSpc>
              <a:spcBef>
                <a:spcPts val="0"/>
              </a:spcBef>
              <a:spcAft>
                <a:spcPts val="0"/>
              </a:spcAft>
              <a:buNone/>
            </a:pPr>
            <a:r>
              <a:rPr b="1" lang="en" sz="1000">
                <a:solidFill>
                  <a:srgbClr val="C3D9E6"/>
                </a:solidFill>
                <a:latin typeface="Josefin Sans"/>
                <a:ea typeface="Josefin Sans"/>
                <a:cs typeface="Josefin Sans"/>
                <a:sym typeface="Josefin Sans"/>
              </a:rPr>
              <a:t>FOR MORE INFORMATION AND TO REGISTER FOR A</a:t>
            </a:r>
            <a:endParaRPr b="1" sz="1000">
              <a:solidFill>
                <a:srgbClr val="C3D9E6"/>
              </a:solidFill>
              <a:latin typeface="Josefin Sans"/>
              <a:ea typeface="Josefin Sans"/>
              <a:cs typeface="Josefin Sans"/>
              <a:sym typeface="Josefin Sans"/>
            </a:endParaRPr>
          </a:p>
          <a:p>
            <a:pPr indent="0" lvl="0" marL="0" rtl="0" algn="ctr">
              <a:lnSpc>
                <a:spcPct val="140017"/>
              </a:lnSpc>
              <a:spcBef>
                <a:spcPts val="0"/>
              </a:spcBef>
              <a:spcAft>
                <a:spcPts val="0"/>
              </a:spcAft>
              <a:buNone/>
            </a:pPr>
            <a:r>
              <a:rPr b="1" lang="en" sz="1000">
                <a:solidFill>
                  <a:srgbClr val="C3D9E6"/>
                </a:solidFill>
                <a:latin typeface="Josefin Sans"/>
                <a:ea typeface="Josefin Sans"/>
                <a:cs typeface="Josefin Sans"/>
                <a:sym typeface="Josefin Sans"/>
              </a:rPr>
              <a:t>SPECIFIC WORKSHOP, PLEASE VISIT OUR WEBSITE:</a:t>
            </a:r>
            <a:endParaRPr b="1" sz="1000">
              <a:solidFill>
                <a:srgbClr val="C3D9E6"/>
              </a:solidFill>
              <a:latin typeface="Josefin Sans"/>
              <a:ea typeface="Josefin Sans"/>
              <a:cs typeface="Josefin Sans"/>
              <a:sym typeface="Josefin Sans"/>
            </a:endParaRPr>
          </a:p>
          <a:p>
            <a:pPr indent="0" lvl="0" marL="0" rtl="0" algn="ctr">
              <a:lnSpc>
                <a:spcPct val="140017"/>
              </a:lnSpc>
              <a:spcBef>
                <a:spcPts val="0"/>
              </a:spcBef>
              <a:spcAft>
                <a:spcPts val="0"/>
              </a:spcAft>
              <a:buClr>
                <a:srgbClr val="000000"/>
              </a:buClr>
              <a:buSzPts val="1100"/>
              <a:buFont typeface="Arial"/>
              <a:buNone/>
            </a:pPr>
            <a:r>
              <a:rPr b="1" lang="en" sz="1100">
                <a:solidFill>
                  <a:srgbClr val="FAEEA2"/>
                </a:solidFill>
                <a:latin typeface="Josefin Sans"/>
                <a:ea typeface="Josefin Sans"/>
                <a:cs typeface="Josefin Sans"/>
                <a:sym typeface="Josefin Sans"/>
              </a:rPr>
              <a:t>https://uc-love-data-week.github.io/ </a:t>
            </a:r>
            <a:endParaRPr b="1" sz="1000">
              <a:solidFill>
                <a:srgbClr val="FAEEA2"/>
              </a:solidFill>
              <a:latin typeface="Josefin Sans"/>
              <a:ea typeface="Josefin Sans"/>
              <a:cs typeface="Josefin Sans"/>
              <a:sym typeface="Josefin Sans"/>
            </a:endParaRPr>
          </a:p>
        </p:txBody>
      </p:sp>
      <p:sp>
        <p:nvSpPr>
          <p:cNvPr id="131" name="Google Shape;131;p8"/>
          <p:cNvSpPr/>
          <p:nvPr/>
        </p:nvSpPr>
        <p:spPr>
          <a:xfrm>
            <a:off x="2148300" y="2765400"/>
            <a:ext cx="4695000" cy="1143600"/>
          </a:xfrm>
          <a:prstGeom prst="roundRect">
            <a:avLst>
              <a:gd fmla="val 16667" name="adj"/>
            </a:avLst>
          </a:prstGeom>
          <a:solidFill>
            <a:srgbClr val="FAEEA2"/>
          </a:solidFill>
          <a:ln>
            <a:noFill/>
          </a:ln>
        </p:spPr>
        <p:txBody>
          <a:bodyPr anchorCtr="0" anchor="ctr" bIns="91425" lIns="91425" spcFirstLastPara="1" rIns="91425" wrap="square" tIns="91425">
            <a:noAutofit/>
          </a:bodyPr>
          <a:lstStyle/>
          <a:p>
            <a:pPr indent="0" lvl="0" marL="0" rtl="0" algn="ctr">
              <a:lnSpc>
                <a:spcPct val="140018"/>
              </a:lnSpc>
              <a:spcBef>
                <a:spcPts val="0"/>
              </a:spcBef>
              <a:spcAft>
                <a:spcPts val="0"/>
              </a:spcAft>
              <a:buNone/>
            </a:pPr>
            <a:r>
              <a:rPr b="1" lang="en" sz="1000">
                <a:solidFill>
                  <a:srgbClr val="082C45"/>
                </a:solidFill>
                <a:latin typeface="Josefin Sans"/>
                <a:ea typeface="Josefin Sans"/>
                <a:cs typeface="Josefin Sans"/>
                <a:sym typeface="Josefin Sans"/>
              </a:rPr>
              <a:t>UC LOVE DATA WEEK: </a:t>
            </a:r>
            <a:endParaRPr b="1" sz="1000">
              <a:solidFill>
                <a:srgbClr val="082C45"/>
              </a:solidFill>
              <a:latin typeface="Josefin Sans"/>
              <a:ea typeface="Josefin Sans"/>
              <a:cs typeface="Josefin Sans"/>
              <a:sym typeface="Josefin Sans"/>
            </a:endParaRPr>
          </a:p>
          <a:p>
            <a:pPr indent="0" lvl="0" marL="0" rtl="0" algn="ctr">
              <a:lnSpc>
                <a:spcPct val="140018"/>
              </a:lnSpc>
              <a:spcBef>
                <a:spcPts val="0"/>
              </a:spcBef>
              <a:spcAft>
                <a:spcPts val="0"/>
              </a:spcAft>
              <a:buNone/>
            </a:pPr>
            <a:r>
              <a:rPr b="1" lang="en" sz="1000">
                <a:solidFill>
                  <a:srgbClr val="082C45"/>
                </a:solidFill>
                <a:latin typeface="Josefin Sans"/>
                <a:ea typeface="Josefin Sans"/>
                <a:cs typeface="Josefin Sans"/>
                <a:sym typeface="Josefin Sans"/>
              </a:rPr>
              <a:t>A SERIES OF VIRTUAL TALKS, PRESENTATIONS, AND WORKSHOPS BEING OFFERED AS A WEEK-LONG EVENT FOCUSED ON DATA ACCESS, MANAGEMENT, SECURITY, SHARING, AND PRESERVATION, FOR THE UC COMMUNITY.</a:t>
            </a:r>
            <a:endParaRPr sz="1200">
              <a:solidFill>
                <a:srgbClr val="082C45"/>
              </a:solidFill>
            </a:endParaRPr>
          </a:p>
        </p:txBody>
      </p:sp>
      <p:pic>
        <p:nvPicPr>
          <p:cNvPr id="132" name="Google Shape;132;p8"/>
          <p:cNvPicPr preferRelativeResize="0"/>
          <p:nvPr/>
        </p:nvPicPr>
        <p:blipFill>
          <a:blip r:embed="rId4">
            <a:alphaModFix/>
          </a:blip>
          <a:stretch>
            <a:fillRect/>
          </a:stretch>
        </p:blipFill>
        <p:spPr>
          <a:xfrm>
            <a:off x="6550950" y="-20175"/>
            <a:ext cx="2486748" cy="1922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9"/>
          <p:cNvPicPr preferRelativeResize="0"/>
          <p:nvPr/>
        </p:nvPicPr>
        <p:blipFill>
          <a:blip r:embed="rId3">
            <a:alphaModFix/>
          </a:blip>
          <a:stretch>
            <a:fillRect/>
          </a:stretch>
        </p:blipFill>
        <p:spPr>
          <a:xfrm>
            <a:off x="0" y="-20175"/>
            <a:ext cx="9238152" cy="5184826"/>
          </a:xfrm>
          <a:prstGeom prst="rect">
            <a:avLst/>
          </a:prstGeom>
          <a:noFill/>
          <a:ln>
            <a:noFill/>
          </a:ln>
        </p:spPr>
      </p:pic>
      <p:pic>
        <p:nvPicPr>
          <p:cNvPr id="138" name="Google Shape;138;p9"/>
          <p:cNvPicPr preferRelativeResize="0"/>
          <p:nvPr/>
        </p:nvPicPr>
        <p:blipFill>
          <a:blip r:embed="rId4">
            <a:alphaModFix/>
          </a:blip>
          <a:stretch>
            <a:fillRect/>
          </a:stretch>
        </p:blipFill>
        <p:spPr>
          <a:xfrm>
            <a:off x="6550950" y="-20175"/>
            <a:ext cx="2486748" cy="1922150"/>
          </a:xfrm>
          <a:prstGeom prst="rect">
            <a:avLst/>
          </a:prstGeom>
          <a:noFill/>
          <a:ln>
            <a:noFill/>
          </a:ln>
        </p:spPr>
      </p:pic>
      <p:sp>
        <p:nvSpPr>
          <p:cNvPr id="139" name="Google Shape;139;p9"/>
          <p:cNvSpPr/>
          <p:nvPr/>
        </p:nvSpPr>
        <p:spPr>
          <a:xfrm>
            <a:off x="361725" y="2629075"/>
            <a:ext cx="3061200" cy="2304900"/>
          </a:xfrm>
          <a:prstGeom prst="roundRect">
            <a:avLst>
              <a:gd fmla="val 16667" name="adj"/>
            </a:avLst>
          </a:prstGeom>
          <a:solidFill>
            <a:srgbClr val="FAEEA2"/>
          </a:solidFill>
          <a:ln>
            <a:noFill/>
          </a:ln>
        </p:spPr>
        <p:txBody>
          <a:bodyPr anchorCtr="0" anchor="ctr" bIns="91425" lIns="91425" spcFirstLastPara="1" rIns="91425" wrap="square" tIns="91425">
            <a:noAutofit/>
          </a:bodyPr>
          <a:lstStyle/>
          <a:p>
            <a:pPr indent="0" lvl="0" marL="0" rtl="0" algn="ctr">
              <a:lnSpc>
                <a:spcPct val="140018"/>
              </a:lnSpc>
              <a:spcBef>
                <a:spcPts val="0"/>
              </a:spcBef>
              <a:spcAft>
                <a:spcPts val="0"/>
              </a:spcAft>
              <a:buNone/>
            </a:pPr>
            <a:r>
              <a:t/>
            </a:r>
            <a:endParaRPr sz="1200">
              <a:solidFill>
                <a:srgbClr val="082C45"/>
              </a:solidFill>
            </a:endParaRPr>
          </a:p>
        </p:txBody>
      </p:sp>
      <p:sp>
        <p:nvSpPr>
          <p:cNvPr id="140" name="Google Shape;140;p9"/>
          <p:cNvSpPr txBox="1"/>
          <p:nvPr/>
        </p:nvSpPr>
        <p:spPr>
          <a:xfrm>
            <a:off x="361725" y="2629075"/>
            <a:ext cx="30612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300">
                <a:solidFill>
                  <a:srgbClr val="082C45"/>
                </a:solidFill>
                <a:latin typeface="Poppins"/>
                <a:ea typeface="Poppins"/>
                <a:cs typeface="Poppins"/>
                <a:sym typeface="Poppins"/>
              </a:rPr>
              <a:t>Code of Conduct</a:t>
            </a:r>
            <a:endParaRPr b="1" sz="3000">
              <a:solidFill>
                <a:srgbClr val="082C45"/>
              </a:solidFill>
              <a:latin typeface="Poppins"/>
              <a:ea typeface="Poppins"/>
              <a:cs typeface="Poppins"/>
              <a:sym typeface="Poppins"/>
            </a:endParaRPr>
          </a:p>
        </p:txBody>
      </p:sp>
      <p:sp>
        <p:nvSpPr>
          <p:cNvPr id="141" name="Google Shape;141;p9"/>
          <p:cNvSpPr txBox="1"/>
          <p:nvPr/>
        </p:nvSpPr>
        <p:spPr>
          <a:xfrm>
            <a:off x="361725" y="3076975"/>
            <a:ext cx="3061200" cy="184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082C45"/>
                </a:solidFill>
                <a:latin typeface="Poppins"/>
                <a:ea typeface="Poppins"/>
                <a:cs typeface="Poppins"/>
                <a:sym typeface="Poppins"/>
              </a:rPr>
              <a:t>By participating in this community, participants accept to abide by the UC Love Data Week (UCLDW) Code of Conduct and accept the procedures by which any Code of Conduct incidents are resolved. Any form of behavior to exclude, intimidate, or cause discomfort is a violation of the Code of Conduct.</a:t>
            </a:r>
            <a:endParaRPr b="1" sz="1100">
              <a:solidFill>
                <a:srgbClr val="082C45"/>
              </a:solidFill>
              <a:latin typeface="Poppins"/>
              <a:ea typeface="Poppins"/>
              <a:cs typeface="Poppins"/>
              <a:sym typeface="Poppins"/>
            </a:endParaRPr>
          </a:p>
        </p:txBody>
      </p:sp>
      <p:sp>
        <p:nvSpPr>
          <p:cNvPr id="142" name="Google Shape;142;p9"/>
          <p:cNvSpPr txBox="1"/>
          <p:nvPr/>
        </p:nvSpPr>
        <p:spPr>
          <a:xfrm>
            <a:off x="3445050" y="2571750"/>
            <a:ext cx="5698800" cy="158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C09748"/>
                </a:solidFill>
                <a:latin typeface="Poppins"/>
                <a:ea typeface="Poppins"/>
                <a:cs typeface="Poppins"/>
                <a:sym typeface="Poppins"/>
              </a:rPr>
              <a:t>Expected Behavior</a:t>
            </a:r>
            <a:endParaRPr b="1" sz="1300">
              <a:solidFill>
                <a:srgbClr val="C09748"/>
              </a:solidFill>
              <a:latin typeface="Poppins"/>
              <a:ea typeface="Poppins"/>
              <a:cs typeface="Poppins"/>
              <a:sym typeface="Poppins"/>
            </a:endParaRPr>
          </a:p>
          <a:p>
            <a:pPr indent="-311150" lvl="0" marL="457200" rtl="0" algn="l">
              <a:spcBef>
                <a:spcPts val="0"/>
              </a:spcBef>
              <a:spcAft>
                <a:spcPts val="0"/>
              </a:spcAft>
              <a:buClr>
                <a:schemeClr val="lt2"/>
              </a:buClr>
              <a:buSzPts val="1300"/>
              <a:buFont typeface="Poppins"/>
              <a:buChar char="●"/>
            </a:pPr>
            <a:r>
              <a:rPr lang="en" sz="1300">
                <a:solidFill>
                  <a:schemeClr val="lt2"/>
                </a:solidFill>
                <a:latin typeface="Poppins"/>
                <a:ea typeface="Poppins"/>
                <a:cs typeface="Poppins"/>
                <a:sym typeface="Poppins"/>
              </a:rPr>
              <a:t>Use welcoming and inclusive language</a:t>
            </a:r>
            <a:endParaRPr sz="1300">
              <a:solidFill>
                <a:schemeClr val="lt2"/>
              </a:solidFill>
              <a:latin typeface="Poppins"/>
              <a:ea typeface="Poppins"/>
              <a:cs typeface="Poppins"/>
              <a:sym typeface="Poppins"/>
            </a:endParaRPr>
          </a:p>
          <a:p>
            <a:pPr indent="-311150" lvl="0" marL="457200" rtl="0" algn="l">
              <a:spcBef>
                <a:spcPts val="0"/>
              </a:spcBef>
              <a:spcAft>
                <a:spcPts val="0"/>
              </a:spcAft>
              <a:buClr>
                <a:schemeClr val="lt2"/>
              </a:buClr>
              <a:buSzPts val="1300"/>
              <a:buFont typeface="Poppins"/>
              <a:buChar char="●"/>
            </a:pPr>
            <a:r>
              <a:rPr lang="en" sz="1300">
                <a:solidFill>
                  <a:schemeClr val="lt2"/>
                </a:solidFill>
                <a:latin typeface="Poppins"/>
                <a:ea typeface="Poppins"/>
                <a:cs typeface="Poppins"/>
                <a:sym typeface="Poppins"/>
              </a:rPr>
              <a:t>Be respectful of different viewpoints and experiences</a:t>
            </a:r>
            <a:endParaRPr sz="1300">
              <a:solidFill>
                <a:schemeClr val="lt2"/>
              </a:solidFill>
              <a:latin typeface="Poppins"/>
              <a:ea typeface="Poppins"/>
              <a:cs typeface="Poppins"/>
              <a:sym typeface="Poppins"/>
            </a:endParaRPr>
          </a:p>
          <a:p>
            <a:pPr indent="-311150" lvl="0" marL="457200" rtl="0" algn="l">
              <a:spcBef>
                <a:spcPts val="0"/>
              </a:spcBef>
              <a:spcAft>
                <a:spcPts val="0"/>
              </a:spcAft>
              <a:buClr>
                <a:schemeClr val="lt2"/>
              </a:buClr>
              <a:buSzPts val="1300"/>
              <a:buFont typeface="Poppins"/>
              <a:buChar char="●"/>
            </a:pPr>
            <a:r>
              <a:rPr lang="en" sz="1300">
                <a:solidFill>
                  <a:schemeClr val="lt2"/>
                </a:solidFill>
                <a:latin typeface="Poppins"/>
                <a:ea typeface="Poppins"/>
                <a:cs typeface="Poppins"/>
                <a:sym typeface="Poppins"/>
              </a:rPr>
              <a:t>Gracefully provide and accept constructive criticism</a:t>
            </a:r>
            <a:endParaRPr sz="1300">
              <a:solidFill>
                <a:schemeClr val="lt2"/>
              </a:solidFill>
              <a:latin typeface="Poppins"/>
              <a:ea typeface="Poppins"/>
              <a:cs typeface="Poppins"/>
              <a:sym typeface="Poppins"/>
            </a:endParaRPr>
          </a:p>
          <a:p>
            <a:pPr indent="-311150" lvl="0" marL="457200" rtl="0" algn="l">
              <a:spcBef>
                <a:spcPts val="0"/>
              </a:spcBef>
              <a:spcAft>
                <a:spcPts val="0"/>
              </a:spcAft>
              <a:buClr>
                <a:schemeClr val="lt2"/>
              </a:buClr>
              <a:buSzPts val="1300"/>
              <a:buFont typeface="Poppins"/>
              <a:buChar char="●"/>
            </a:pPr>
            <a:r>
              <a:rPr lang="en" sz="1300">
                <a:solidFill>
                  <a:schemeClr val="lt2"/>
                </a:solidFill>
                <a:latin typeface="Poppins"/>
                <a:ea typeface="Poppins"/>
                <a:cs typeface="Poppins"/>
                <a:sym typeface="Poppins"/>
              </a:rPr>
              <a:t>Focus on what is best for the community</a:t>
            </a:r>
            <a:endParaRPr sz="1300">
              <a:solidFill>
                <a:schemeClr val="lt2"/>
              </a:solidFill>
              <a:latin typeface="Poppins"/>
              <a:ea typeface="Poppins"/>
              <a:cs typeface="Poppins"/>
              <a:sym typeface="Poppins"/>
            </a:endParaRPr>
          </a:p>
          <a:p>
            <a:pPr indent="-311150" lvl="0" marL="457200" rtl="0" algn="l">
              <a:spcBef>
                <a:spcPts val="0"/>
              </a:spcBef>
              <a:spcAft>
                <a:spcPts val="0"/>
              </a:spcAft>
              <a:buClr>
                <a:schemeClr val="lt2"/>
              </a:buClr>
              <a:buSzPts val="1300"/>
              <a:buFont typeface="Poppins"/>
              <a:buChar char="●"/>
            </a:pPr>
            <a:r>
              <a:rPr lang="en" sz="1300">
                <a:solidFill>
                  <a:schemeClr val="lt2"/>
                </a:solidFill>
                <a:latin typeface="Poppins"/>
                <a:ea typeface="Poppins"/>
                <a:cs typeface="Poppins"/>
                <a:sym typeface="Poppins"/>
              </a:rPr>
              <a:t>Show courtesy and respect towards other community members</a:t>
            </a:r>
            <a:endParaRPr sz="1300">
              <a:solidFill>
                <a:schemeClr val="lt2"/>
              </a:solidFill>
              <a:latin typeface="Poppins"/>
              <a:ea typeface="Poppins"/>
              <a:cs typeface="Poppins"/>
              <a:sym typeface="Poppins"/>
            </a:endParaRPr>
          </a:p>
        </p:txBody>
      </p:sp>
      <p:sp>
        <p:nvSpPr>
          <p:cNvPr id="143" name="Google Shape;143;p9"/>
          <p:cNvSpPr txBox="1"/>
          <p:nvPr/>
        </p:nvSpPr>
        <p:spPr>
          <a:xfrm>
            <a:off x="3445050" y="3975600"/>
            <a:ext cx="5698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FFFFFF"/>
                </a:solidFill>
                <a:latin typeface="Poppins"/>
                <a:ea typeface="Poppins"/>
                <a:cs typeface="Poppins"/>
                <a:sym typeface="Poppins"/>
              </a:rPr>
              <a:t>If you believe someone is violating the Code of Conduct, we ask that you report it to the instructor/helper in your session or to the UCLDW email address (uclovedataweek@gmail.com)</a:t>
            </a:r>
            <a:endParaRPr sz="1200">
              <a:solidFill>
                <a:schemeClr val="dk2"/>
              </a:solidFill>
              <a:latin typeface="Poppins"/>
              <a:ea typeface="Poppins"/>
              <a:cs typeface="Poppins"/>
              <a:sym typeface="Poppins"/>
            </a:endParaRPr>
          </a:p>
        </p:txBody>
      </p:sp>
      <p:sp>
        <p:nvSpPr>
          <p:cNvPr id="144" name="Google Shape;144;p9"/>
          <p:cNvSpPr txBox="1"/>
          <p:nvPr/>
        </p:nvSpPr>
        <p:spPr>
          <a:xfrm>
            <a:off x="3445050" y="4592100"/>
            <a:ext cx="5205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u="sng">
                <a:solidFill>
                  <a:srgbClr val="BDE3F6"/>
                </a:solidFill>
                <a:latin typeface="Poppins"/>
                <a:ea typeface="Poppins"/>
                <a:cs typeface="Poppins"/>
                <a:sym typeface="Poppins"/>
                <a:hlinkClick r:id="rId5">
                  <a:extLst>
                    <a:ext uri="{A12FA001-AC4F-418D-AE19-62706E023703}">
                      <ahyp:hlinkClr val="tx"/>
                    </a:ext>
                  </a:extLst>
                </a:hlinkClick>
              </a:rPr>
              <a:t>Code of Conduct Full Document</a:t>
            </a:r>
            <a:endParaRPr sz="1200">
              <a:solidFill>
                <a:schemeClr val="dk2"/>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grpSp>
        <p:nvGrpSpPr>
          <p:cNvPr id="149" name="Google Shape;149;p10"/>
          <p:cNvGrpSpPr/>
          <p:nvPr/>
        </p:nvGrpSpPr>
        <p:grpSpPr>
          <a:xfrm>
            <a:off x="7433012" y="4640899"/>
            <a:ext cx="1601844" cy="336840"/>
            <a:chOff x="1290100" y="3373425"/>
            <a:chExt cx="3565200" cy="749700"/>
          </a:xfrm>
        </p:grpSpPr>
        <p:sp>
          <p:nvSpPr>
            <p:cNvPr id="150" name="Google Shape;150;p10"/>
            <p:cNvSpPr/>
            <p:nvPr/>
          </p:nvSpPr>
          <p:spPr>
            <a:xfrm>
              <a:off x="1290100" y="3373425"/>
              <a:ext cx="3565200" cy="749700"/>
            </a:xfrm>
            <a:prstGeom prst="roundRect">
              <a:avLst>
                <a:gd fmla="val 10544" name="adj"/>
              </a:avLst>
            </a:prstGeom>
            <a:solidFill>
              <a:srgbClr val="FFFFFF">
                <a:alpha val="84090"/>
              </a:srgbClr>
            </a:solidFill>
            <a:ln>
              <a:noFill/>
            </a:ln>
          </p:spPr>
          <p:txBody>
            <a:bodyPr anchorCtr="0" anchor="ctr" bIns="51625" lIns="51625" spcFirstLastPara="1" rIns="51625" wrap="square" tIns="51625">
              <a:noAutofit/>
            </a:bodyPr>
            <a:lstStyle/>
            <a:p>
              <a:pPr indent="0" lvl="0" marL="0" rtl="0" algn="ctr">
                <a:spcBef>
                  <a:spcPts val="0"/>
                </a:spcBef>
                <a:spcAft>
                  <a:spcPts val="0"/>
                </a:spcAft>
                <a:buNone/>
              </a:pPr>
              <a:r>
                <a:t/>
              </a:r>
              <a:endParaRPr sz="791">
                <a:latin typeface="Open Sans"/>
                <a:ea typeface="Open Sans"/>
                <a:cs typeface="Open Sans"/>
                <a:sym typeface="Open Sans"/>
              </a:endParaRPr>
            </a:p>
          </p:txBody>
        </p:sp>
        <p:pic>
          <p:nvPicPr>
            <p:cNvPr id="151" name="Google Shape;151;p10"/>
            <p:cNvPicPr preferRelativeResize="0"/>
            <p:nvPr/>
          </p:nvPicPr>
          <p:blipFill>
            <a:blip r:embed="rId3">
              <a:alphaModFix/>
            </a:blip>
            <a:stretch>
              <a:fillRect/>
            </a:stretch>
          </p:blipFill>
          <p:spPr>
            <a:xfrm>
              <a:off x="1444488" y="3429775"/>
              <a:ext cx="3256425" cy="637000"/>
            </a:xfrm>
            <a:prstGeom prst="rect">
              <a:avLst/>
            </a:prstGeom>
            <a:noFill/>
            <a:ln>
              <a:noFill/>
            </a:ln>
          </p:spPr>
        </p:pic>
      </p:grpSp>
      <p:sp>
        <p:nvSpPr>
          <p:cNvPr id="152" name="Google Shape;152;p10"/>
          <p:cNvSpPr txBox="1"/>
          <p:nvPr>
            <p:ph idx="4294967295" type="title"/>
          </p:nvPr>
        </p:nvSpPr>
        <p:spPr>
          <a:xfrm>
            <a:off x="1023175" y="612250"/>
            <a:ext cx="6695100" cy="121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dk2"/>
                </a:solidFill>
              </a:rPr>
              <a:t>Making Research Software Citable &amp; Discoverable</a:t>
            </a:r>
            <a:endParaRPr sz="3500">
              <a:solidFill>
                <a:schemeClr val="dk2"/>
              </a:solidFill>
            </a:endParaRPr>
          </a:p>
        </p:txBody>
      </p:sp>
      <p:sp>
        <p:nvSpPr>
          <p:cNvPr id="153" name="Google Shape;153;p10"/>
          <p:cNvSpPr txBox="1"/>
          <p:nvPr/>
        </p:nvSpPr>
        <p:spPr>
          <a:xfrm>
            <a:off x="1088000" y="2647950"/>
            <a:ext cx="6345000" cy="13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ECB63A"/>
                </a:solidFill>
                <a:latin typeface="Open Sans"/>
                <a:ea typeface="Open Sans"/>
                <a:cs typeface="Open Sans"/>
                <a:sym typeface="Open Sans"/>
              </a:rPr>
              <a:t>Reid Otsuji</a:t>
            </a:r>
            <a:r>
              <a:rPr lang="en" sz="1600">
                <a:solidFill>
                  <a:srgbClr val="ECB63A"/>
                </a:solidFill>
                <a:latin typeface="Open Sans"/>
                <a:ea typeface="Open Sans"/>
                <a:cs typeface="Open Sans"/>
                <a:sym typeface="Open Sans"/>
              </a:rPr>
              <a:t>,</a:t>
            </a:r>
            <a:r>
              <a:rPr lang="en" sz="1600">
                <a:solidFill>
                  <a:srgbClr val="CFE2F3"/>
                </a:solidFill>
                <a:latin typeface="Open Sans"/>
                <a:ea typeface="Open Sans"/>
                <a:cs typeface="Open Sans"/>
                <a:sym typeface="Open Sans"/>
              </a:rPr>
              <a:t> </a:t>
            </a:r>
            <a:r>
              <a:rPr i="1" lang="en" sz="1600">
                <a:solidFill>
                  <a:schemeClr val="dk2"/>
                </a:solidFill>
                <a:latin typeface="Open Sans"/>
                <a:ea typeface="Open Sans"/>
                <a:cs typeface="Open Sans"/>
                <a:sym typeface="Open Sans"/>
              </a:rPr>
              <a:t>University of California San Diego</a:t>
            </a:r>
            <a:endParaRPr i="1" sz="1600">
              <a:solidFill>
                <a:schemeClr val="dk2"/>
              </a:solidFill>
              <a:latin typeface="Open Sans"/>
              <a:ea typeface="Open Sans"/>
              <a:cs typeface="Open Sans"/>
              <a:sym typeface="Open Sans"/>
            </a:endParaRPr>
          </a:p>
          <a:p>
            <a:pPr indent="0" lvl="0" marL="0" rtl="0" algn="l">
              <a:spcBef>
                <a:spcPts val="0"/>
              </a:spcBef>
              <a:spcAft>
                <a:spcPts val="0"/>
              </a:spcAft>
              <a:buNone/>
            </a:pPr>
            <a:r>
              <a:rPr lang="en" sz="1600">
                <a:solidFill>
                  <a:srgbClr val="ECB63A"/>
                </a:solidFill>
                <a:latin typeface="Open Sans"/>
                <a:ea typeface="Open Sans"/>
                <a:cs typeface="Open Sans"/>
                <a:sym typeface="Open Sans"/>
              </a:rPr>
              <a:t>Karla Padilla,</a:t>
            </a:r>
            <a:r>
              <a:rPr lang="en" sz="1600">
                <a:solidFill>
                  <a:schemeClr val="dk2"/>
                </a:solidFill>
                <a:latin typeface="Open Sans"/>
                <a:ea typeface="Open Sans"/>
                <a:cs typeface="Open Sans"/>
                <a:sym typeface="Open Sans"/>
              </a:rPr>
              <a:t> </a:t>
            </a:r>
            <a:r>
              <a:rPr i="1" lang="en" sz="1600">
                <a:solidFill>
                  <a:schemeClr val="dk2"/>
                </a:solidFill>
                <a:latin typeface="Open Sans"/>
                <a:ea typeface="Open Sans"/>
                <a:cs typeface="Open Sans"/>
                <a:sym typeface="Open Sans"/>
              </a:rPr>
              <a:t>University of California San Diego</a:t>
            </a:r>
            <a:br>
              <a:rPr lang="en" sz="1600">
                <a:solidFill>
                  <a:srgbClr val="CFE2F3"/>
                </a:solidFill>
                <a:latin typeface="Open Sans"/>
                <a:ea typeface="Open Sans"/>
                <a:cs typeface="Open Sans"/>
                <a:sym typeface="Open Sans"/>
              </a:rPr>
            </a:br>
            <a:r>
              <a:rPr lang="en" sz="1600">
                <a:solidFill>
                  <a:srgbClr val="ECB63A"/>
                </a:solidFill>
                <a:latin typeface="Open Sans"/>
                <a:ea typeface="Open Sans"/>
                <a:cs typeface="Open Sans"/>
                <a:sym typeface="Open Sans"/>
              </a:rPr>
              <a:t>Leigh Phan</a:t>
            </a:r>
            <a:r>
              <a:rPr lang="en" sz="1600">
                <a:solidFill>
                  <a:srgbClr val="ECB63A"/>
                </a:solidFill>
                <a:latin typeface="Open Sans"/>
                <a:ea typeface="Open Sans"/>
                <a:cs typeface="Open Sans"/>
                <a:sym typeface="Open Sans"/>
              </a:rPr>
              <a:t>,</a:t>
            </a:r>
            <a:r>
              <a:rPr lang="en" sz="1600">
                <a:solidFill>
                  <a:schemeClr val="dk2"/>
                </a:solidFill>
                <a:latin typeface="Open Sans"/>
                <a:ea typeface="Open Sans"/>
                <a:cs typeface="Open Sans"/>
                <a:sym typeface="Open Sans"/>
              </a:rPr>
              <a:t> </a:t>
            </a:r>
            <a:r>
              <a:rPr i="1" lang="en" sz="1600">
                <a:solidFill>
                  <a:schemeClr val="dk2"/>
                </a:solidFill>
                <a:latin typeface="Open Sans"/>
                <a:ea typeface="Open Sans"/>
                <a:cs typeface="Open Sans"/>
                <a:sym typeface="Open Sans"/>
              </a:rPr>
              <a:t>University of California Los Angeles</a:t>
            </a:r>
            <a:br>
              <a:rPr lang="en" sz="1600">
                <a:solidFill>
                  <a:srgbClr val="CFE2F3"/>
                </a:solidFill>
                <a:latin typeface="Open Sans"/>
                <a:ea typeface="Open Sans"/>
                <a:cs typeface="Open Sans"/>
                <a:sym typeface="Open Sans"/>
              </a:rPr>
            </a:br>
            <a:r>
              <a:rPr lang="en" sz="1600">
                <a:solidFill>
                  <a:srgbClr val="ECB63A"/>
                </a:solidFill>
                <a:latin typeface="Open Sans"/>
                <a:ea typeface="Open Sans"/>
                <a:cs typeface="Open Sans"/>
                <a:sym typeface="Open Sans"/>
              </a:rPr>
              <a:t>Tim Dennis</a:t>
            </a:r>
            <a:r>
              <a:rPr lang="en" sz="1600">
                <a:solidFill>
                  <a:srgbClr val="ECB63A"/>
                </a:solidFill>
                <a:latin typeface="Open Sans"/>
                <a:ea typeface="Open Sans"/>
                <a:cs typeface="Open Sans"/>
                <a:sym typeface="Open Sans"/>
              </a:rPr>
              <a:t>,</a:t>
            </a:r>
            <a:r>
              <a:rPr lang="en" sz="1600">
                <a:solidFill>
                  <a:srgbClr val="CFE2F3"/>
                </a:solidFill>
                <a:latin typeface="Open Sans"/>
                <a:ea typeface="Open Sans"/>
                <a:cs typeface="Open Sans"/>
                <a:sym typeface="Open Sans"/>
              </a:rPr>
              <a:t> </a:t>
            </a:r>
            <a:r>
              <a:rPr i="1" lang="en" sz="1600">
                <a:solidFill>
                  <a:srgbClr val="CFE2F3"/>
                </a:solidFill>
                <a:latin typeface="Open Sans"/>
                <a:ea typeface="Open Sans"/>
                <a:cs typeface="Open Sans"/>
                <a:sym typeface="Open Sans"/>
              </a:rPr>
              <a:t>University of California </a:t>
            </a:r>
            <a:r>
              <a:rPr i="1" lang="en" sz="1600">
                <a:solidFill>
                  <a:schemeClr val="dk2"/>
                </a:solidFill>
                <a:latin typeface="Open Sans"/>
                <a:ea typeface="Open Sans"/>
                <a:cs typeface="Open Sans"/>
                <a:sym typeface="Open Sans"/>
              </a:rPr>
              <a:t>Los Angeles</a:t>
            </a:r>
            <a:endParaRPr i="1" sz="1600">
              <a:solidFill>
                <a:schemeClr val="dk2"/>
              </a:solidFill>
              <a:latin typeface="Open Sans"/>
              <a:ea typeface="Open Sans"/>
              <a:cs typeface="Open Sans"/>
              <a:sym typeface="Open Sans"/>
            </a:endParaRPr>
          </a:p>
          <a:p>
            <a:pPr indent="0" lvl="0" marL="0" rtl="0" algn="l">
              <a:spcBef>
                <a:spcPts val="0"/>
              </a:spcBef>
              <a:spcAft>
                <a:spcPts val="0"/>
              </a:spcAft>
              <a:buNone/>
            </a:pPr>
            <a:r>
              <a:rPr lang="en" sz="1600">
                <a:solidFill>
                  <a:srgbClr val="ECB63A"/>
                </a:solidFill>
                <a:latin typeface="Open Sans"/>
                <a:ea typeface="Open Sans"/>
                <a:cs typeface="Open Sans"/>
                <a:sym typeface="Open Sans"/>
              </a:rPr>
              <a:t>Laura Langdon,</a:t>
            </a:r>
            <a:r>
              <a:rPr lang="en" sz="1600">
                <a:solidFill>
                  <a:schemeClr val="dk2"/>
                </a:solidFill>
                <a:latin typeface="Open Sans"/>
                <a:ea typeface="Open Sans"/>
                <a:cs typeface="Open Sans"/>
                <a:sym typeface="Open Sans"/>
              </a:rPr>
              <a:t> </a:t>
            </a:r>
            <a:r>
              <a:rPr i="1" lang="en" sz="1600">
                <a:solidFill>
                  <a:schemeClr val="dk2"/>
                </a:solidFill>
                <a:latin typeface="Open Sans"/>
                <a:ea typeface="Open Sans"/>
                <a:cs typeface="Open Sans"/>
                <a:sym typeface="Open Sans"/>
              </a:rPr>
              <a:t>University of California OSPO Network</a:t>
            </a:r>
            <a:br>
              <a:rPr lang="en" sz="1600">
                <a:solidFill>
                  <a:srgbClr val="CFE2F3"/>
                </a:solidFill>
                <a:latin typeface="Open Sans"/>
                <a:ea typeface="Open Sans"/>
                <a:cs typeface="Open Sans"/>
                <a:sym typeface="Open Sans"/>
              </a:rPr>
            </a:br>
            <a:endParaRPr sz="1600">
              <a:solidFill>
                <a:srgbClr val="CFE2F3"/>
              </a:solidFill>
              <a:latin typeface="Open Sans"/>
              <a:ea typeface="Open Sans"/>
              <a:cs typeface="Open Sans"/>
              <a:sym typeface="Open Sans"/>
            </a:endParaRPr>
          </a:p>
        </p:txBody>
      </p:sp>
      <p:sp>
        <p:nvSpPr>
          <p:cNvPr id="154" name="Google Shape;154;p10"/>
          <p:cNvSpPr txBox="1"/>
          <p:nvPr/>
        </p:nvSpPr>
        <p:spPr>
          <a:xfrm>
            <a:off x="1172850" y="1961350"/>
            <a:ext cx="679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Roboto"/>
                <a:ea typeface="Roboto"/>
                <a:cs typeface="Roboto"/>
                <a:sym typeface="Roboto"/>
              </a:rPr>
              <a:t>UC Love Data Week 2026</a:t>
            </a:r>
            <a:endParaRPr b="1" sz="1800">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1"/>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"Works on My Machine" Trap</a:t>
            </a:r>
            <a:endParaRPr/>
          </a:p>
        </p:txBody>
      </p:sp>
      <p:pic>
        <p:nvPicPr>
          <p:cNvPr id="160" name="Google Shape;160;p11" title="sketchplanations-bus-factor.png"/>
          <p:cNvPicPr preferRelativeResize="0"/>
          <p:nvPr/>
        </p:nvPicPr>
        <p:blipFill>
          <a:blip r:embed="rId3">
            <a:alphaModFix/>
          </a:blip>
          <a:stretch>
            <a:fillRect/>
          </a:stretch>
        </p:blipFill>
        <p:spPr>
          <a:xfrm>
            <a:off x="6086325" y="1756800"/>
            <a:ext cx="2577172" cy="2577172"/>
          </a:xfrm>
          <a:prstGeom prst="rect">
            <a:avLst/>
          </a:prstGeom>
          <a:noFill/>
          <a:ln>
            <a:noFill/>
          </a:ln>
        </p:spPr>
      </p:pic>
      <p:sp>
        <p:nvSpPr>
          <p:cNvPr id="161" name="Google Shape;161;p11"/>
          <p:cNvSpPr txBox="1"/>
          <p:nvPr/>
        </p:nvSpPr>
        <p:spPr>
          <a:xfrm>
            <a:off x="901125" y="1746750"/>
            <a:ext cx="4775400" cy="13491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1200"/>
              </a:spcBef>
              <a:spcAft>
                <a:spcPts val="0"/>
              </a:spcAft>
              <a:buClr>
                <a:schemeClr val="dk1"/>
              </a:buClr>
              <a:buSzPts val="1700"/>
              <a:buFont typeface="Roboto Medium"/>
              <a:buChar char="●"/>
            </a:pPr>
            <a:r>
              <a:rPr lang="en" sz="1700">
                <a:solidFill>
                  <a:schemeClr val="dk1"/>
                </a:solidFill>
                <a:latin typeface="Roboto Medium"/>
                <a:ea typeface="Roboto Medium"/>
                <a:cs typeface="Roboto Medium"/>
                <a:sym typeface="Roboto Medium"/>
              </a:rPr>
              <a:t>You send your code to a colleague...</a:t>
            </a:r>
            <a:endParaRPr sz="1700">
              <a:solidFill>
                <a:schemeClr val="dk1"/>
              </a:solidFill>
              <a:latin typeface="Roboto Medium"/>
              <a:ea typeface="Roboto Medium"/>
              <a:cs typeface="Roboto Medium"/>
              <a:sym typeface="Roboto Medium"/>
            </a:endParaRPr>
          </a:p>
          <a:p>
            <a:pPr indent="-336550" lvl="0" marL="457200" rtl="0" algn="l">
              <a:lnSpc>
                <a:spcPct val="115000"/>
              </a:lnSpc>
              <a:spcBef>
                <a:spcPts val="0"/>
              </a:spcBef>
              <a:spcAft>
                <a:spcPts val="0"/>
              </a:spcAft>
              <a:buClr>
                <a:schemeClr val="dk1"/>
              </a:buClr>
              <a:buSzPts val="1700"/>
              <a:buFont typeface="Roboto Medium"/>
              <a:buChar char="●"/>
            </a:pPr>
            <a:r>
              <a:rPr lang="en" sz="1700">
                <a:solidFill>
                  <a:schemeClr val="dk1"/>
                </a:solidFill>
                <a:latin typeface="Roboto Medium"/>
                <a:ea typeface="Roboto Medium"/>
                <a:cs typeface="Roboto Medium"/>
                <a:sym typeface="Roboto Medium"/>
              </a:rPr>
              <a:t>"It crashes on line 1" 😩</a:t>
            </a:r>
            <a:endParaRPr sz="1700">
              <a:solidFill>
                <a:schemeClr val="dk1"/>
              </a:solidFill>
              <a:latin typeface="Roboto Medium"/>
              <a:ea typeface="Roboto Medium"/>
              <a:cs typeface="Roboto Medium"/>
              <a:sym typeface="Roboto Medium"/>
            </a:endParaRPr>
          </a:p>
          <a:p>
            <a:pPr indent="-336550" lvl="0" marL="457200" rtl="0" algn="l">
              <a:lnSpc>
                <a:spcPct val="115000"/>
              </a:lnSpc>
              <a:spcBef>
                <a:spcPts val="0"/>
              </a:spcBef>
              <a:spcAft>
                <a:spcPts val="0"/>
              </a:spcAft>
              <a:buClr>
                <a:schemeClr val="dk1"/>
              </a:buClr>
              <a:buSzPts val="1700"/>
              <a:buFont typeface="Roboto Medium"/>
              <a:buChar char="●"/>
            </a:pPr>
            <a:r>
              <a:rPr lang="en" sz="1700">
                <a:solidFill>
                  <a:schemeClr val="dk1"/>
                </a:solidFill>
                <a:latin typeface="Roboto Medium"/>
                <a:ea typeface="Roboto Medium"/>
                <a:cs typeface="Roboto Medium"/>
                <a:sym typeface="Roboto Medium"/>
              </a:rPr>
              <a:t>"I can't install the dependencies"</a:t>
            </a:r>
            <a:endParaRPr sz="1700">
              <a:solidFill>
                <a:schemeClr val="dk1"/>
              </a:solidFill>
              <a:latin typeface="Roboto Medium"/>
              <a:ea typeface="Roboto Medium"/>
              <a:cs typeface="Roboto Medium"/>
              <a:sym typeface="Roboto Medium"/>
            </a:endParaRPr>
          </a:p>
          <a:p>
            <a:pPr indent="-336550" lvl="0" marL="457200" rtl="0" algn="l">
              <a:lnSpc>
                <a:spcPct val="115000"/>
              </a:lnSpc>
              <a:spcBef>
                <a:spcPts val="0"/>
              </a:spcBef>
              <a:spcAft>
                <a:spcPts val="0"/>
              </a:spcAft>
              <a:buClr>
                <a:schemeClr val="dk1"/>
              </a:buClr>
              <a:buSzPts val="1700"/>
              <a:buFont typeface="Roboto Medium"/>
              <a:buChar char="●"/>
            </a:pPr>
            <a:r>
              <a:rPr lang="en" sz="1700">
                <a:solidFill>
                  <a:schemeClr val="dk1"/>
                </a:solidFill>
                <a:latin typeface="Roboto Medium"/>
                <a:ea typeface="Roboto Medium"/>
                <a:cs typeface="Roboto Medium"/>
                <a:sym typeface="Roboto Medium"/>
              </a:rPr>
              <a:t>"Which Python version did you use?"</a:t>
            </a:r>
            <a:endParaRPr sz="1700">
              <a:solidFill>
                <a:schemeClr val="dk1"/>
              </a:solidFill>
              <a:latin typeface="Roboto Medium"/>
              <a:ea typeface="Roboto Medium"/>
              <a:cs typeface="Roboto Medium"/>
              <a:sym typeface="Roboto Medium"/>
            </a:endParaRPr>
          </a:p>
        </p:txBody>
      </p:sp>
      <p:sp>
        <p:nvSpPr>
          <p:cNvPr id="162" name="Google Shape;162;p11"/>
          <p:cNvSpPr txBox="1"/>
          <p:nvPr/>
        </p:nvSpPr>
        <p:spPr>
          <a:xfrm>
            <a:off x="983625" y="1198375"/>
            <a:ext cx="39144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rgbClr val="ECB63A"/>
                </a:solidFill>
                <a:latin typeface="Roboto"/>
                <a:ea typeface="Roboto"/>
                <a:cs typeface="Roboto"/>
                <a:sym typeface="Roboto"/>
              </a:rPr>
              <a:t>The Problem:</a:t>
            </a:r>
            <a:endParaRPr b="1" sz="2100">
              <a:solidFill>
                <a:srgbClr val="ECB63A"/>
              </a:solidFill>
              <a:latin typeface="Roboto"/>
              <a:ea typeface="Roboto"/>
              <a:cs typeface="Roboto"/>
              <a:sym typeface="Roboto"/>
            </a:endParaRPr>
          </a:p>
        </p:txBody>
      </p:sp>
      <p:sp>
        <p:nvSpPr>
          <p:cNvPr id="163" name="Google Shape;163;p11"/>
          <p:cNvSpPr txBox="1"/>
          <p:nvPr/>
        </p:nvSpPr>
        <p:spPr>
          <a:xfrm>
            <a:off x="2498675" y="3632175"/>
            <a:ext cx="6671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p:txBody>
      </p:sp>
      <p:sp>
        <p:nvSpPr>
          <p:cNvPr id="164" name="Google Shape;164;p11"/>
          <p:cNvSpPr txBox="1"/>
          <p:nvPr/>
        </p:nvSpPr>
        <p:spPr>
          <a:xfrm>
            <a:off x="623275" y="3396750"/>
            <a:ext cx="5901900" cy="969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300">
                <a:solidFill>
                  <a:srgbClr val="ECB63A"/>
                </a:solidFill>
                <a:latin typeface="Roboto SemiBold"/>
                <a:ea typeface="Roboto SemiBold"/>
                <a:cs typeface="Roboto SemiBold"/>
                <a:sym typeface="Roboto SemiBold"/>
              </a:rPr>
              <a:t>The Bus Factor Problem:</a:t>
            </a:r>
            <a:endParaRPr sz="1300">
              <a:solidFill>
                <a:srgbClr val="ECB63A"/>
              </a:solidFill>
              <a:latin typeface="Roboto SemiBold"/>
              <a:ea typeface="Roboto SemiBold"/>
              <a:cs typeface="Roboto SemiBold"/>
              <a:sym typeface="Roboto SemiBold"/>
            </a:endParaRPr>
          </a:p>
          <a:p>
            <a:pPr indent="0" lvl="0" marL="0" rtl="0" algn="l">
              <a:lnSpc>
                <a:spcPct val="150000"/>
              </a:lnSpc>
              <a:spcBef>
                <a:spcPts val="0"/>
              </a:spcBef>
              <a:spcAft>
                <a:spcPts val="0"/>
              </a:spcAft>
              <a:buNone/>
            </a:pPr>
            <a:r>
              <a:rPr lang="en" sz="1300">
                <a:solidFill>
                  <a:schemeClr val="dk1"/>
                </a:solidFill>
                <a:latin typeface="Roboto"/>
                <a:ea typeface="Roboto"/>
                <a:cs typeface="Roboto"/>
                <a:sym typeface="Roboto"/>
              </a:rPr>
              <a:t>Code works perfectly on ONE laptop. If it disappears, the research is gone.</a:t>
            </a:r>
            <a:endParaRPr sz="13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2"/>
          <p:cNvSpPr txBox="1"/>
          <p:nvPr>
            <p:ph idx="1" type="body"/>
          </p:nvPr>
        </p:nvSpPr>
        <p:spPr>
          <a:xfrm>
            <a:off x="713475" y="1122475"/>
            <a:ext cx="7452600" cy="2013300"/>
          </a:xfrm>
          <a:prstGeom prst="rect">
            <a:avLst/>
          </a:prstGeom>
          <a:solidFill>
            <a:srgbClr val="000000"/>
          </a:solidFill>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400">
                <a:solidFill>
                  <a:srgbClr val="DEE2E6"/>
                </a:solidFill>
                <a:highlight>
                  <a:srgbClr val="011627"/>
                </a:highlight>
                <a:latin typeface="Courier New"/>
                <a:ea typeface="Courier New"/>
                <a:cs typeface="Courier New"/>
                <a:sym typeface="Courier New"/>
              </a:rPr>
              <a:t>$ python src/analysis.py</a:t>
            </a:r>
            <a:endParaRPr b="1" sz="1400">
              <a:solidFill>
                <a:srgbClr val="DEE2E6"/>
              </a:solidFill>
              <a:highlight>
                <a:srgbClr val="011627"/>
              </a:highlight>
              <a:latin typeface="Courier New"/>
              <a:ea typeface="Courier New"/>
              <a:cs typeface="Courier New"/>
              <a:sym typeface="Courier New"/>
            </a:endParaRPr>
          </a:p>
          <a:p>
            <a:pPr indent="0" lvl="0" marL="0" rtl="0" algn="l">
              <a:lnSpc>
                <a:spcPct val="150000"/>
              </a:lnSpc>
              <a:spcBef>
                <a:spcPts val="0"/>
              </a:spcBef>
              <a:spcAft>
                <a:spcPts val="0"/>
              </a:spcAft>
              <a:buNone/>
            </a:pPr>
            <a:r>
              <a:t/>
            </a:r>
            <a:endParaRPr b="1" sz="1400">
              <a:solidFill>
                <a:srgbClr val="DEE2E6"/>
              </a:solidFill>
              <a:highlight>
                <a:srgbClr val="011627"/>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1400">
                <a:solidFill>
                  <a:srgbClr val="DEE2E6"/>
                </a:solidFill>
                <a:highlight>
                  <a:srgbClr val="011627"/>
                </a:highlight>
                <a:latin typeface="Courier New"/>
                <a:ea typeface="Courier New"/>
                <a:cs typeface="Courier New"/>
                <a:sym typeface="Courier New"/>
              </a:rPr>
              <a:t>Traceback (most recent call last):</a:t>
            </a:r>
            <a:endParaRPr b="1" sz="1400">
              <a:solidFill>
                <a:srgbClr val="DEE2E6"/>
              </a:solidFill>
              <a:highlight>
                <a:srgbClr val="011627"/>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1400">
                <a:solidFill>
                  <a:srgbClr val="DEE2E6"/>
                </a:solidFill>
                <a:highlight>
                  <a:srgbClr val="011627"/>
                </a:highlight>
                <a:latin typeface="Courier New"/>
                <a:ea typeface="Courier New"/>
                <a:cs typeface="Courier New"/>
                <a:sym typeface="Courier New"/>
              </a:rPr>
              <a:t> File "analysis.py", line 1, in &lt;module&gt;</a:t>
            </a:r>
            <a:endParaRPr b="1" sz="1400">
              <a:solidFill>
                <a:srgbClr val="DEE2E6"/>
              </a:solidFill>
              <a:highlight>
                <a:srgbClr val="011627"/>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1400">
                <a:solidFill>
                  <a:srgbClr val="DEE2E6"/>
                </a:solidFill>
                <a:highlight>
                  <a:srgbClr val="011627"/>
                </a:highlight>
                <a:latin typeface="Courier New"/>
                <a:ea typeface="Courier New"/>
                <a:cs typeface="Courier New"/>
                <a:sym typeface="Courier New"/>
              </a:rPr>
              <a:t>   import numpy as np</a:t>
            </a:r>
            <a:endParaRPr b="1" sz="1400">
              <a:solidFill>
                <a:srgbClr val="DEE2E6"/>
              </a:solidFill>
              <a:highlight>
                <a:srgbClr val="011627"/>
              </a:highlight>
              <a:latin typeface="Courier New"/>
              <a:ea typeface="Courier New"/>
              <a:cs typeface="Courier New"/>
              <a:sym typeface="Courier New"/>
            </a:endParaRPr>
          </a:p>
          <a:p>
            <a:pPr indent="0" lvl="0" marL="0" rtl="0" algn="l">
              <a:lnSpc>
                <a:spcPct val="150000"/>
              </a:lnSpc>
              <a:spcBef>
                <a:spcPts val="0"/>
              </a:spcBef>
              <a:spcAft>
                <a:spcPts val="0"/>
              </a:spcAft>
              <a:buNone/>
            </a:pPr>
            <a:r>
              <a:rPr b="1" lang="en" sz="1400">
                <a:solidFill>
                  <a:srgbClr val="DEE2E6"/>
                </a:solidFill>
                <a:highlight>
                  <a:srgbClr val="011627"/>
                </a:highlight>
                <a:latin typeface="Courier New"/>
                <a:ea typeface="Courier New"/>
                <a:cs typeface="Courier New"/>
                <a:sym typeface="Courier New"/>
              </a:rPr>
              <a:t>ModuleNotFoundError: No module named 'numpy'</a:t>
            </a:r>
            <a:endParaRPr b="1" sz="1400">
              <a:solidFill>
                <a:srgbClr val="DEE2E6"/>
              </a:solidFill>
              <a:highlight>
                <a:srgbClr val="011627"/>
              </a:highlight>
              <a:latin typeface="Courier New"/>
              <a:ea typeface="Courier New"/>
              <a:cs typeface="Courier New"/>
              <a:sym typeface="Courier New"/>
            </a:endParaRPr>
          </a:p>
          <a:p>
            <a:pPr indent="0" lvl="0" marL="0" rtl="0" algn="l">
              <a:spcBef>
                <a:spcPts val="0"/>
              </a:spcBef>
              <a:spcAft>
                <a:spcPts val="0"/>
              </a:spcAft>
              <a:buNone/>
            </a:pPr>
            <a:r>
              <a:t/>
            </a:r>
            <a:endParaRPr sz="1700">
              <a:solidFill>
                <a:srgbClr val="D9D9D9"/>
              </a:solidFill>
              <a:latin typeface="Courier New"/>
              <a:ea typeface="Courier New"/>
              <a:cs typeface="Courier New"/>
              <a:sym typeface="Courier New"/>
            </a:endParaRPr>
          </a:p>
          <a:p>
            <a:pPr indent="0" lvl="0" marL="0" rtl="0" algn="l">
              <a:spcBef>
                <a:spcPts val="0"/>
              </a:spcBef>
              <a:spcAft>
                <a:spcPts val="0"/>
              </a:spcAft>
              <a:buNone/>
            </a:pPr>
            <a:r>
              <a:t/>
            </a:r>
            <a:endParaRPr sz="1500">
              <a:solidFill>
                <a:srgbClr val="D9D9D9"/>
              </a:solidFill>
              <a:latin typeface="Courier New"/>
              <a:ea typeface="Courier New"/>
              <a:cs typeface="Courier New"/>
              <a:sym typeface="Courier New"/>
            </a:endParaRPr>
          </a:p>
          <a:p>
            <a:pPr indent="0" lvl="0" marL="0" rtl="0" algn="l">
              <a:spcBef>
                <a:spcPts val="0"/>
              </a:spcBef>
              <a:spcAft>
                <a:spcPts val="0"/>
              </a:spcAft>
              <a:buNone/>
            </a:pPr>
            <a:r>
              <a:t/>
            </a:r>
            <a:endParaRPr/>
          </a:p>
        </p:txBody>
      </p:sp>
      <p:sp>
        <p:nvSpPr>
          <p:cNvPr id="170" name="Google Shape;170;p12"/>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"Works on My Machine" Trap</a:t>
            </a:r>
            <a:endParaRPr/>
          </a:p>
          <a:p>
            <a:pPr indent="0" lvl="0" marL="0" rtl="0" algn="ctr">
              <a:spcBef>
                <a:spcPts val="0"/>
              </a:spcBef>
              <a:spcAft>
                <a:spcPts val="0"/>
              </a:spcAft>
              <a:buNone/>
            </a:pPr>
            <a:r>
              <a:t/>
            </a:r>
            <a:endParaRPr/>
          </a:p>
        </p:txBody>
      </p:sp>
      <p:sp>
        <p:nvSpPr>
          <p:cNvPr id="171" name="Google Shape;171;p12"/>
          <p:cNvSpPr txBox="1"/>
          <p:nvPr/>
        </p:nvSpPr>
        <p:spPr>
          <a:xfrm>
            <a:off x="713475" y="3315025"/>
            <a:ext cx="70803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dk1"/>
                </a:solidFill>
                <a:latin typeface="Roboto"/>
                <a:ea typeface="Roboto"/>
                <a:cs typeface="Roboto"/>
                <a:sym typeface="Roboto"/>
              </a:rPr>
              <a:t>This is where most research software lives.  Fragile.</a:t>
            </a:r>
            <a:endParaRPr b="1" sz="1700">
              <a:solidFill>
                <a:schemeClr val="dk1"/>
              </a:solidFill>
              <a:latin typeface="Roboto"/>
              <a:ea typeface="Roboto"/>
              <a:cs typeface="Roboto"/>
              <a:sym typeface="Roboto"/>
            </a:endParaRPr>
          </a:p>
        </p:txBody>
      </p:sp>
      <p:sp>
        <p:nvSpPr>
          <p:cNvPr id="172" name="Google Shape;172;p12"/>
          <p:cNvSpPr txBox="1"/>
          <p:nvPr/>
        </p:nvSpPr>
        <p:spPr>
          <a:xfrm>
            <a:off x="713475" y="3852775"/>
            <a:ext cx="794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dk1"/>
                </a:solidFill>
                <a:latin typeface="Roboto"/>
                <a:ea typeface="Roboto"/>
                <a:cs typeface="Roboto"/>
                <a:sym typeface="Roboto"/>
              </a:rPr>
              <a:t>What's the fix?  </a:t>
            </a:r>
            <a:r>
              <a:rPr lang="en" sz="1800">
                <a:solidFill>
                  <a:schemeClr val="dk1"/>
                </a:solidFill>
                <a:latin typeface="Roboto"/>
                <a:ea typeface="Roboto"/>
                <a:cs typeface="Roboto"/>
                <a:sym typeface="Roboto"/>
              </a:rPr>
              <a:t>FAIR4RS</a:t>
            </a:r>
            <a:r>
              <a:rPr lang="en" sz="1700">
                <a:solidFill>
                  <a:schemeClr val="dk1"/>
                </a:solidFill>
                <a:latin typeface="Roboto"/>
                <a:ea typeface="Roboto"/>
                <a:cs typeface="Roboto"/>
                <a:sym typeface="Roboto"/>
              </a:rPr>
              <a:t> Principles →</a:t>
            </a:r>
            <a:endParaRPr sz="1700">
              <a:solidFill>
                <a:schemeClr val="dk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3"/>
          <p:cNvSpPr txBox="1"/>
          <p:nvPr>
            <p:ph idx="1" type="body"/>
          </p:nvPr>
        </p:nvSpPr>
        <p:spPr>
          <a:xfrm>
            <a:off x="704850" y="1494725"/>
            <a:ext cx="7741200" cy="247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ECB63A"/>
                </a:solidFill>
                <a:latin typeface="Open Sans SemiBold"/>
                <a:ea typeface="Open Sans SemiBold"/>
                <a:cs typeface="Open Sans SemiBold"/>
                <a:sym typeface="Open Sans SemiBold"/>
              </a:rPr>
              <a:t>F - Findable:</a:t>
            </a:r>
            <a:r>
              <a:rPr lang="en" sz="1500">
                <a:latin typeface="Open Sans SemiBold"/>
                <a:ea typeface="Open Sans SemiBold"/>
                <a:cs typeface="Open Sans SemiBold"/>
                <a:sym typeface="Open Sans SemiBold"/>
              </a:rPr>
              <a:t>  Software and metadata are easy to discover</a:t>
            </a:r>
            <a:endParaRPr sz="1500">
              <a:latin typeface="Open Sans SemiBold"/>
              <a:ea typeface="Open Sans SemiBold"/>
              <a:cs typeface="Open Sans SemiBold"/>
              <a:sym typeface="Open Sans SemiBold"/>
            </a:endParaRPr>
          </a:p>
          <a:p>
            <a:pPr indent="0" lvl="0" marL="0" rtl="0" algn="l">
              <a:spcBef>
                <a:spcPts val="0"/>
              </a:spcBef>
              <a:spcAft>
                <a:spcPts val="0"/>
              </a:spcAft>
              <a:buNone/>
            </a:pPr>
            <a:r>
              <a:rPr lang="en" sz="1500">
                <a:latin typeface="Open Sans SemiBold"/>
                <a:ea typeface="Open Sans SemiBold"/>
                <a:cs typeface="Open Sans SemiBold"/>
                <a:sym typeface="Open Sans SemiBold"/>
              </a:rPr>
              <a:t>→ DOI, CITATION.cff, metadata</a:t>
            </a:r>
            <a:endParaRPr sz="1500">
              <a:latin typeface="Open Sans SemiBold"/>
              <a:ea typeface="Open Sans SemiBold"/>
              <a:cs typeface="Open Sans SemiBold"/>
              <a:sym typeface="Open Sans SemiBold"/>
            </a:endParaRPr>
          </a:p>
          <a:p>
            <a:pPr indent="0" lvl="0" marL="0" rtl="0" algn="l">
              <a:spcBef>
                <a:spcPts val="0"/>
              </a:spcBef>
              <a:spcAft>
                <a:spcPts val="0"/>
              </a:spcAft>
              <a:buNone/>
            </a:pPr>
            <a:r>
              <a:t/>
            </a:r>
            <a:endParaRPr sz="1500">
              <a:latin typeface="Open Sans SemiBold"/>
              <a:ea typeface="Open Sans SemiBold"/>
              <a:cs typeface="Open Sans SemiBold"/>
              <a:sym typeface="Open Sans SemiBold"/>
            </a:endParaRPr>
          </a:p>
          <a:p>
            <a:pPr indent="0" lvl="0" marL="0" rtl="0" algn="l">
              <a:spcBef>
                <a:spcPts val="0"/>
              </a:spcBef>
              <a:spcAft>
                <a:spcPts val="0"/>
              </a:spcAft>
              <a:buNone/>
            </a:pPr>
            <a:r>
              <a:rPr lang="en" sz="1500">
                <a:solidFill>
                  <a:srgbClr val="ECB63A"/>
                </a:solidFill>
                <a:latin typeface="Open Sans SemiBold"/>
                <a:ea typeface="Open Sans SemiBold"/>
                <a:cs typeface="Open Sans SemiBold"/>
                <a:sym typeface="Open Sans SemiBold"/>
              </a:rPr>
              <a:t>A - Accessible:</a:t>
            </a:r>
            <a:r>
              <a:rPr lang="en" sz="1500">
                <a:latin typeface="Open Sans SemiBold"/>
                <a:ea typeface="Open Sans SemiBold"/>
                <a:cs typeface="Open Sans SemiBold"/>
                <a:sym typeface="Open Sans SemiBold"/>
              </a:rPr>
              <a:t>  Retrievable via standard protocols</a:t>
            </a:r>
            <a:endParaRPr sz="1500">
              <a:latin typeface="Open Sans SemiBold"/>
              <a:ea typeface="Open Sans SemiBold"/>
              <a:cs typeface="Open Sans SemiBold"/>
              <a:sym typeface="Open Sans SemiBold"/>
            </a:endParaRPr>
          </a:p>
          <a:p>
            <a:pPr indent="0" lvl="0" marL="0" rtl="0" algn="l">
              <a:spcBef>
                <a:spcPts val="0"/>
              </a:spcBef>
              <a:spcAft>
                <a:spcPts val="0"/>
              </a:spcAft>
              <a:buNone/>
            </a:pPr>
            <a:r>
              <a:rPr lang="en" sz="1500">
                <a:latin typeface="Open Sans SemiBold"/>
                <a:ea typeface="Open Sans SemiBold"/>
                <a:cs typeface="Open Sans SemiBold"/>
                <a:sym typeface="Open Sans SemiBold"/>
              </a:rPr>
              <a:t>→ Public GitHub, git clone, Zenodo</a:t>
            </a:r>
            <a:endParaRPr sz="1500">
              <a:latin typeface="Open Sans SemiBold"/>
              <a:ea typeface="Open Sans SemiBold"/>
              <a:cs typeface="Open Sans SemiBold"/>
              <a:sym typeface="Open Sans SemiBold"/>
            </a:endParaRPr>
          </a:p>
          <a:p>
            <a:pPr indent="0" lvl="0" marL="0" rtl="0" algn="l">
              <a:spcBef>
                <a:spcPts val="0"/>
              </a:spcBef>
              <a:spcAft>
                <a:spcPts val="0"/>
              </a:spcAft>
              <a:buNone/>
            </a:pPr>
            <a:r>
              <a:t/>
            </a:r>
            <a:endParaRPr sz="1500">
              <a:latin typeface="Open Sans SemiBold"/>
              <a:ea typeface="Open Sans SemiBold"/>
              <a:cs typeface="Open Sans SemiBold"/>
              <a:sym typeface="Open Sans SemiBold"/>
            </a:endParaRPr>
          </a:p>
          <a:p>
            <a:pPr indent="0" lvl="0" marL="0" rtl="0" algn="l">
              <a:spcBef>
                <a:spcPts val="0"/>
              </a:spcBef>
              <a:spcAft>
                <a:spcPts val="0"/>
              </a:spcAft>
              <a:buNone/>
            </a:pPr>
            <a:r>
              <a:rPr lang="en" sz="1500">
                <a:solidFill>
                  <a:srgbClr val="ECB63A"/>
                </a:solidFill>
                <a:latin typeface="Open Sans SemiBold"/>
                <a:ea typeface="Open Sans SemiBold"/>
                <a:cs typeface="Open Sans SemiBold"/>
                <a:sym typeface="Open Sans SemiBold"/>
              </a:rPr>
              <a:t>I - Interoperable:</a:t>
            </a:r>
            <a:r>
              <a:rPr lang="en" sz="1500">
                <a:latin typeface="Open Sans SemiBold"/>
                <a:ea typeface="Open Sans SemiBold"/>
                <a:cs typeface="Open Sans SemiBold"/>
                <a:sym typeface="Open Sans SemiBold"/>
              </a:rPr>
              <a:t> Exchanges data with other tools</a:t>
            </a:r>
            <a:endParaRPr sz="1500">
              <a:latin typeface="Open Sans SemiBold"/>
              <a:ea typeface="Open Sans SemiBold"/>
              <a:cs typeface="Open Sans SemiBold"/>
              <a:sym typeface="Open Sans SemiBold"/>
            </a:endParaRPr>
          </a:p>
          <a:p>
            <a:pPr indent="0" lvl="0" marL="0" rtl="0" algn="l">
              <a:spcBef>
                <a:spcPts val="0"/>
              </a:spcBef>
              <a:spcAft>
                <a:spcPts val="0"/>
              </a:spcAft>
              <a:buNone/>
            </a:pPr>
            <a:r>
              <a:rPr lang="en" sz="1500">
                <a:latin typeface="Open Sans SemiBold"/>
                <a:ea typeface="Open Sans SemiBold"/>
                <a:cs typeface="Open Sans SemiBold"/>
                <a:sym typeface="Open Sans SemiBold"/>
              </a:rPr>
              <a:t>→ Standard formats, documented dependencies</a:t>
            </a:r>
            <a:endParaRPr sz="1500">
              <a:latin typeface="Open Sans SemiBold"/>
              <a:ea typeface="Open Sans SemiBold"/>
              <a:cs typeface="Open Sans SemiBold"/>
              <a:sym typeface="Open Sans SemiBold"/>
            </a:endParaRPr>
          </a:p>
          <a:p>
            <a:pPr indent="0" lvl="0" marL="0" rtl="0" algn="l">
              <a:spcBef>
                <a:spcPts val="0"/>
              </a:spcBef>
              <a:spcAft>
                <a:spcPts val="0"/>
              </a:spcAft>
              <a:buNone/>
            </a:pPr>
            <a:r>
              <a:t/>
            </a:r>
            <a:endParaRPr sz="1500">
              <a:latin typeface="Open Sans SemiBold"/>
              <a:ea typeface="Open Sans SemiBold"/>
              <a:cs typeface="Open Sans SemiBold"/>
              <a:sym typeface="Open Sans SemiBold"/>
            </a:endParaRPr>
          </a:p>
          <a:p>
            <a:pPr indent="0" lvl="0" marL="0" rtl="0" algn="l">
              <a:spcBef>
                <a:spcPts val="0"/>
              </a:spcBef>
              <a:spcAft>
                <a:spcPts val="0"/>
              </a:spcAft>
              <a:buNone/>
            </a:pPr>
            <a:r>
              <a:rPr lang="en" sz="1500">
                <a:solidFill>
                  <a:srgbClr val="ECB63A"/>
                </a:solidFill>
                <a:latin typeface="Open Sans SemiBold"/>
                <a:ea typeface="Open Sans SemiBold"/>
                <a:cs typeface="Open Sans SemiBold"/>
                <a:sym typeface="Open Sans SemiBold"/>
              </a:rPr>
              <a:t>R - Reusable:</a:t>
            </a:r>
            <a:r>
              <a:rPr lang="en" sz="1500">
                <a:latin typeface="Open Sans SemiBold"/>
                <a:ea typeface="Open Sans SemiBold"/>
                <a:cs typeface="Open Sans SemiBold"/>
                <a:sym typeface="Open Sans SemiBold"/>
              </a:rPr>
              <a:t> Can be executed AND modified</a:t>
            </a:r>
            <a:endParaRPr sz="1500">
              <a:latin typeface="Open Sans SemiBold"/>
              <a:ea typeface="Open Sans SemiBold"/>
              <a:cs typeface="Open Sans SemiBold"/>
              <a:sym typeface="Open Sans SemiBold"/>
            </a:endParaRPr>
          </a:p>
          <a:p>
            <a:pPr indent="0" lvl="0" marL="0" rtl="0" algn="l">
              <a:spcBef>
                <a:spcPts val="0"/>
              </a:spcBef>
              <a:spcAft>
                <a:spcPts val="0"/>
              </a:spcAft>
              <a:buNone/>
            </a:pPr>
            <a:r>
              <a:rPr lang="en" sz="1500">
                <a:latin typeface="Open Sans SemiBold"/>
                <a:ea typeface="Open Sans SemiBold"/>
                <a:cs typeface="Open Sans SemiBold"/>
                <a:sym typeface="Open Sans SemiBold"/>
              </a:rPr>
              <a:t>→ LICENSE, README, environment files</a:t>
            </a:r>
            <a:endParaRPr sz="1500">
              <a:latin typeface="Open Sans SemiBold"/>
              <a:ea typeface="Open Sans SemiBold"/>
              <a:cs typeface="Open Sans SemiBold"/>
              <a:sym typeface="Open Sans SemiBold"/>
            </a:endParaRPr>
          </a:p>
        </p:txBody>
      </p:sp>
      <p:sp>
        <p:nvSpPr>
          <p:cNvPr id="178" name="Google Shape;178;p13"/>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FAIR4RS Principles</a:t>
            </a:r>
            <a:endParaRPr/>
          </a:p>
        </p:txBody>
      </p:sp>
      <p:sp>
        <p:nvSpPr>
          <p:cNvPr id="179" name="Google Shape;179;p13"/>
          <p:cNvSpPr txBox="1"/>
          <p:nvPr/>
        </p:nvSpPr>
        <p:spPr>
          <a:xfrm>
            <a:off x="713225" y="1017725"/>
            <a:ext cx="6467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Open Sans"/>
                <a:ea typeface="Open Sans"/>
                <a:cs typeface="Open Sans"/>
                <a:sym typeface="Open Sans"/>
              </a:rPr>
              <a:t>What We’re Doing TODAY:</a:t>
            </a:r>
            <a:endParaRPr b="1" sz="1800">
              <a:solidFill>
                <a:schemeClr val="dk1"/>
              </a:solidFill>
              <a:latin typeface="Open Sans"/>
              <a:ea typeface="Open Sans"/>
              <a:cs typeface="Open Sans"/>
              <a:sym typeface="Open Sans"/>
            </a:endParaRPr>
          </a:p>
        </p:txBody>
      </p:sp>
      <p:sp>
        <p:nvSpPr>
          <p:cNvPr id="180" name="Google Shape;180;p13"/>
          <p:cNvSpPr/>
          <p:nvPr/>
        </p:nvSpPr>
        <p:spPr>
          <a:xfrm rot="1686505">
            <a:off x="7831016" y="4123740"/>
            <a:ext cx="562888" cy="362771"/>
          </a:xfrm>
          <a:prstGeom prst="notchedRight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4"/>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p>
            <a:pPr indent="0" lvl="0" marL="457200" rtl="0" algn="l">
              <a:lnSpc>
                <a:spcPct val="115000"/>
              </a:lnSpc>
              <a:spcBef>
                <a:spcPts val="1200"/>
              </a:spcBef>
              <a:spcAft>
                <a:spcPts val="1200"/>
              </a:spcAft>
              <a:buNone/>
            </a:pPr>
            <a:r>
              <a:t/>
            </a:r>
            <a:endParaRPr/>
          </a:p>
        </p:txBody>
      </p:sp>
      <p:sp>
        <p:nvSpPr>
          <p:cNvPr id="186" name="Google Shape;186;p14"/>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"Works on My Machine" Trap</a:t>
            </a:r>
            <a:endParaRPr/>
          </a:p>
        </p:txBody>
      </p:sp>
      <p:pic>
        <p:nvPicPr>
          <p:cNvPr id="187" name="Google Shape;187;p14" title="works-on-my-machine.png"/>
          <p:cNvPicPr preferRelativeResize="0"/>
          <p:nvPr/>
        </p:nvPicPr>
        <p:blipFill>
          <a:blip r:embed="rId3">
            <a:alphaModFix/>
          </a:blip>
          <a:stretch>
            <a:fillRect/>
          </a:stretch>
        </p:blipFill>
        <p:spPr>
          <a:xfrm>
            <a:off x="1161075" y="1205225"/>
            <a:ext cx="5078299" cy="1851950"/>
          </a:xfrm>
          <a:prstGeom prst="rect">
            <a:avLst/>
          </a:prstGeom>
          <a:noFill/>
          <a:ln>
            <a:noFill/>
          </a:ln>
        </p:spPr>
      </p:pic>
      <p:sp>
        <p:nvSpPr>
          <p:cNvPr id="188" name="Google Shape;188;p14"/>
          <p:cNvSpPr txBox="1"/>
          <p:nvPr/>
        </p:nvSpPr>
        <p:spPr>
          <a:xfrm>
            <a:off x="1161075" y="3115950"/>
            <a:ext cx="7269600" cy="81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ECB63A"/>
                </a:solidFill>
                <a:latin typeface="Open Sans"/>
                <a:ea typeface="Open Sans"/>
                <a:cs typeface="Open Sans"/>
                <a:sym typeface="Open Sans"/>
              </a:rPr>
              <a:t>What's Missing?</a:t>
            </a:r>
            <a:endParaRPr b="1" sz="1500">
              <a:solidFill>
                <a:srgbClr val="ECB63A"/>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lang="en">
                <a:solidFill>
                  <a:schemeClr val="dk1"/>
                </a:solidFill>
                <a:latin typeface="Open Sans"/>
                <a:ea typeface="Open Sans"/>
                <a:cs typeface="Open Sans"/>
                <a:sym typeface="Open Sans"/>
              </a:rPr>
              <a:t>❌ No LICENSE • ❌ No environment • ❌ No citation • ❌ No DOI</a:t>
            </a:r>
            <a:endParaRPr>
              <a:solidFill>
                <a:schemeClr val="dk1"/>
              </a:solidFill>
              <a:latin typeface="Open Sans"/>
              <a:ea typeface="Open Sans"/>
              <a:cs typeface="Open Sans"/>
              <a:sym typeface="Open Sans"/>
            </a:endParaRPr>
          </a:p>
        </p:txBody>
      </p:sp>
      <p:sp>
        <p:nvSpPr>
          <p:cNvPr id="189" name="Google Shape;189;p14"/>
          <p:cNvSpPr txBox="1"/>
          <p:nvPr/>
        </p:nvSpPr>
        <p:spPr>
          <a:xfrm>
            <a:off x="1193325" y="3990425"/>
            <a:ext cx="73833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But before we fix it step-by-step, let's see what "done right" looks like in a real research project.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5"/>
          <p:cNvSpPr txBox="1"/>
          <p:nvPr>
            <p:ph idx="1" type="body"/>
          </p:nvPr>
        </p:nvSpPr>
        <p:spPr>
          <a:xfrm>
            <a:off x="713225" y="1017725"/>
            <a:ext cx="4158600" cy="3479100"/>
          </a:xfrm>
          <a:prstGeom prst="rect">
            <a:avLst/>
          </a:prstGeom>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Font typeface="Arial"/>
              <a:buChar char="●"/>
            </a:pPr>
            <a:r>
              <a:rPr b="1" lang="en" sz="1700">
                <a:solidFill>
                  <a:srgbClr val="FFFFFF"/>
                </a:solidFill>
                <a:latin typeface="Arial"/>
                <a:ea typeface="Arial"/>
                <a:cs typeface="Arial"/>
                <a:sym typeface="Arial"/>
              </a:rPr>
              <a:t>Spack</a:t>
            </a:r>
            <a:r>
              <a:rPr lang="en" sz="1700">
                <a:solidFill>
                  <a:srgbClr val="FFFFFF"/>
                </a:solidFill>
                <a:latin typeface="Arial"/>
                <a:ea typeface="Arial"/>
                <a:cs typeface="Arial"/>
                <a:sym typeface="Arial"/>
              </a:rPr>
              <a:t>:</a:t>
            </a:r>
            <a:r>
              <a:rPr lang="en" sz="1700">
                <a:solidFill>
                  <a:srgbClr val="F2F2F2"/>
                </a:solidFill>
                <a:latin typeface="Arial"/>
                <a:ea typeface="Arial"/>
                <a:cs typeface="Arial"/>
                <a:sym typeface="Arial"/>
              </a:rPr>
              <a:t> A production research software project done right</a:t>
            </a:r>
            <a:endParaRPr sz="1700">
              <a:solidFill>
                <a:srgbClr val="F2F2F2"/>
              </a:solidFill>
              <a:latin typeface="Arial"/>
              <a:ea typeface="Arial"/>
              <a:cs typeface="Arial"/>
              <a:sym typeface="Arial"/>
            </a:endParaRPr>
          </a:p>
          <a:p>
            <a:pPr indent="-336550" lvl="0" marL="457200" rtl="0" algn="l">
              <a:lnSpc>
                <a:spcPct val="115000"/>
              </a:lnSpc>
              <a:spcBef>
                <a:spcPts val="0"/>
              </a:spcBef>
              <a:spcAft>
                <a:spcPts val="0"/>
              </a:spcAft>
              <a:buSzPts val="1700"/>
              <a:buChar char="●"/>
            </a:pPr>
            <a:r>
              <a:rPr lang="en" sz="1700">
                <a:solidFill>
                  <a:srgbClr val="F2F2F2"/>
                </a:solidFill>
                <a:latin typeface="Arial"/>
                <a:ea typeface="Arial"/>
                <a:cs typeface="Arial"/>
                <a:sym typeface="Arial"/>
              </a:rPr>
              <a:t>Used by national labs, universities, supercomputing centers</a:t>
            </a:r>
            <a:endParaRPr sz="1700">
              <a:solidFill>
                <a:srgbClr val="F2F2F2"/>
              </a:solidFill>
              <a:latin typeface="Arial"/>
              <a:ea typeface="Arial"/>
              <a:cs typeface="Arial"/>
              <a:sym typeface="Arial"/>
            </a:endParaRPr>
          </a:p>
          <a:p>
            <a:pPr indent="-336550" lvl="0" marL="457200" rtl="0" algn="l">
              <a:lnSpc>
                <a:spcPct val="115000"/>
              </a:lnSpc>
              <a:spcBef>
                <a:spcPts val="0"/>
              </a:spcBef>
              <a:spcAft>
                <a:spcPts val="0"/>
              </a:spcAft>
              <a:buSzPts val="1700"/>
              <a:buChar char="●"/>
            </a:pPr>
            <a:r>
              <a:rPr lang="en" sz="1700">
                <a:solidFill>
                  <a:srgbClr val="F2F2F2"/>
                </a:solidFill>
                <a:latin typeface="Arial"/>
                <a:ea typeface="Arial"/>
                <a:cs typeface="Arial"/>
                <a:sym typeface="Arial"/>
              </a:rPr>
              <a:t>Check the </a:t>
            </a:r>
            <a:r>
              <a:rPr b="1" lang="en" sz="1700">
                <a:solidFill>
                  <a:srgbClr val="F2F2F2"/>
                </a:solidFill>
                <a:latin typeface="Arial"/>
                <a:ea typeface="Arial"/>
                <a:cs typeface="Arial"/>
                <a:sym typeface="Arial"/>
              </a:rPr>
              <a:t>README</a:t>
            </a:r>
            <a:r>
              <a:rPr lang="en" sz="1700">
                <a:solidFill>
                  <a:srgbClr val="F2F2F2"/>
                </a:solidFill>
                <a:latin typeface="Arial"/>
                <a:ea typeface="Arial"/>
                <a:cs typeface="Arial"/>
                <a:sym typeface="Arial"/>
              </a:rPr>
              <a:t>,</a:t>
            </a:r>
            <a:r>
              <a:rPr b="1" lang="en" sz="1700">
                <a:solidFill>
                  <a:srgbClr val="F2F2F2"/>
                </a:solidFill>
                <a:latin typeface="Arial"/>
                <a:ea typeface="Arial"/>
                <a:cs typeface="Arial"/>
                <a:sym typeface="Arial"/>
              </a:rPr>
              <a:t> LICENSE</a:t>
            </a:r>
            <a:r>
              <a:rPr lang="en" sz="1700">
                <a:solidFill>
                  <a:srgbClr val="F2F2F2"/>
                </a:solidFill>
                <a:latin typeface="Arial"/>
                <a:ea typeface="Arial"/>
                <a:cs typeface="Arial"/>
                <a:sym typeface="Arial"/>
              </a:rPr>
              <a:t>, </a:t>
            </a:r>
            <a:r>
              <a:rPr b="1" lang="en" sz="1700">
                <a:solidFill>
                  <a:srgbClr val="F2F2F2"/>
                </a:solidFill>
                <a:latin typeface="Arial"/>
                <a:ea typeface="Arial"/>
                <a:cs typeface="Arial"/>
                <a:sym typeface="Arial"/>
              </a:rPr>
              <a:t>CITATION.cff</a:t>
            </a:r>
            <a:r>
              <a:rPr lang="en" sz="1700">
                <a:solidFill>
                  <a:srgbClr val="F2F2F2"/>
                </a:solidFill>
                <a:latin typeface="Arial"/>
                <a:ea typeface="Arial"/>
                <a:cs typeface="Arial"/>
                <a:sym typeface="Arial"/>
              </a:rPr>
              <a:t>, documentation</a:t>
            </a:r>
            <a:endParaRPr sz="1700">
              <a:solidFill>
                <a:srgbClr val="F2F2F2"/>
              </a:solidFill>
              <a:latin typeface="Arial"/>
              <a:ea typeface="Arial"/>
              <a:cs typeface="Arial"/>
              <a:sym typeface="Arial"/>
            </a:endParaRPr>
          </a:p>
          <a:p>
            <a:pPr indent="-342900" lvl="0" marL="457200" rtl="0" algn="l">
              <a:lnSpc>
                <a:spcPct val="115000"/>
              </a:lnSpc>
              <a:spcBef>
                <a:spcPts val="0"/>
              </a:spcBef>
              <a:spcAft>
                <a:spcPts val="0"/>
              </a:spcAft>
              <a:buSzPts val="1800"/>
              <a:buChar char="●"/>
            </a:pPr>
            <a:r>
              <a:rPr lang="en" sz="1700">
                <a:solidFill>
                  <a:srgbClr val="F2F2F2"/>
                </a:solidFill>
                <a:latin typeface="Arial"/>
                <a:ea typeface="Arial"/>
                <a:cs typeface="Arial"/>
                <a:sym typeface="Arial"/>
              </a:rPr>
              <a:t>Notice what makes it </a:t>
            </a:r>
            <a:r>
              <a:rPr lang="en" sz="1700">
                <a:solidFill>
                  <a:srgbClr val="FFFFFF"/>
                </a:solidFill>
                <a:latin typeface="Arial"/>
                <a:ea typeface="Arial"/>
                <a:cs typeface="Arial"/>
                <a:sym typeface="Arial"/>
              </a:rPr>
              <a:t>discoverable</a:t>
            </a:r>
            <a:r>
              <a:rPr lang="en" sz="1700">
                <a:solidFill>
                  <a:srgbClr val="F2F2F2"/>
                </a:solidFill>
                <a:latin typeface="Arial"/>
                <a:ea typeface="Arial"/>
                <a:cs typeface="Arial"/>
                <a:sym typeface="Arial"/>
              </a:rPr>
              <a:t> </a:t>
            </a:r>
            <a:r>
              <a:rPr lang="en" sz="1700">
                <a:solidFill>
                  <a:srgbClr val="FFFFFF"/>
                </a:solidFill>
                <a:latin typeface="Arial"/>
                <a:ea typeface="Arial"/>
                <a:cs typeface="Arial"/>
                <a:sym typeface="Arial"/>
              </a:rPr>
              <a:t>and</a:t>
            </a:r>
            <a:r>
              <a:rPr lang="en" sz="1700">
                <a:solidFill>
                  <a:srgbClr val="F2F2F2"/>
                </a:solidFill>
                <a:latin typeface="Arial"/>
                <a:ea typeface="Arial"/>
                <a:cs typeface="Arial"/>
                <a:sym typeface="Arial"/>
              </a:rPr>
              <a:t> </a:t>
            </a:r>
            <a:r>
              <a:rPr lang="en" sz="1700">
                <a:solidFill>
                  <a:srgbClr val="FFFFFF"/>
                </a:solidFill>
                <a:latin typeface="Arial"/>
                <a:ea typeface="Arial"/>
                <a:cs typeface="Arial"/>
                <a:sym typeface="Arial"/>
              </a:rPr>
              <a:t>reusable</a:t>
            </a:r>
            <a:r>
              <a:rPr lang="en" sz="1700"/>
              <a:t> </a:t>
            </a:r>
            <a:r>
              <a:rPr lang="en" sz="1800"/>
              <a:t> </a:t>
            </a:r>
            <a:endParaRPr sz="1800"/>
          </a:p>
          <a:p>
            <a:pPr indent="-387350" lvl="0" marL="457200" rtl="0" algn="l">
              <a:lnSpc>
                <a:spcPct val="115000"/>
              </a:lnSpc>
              <a:spcBef>
                <a:spcPts val="0"/>
              </a:spcBef>
              <a:spcAft>
                <a:spcPts val="0"/>
              </a:spcAft>
              <a:buSzPts val="2500"/>
              <a:buChar char="●"/>
            </a:pPr>
            <a:r>
              <a:rPr lang="en" sz="1450">
                <a:solidFill>
                  <a:srgbClr val="FFFFFF"/>
                </a:solidFill>
                <a:latin typeface="Arial"/>
                <a:ea typeface="Arial"/>
                <a:cs typeface="Arial"/>
                <a:sym typeface="Arial"/>
              </a:rPr>
              <a:t>Great</a:t>
            </a:r>
            <a:r>
              <a:rPr lang="en" sz="1450">
                <a:solidFill>
                  <a:srgbClr val="F2F2F2"/>
                </a:solidFill>
                <a:latin typeface="Arial"/>
                <a:ea typeface="Arial"/>
                <a:cs typeface="Arial"/>
                <a:sym typeface="Arial"/>
              </a:rPr>
              <a:t> </a:t>
            </a:r>
            <a:r>
              <a:rPr lang="en" sz="1450">
                <a:solidFill>
                  <a:srgbClr val="FFFFFF"/>
                </a:solidFill>
                <a:latin typeface="Arial"/>
                <a:ea typeface="Arial"/>
                <a:cs typeface="Arial"/>
                <a:sym typeface="Arial"/>
              </a:rPr>
              <a:t>examples: </a:t>
            </a:r>
            <a:r>
              <a:rPr lang="en" sz="1450">
                <a:solidFill>
                  <a:srgbClr val="F2F2F2"/>
                </a:solidFill>
                <a:latin typeface="Arial"/>
                <a:ea typeface="Arial"/>
                <a:cs typeface="Arial"/>
                <a:sym typeface="Arial"/>
              </a:rPr>
              <a:t> https://github.com/matiassingers/awesome-readme</a:t>
            </a:r>
            <a:endParaRPr sz="1450">
              <a:solidFill>
                <a:srgbClr val="F2F2F2"/>
              </a:solidFill>
              <a:latin typeface="Arial"/>
              <a:ea typeface="Arial"/>
              <a:cs typeface="Arial"/>
              <a:sym typeface="Arial"/>
            </a:endParaRPr>
          </a:p>
          <a:p>
            <a:pPr indent="0" lvl="0" marL="0" rtl="0" algn="l">
              <a:lnSpc>
                <a:spcPct val="115000"/>
              </a:lnSpc>
              <a:spcBef>
                <a:spcPts val="0"/>
              </a:spcBef>
              <a:spcAft>
                <a:spcPts val="0"/>
              </a:spcAft>
              <a:buNone/>
            </a:pPr>
            <a:r>
              <a:t/>
            </a:r>
            <a:endParaRPr sz="1800"/>
          </a:p>
        </p:txBody>
      </p:sp>
      <p:sp>
        <p:nvSpPr>
          <p:cNvPr id="195" name="Google Shape;195;p15"/>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700"/>
              <a:t> What Does "FAIR Research Software" Look Like?</a:t>
            </a:r>
            <a:endParaRPr sz="2700"/>
          </a:p>
          <a:p>
            <a:pPr indent="0" lvl="0" marL="0" rtl="0" algn="ctr">
              <a:spcBef>
                <a:spcPts val="0"/>
              </a:spcBef>
              <a:spcAft>
                <a:spcPts val="0"/>
              </a:spcAft>
              <a:buNone/>
            </a:pPr>
            <a:r>
              <a:t/>
            </a:r>
            <a:endParaRPr/>
          </a:p>
        </p:txBody>
      </p:sp>
      <p:pic>
        <p:nvPicPr>
          <p:cNvPr id="196" name="Google Shape;196;p15" title="github-spac.png">
            <a:hlinkClick r:id="rId3"/>
          </p:cNvPr>
          <p:cNvPicPr preferRelativeResize="0"/>
          <p:nvPr/>
        </p:nvPicPr>
        <p:blipFill>
          <a:blip r:embed="rId4">
            <a:alphaModFix/>
          </a:blip>
          <a:stretch>
            <a:fillRect/>
          </a:stretch>
        </p:blipFill>
        <p:spPr>
          <a:xfrm>
            <a:off x="4940527" y="1149522"/>
            <a:ext cx="3324175" cy="31238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6"/>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We've seen the problem: fragile, undocumented code.</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We've seen the solution: Spack with all the pieces in place.</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Now let's build it step-by-step:</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  ✅ License - So others can legally use your work (Reid)</a:t>
            </a:r>
            <a:endParaRPr sz="1600"/>
          </a:p>
          <a:p>
            <a:pPr indent="0" lvl="0" marL="0" rtl="0" algn="l">
              <a:spcBef>
                <a:spcPts val="0"/>
              </a:spcBef>
              <a:spcAft>
                <a:spcPts val="0"/>
              </a:spcAft>
              <a:buNone/>
            </a:pPr>
            <a:r>
              <a:rPr lang="en" sz="1600"/>
              <a:t>  ✅ Environment - So it runs on any machine</a:t>
            </a:r>
            <a:endParaRPr sz="1600"/>
          </a:p>
          <a:p>
            <a:pPr indent="0" lvl="0" marL="0" rtl="0" algn="l">
              <a:spcBef>
                <a:spcPts val="0"/>
              </a:spcBef>
              <a:spcAft>
                <a:spcPts val="0"/>
              </a:spcAft>
              <a:buNone/>
            </a:pPr>
            <a:r>
              <a:rPr lang="en" sz="1600"/>
              <a:t>  ✅ Citation - So you get academic credit</a:t>
            </a:r>
            <a:endParaRPr sz="1600"/>
          </a:p>
          <a:p>
            <a:pPr indent="0" lvl="0" marL="0" rtl="0" algn="l">
              <a:spcBef>
                <a:spcPts val="0"/>
              </a:spcBef>
              <a:spcAft>
                <a:spcPts val="0"/>
              </a:spcAft>
              <a:buNone/>
            </a:pPr>
            <a:r>
              <a:rPr lang="en" sz="1600"/>
              <a:t>  ✅ README - So people can find and use it</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  Let's start with the foundation: </a:t>
            </a:r>
            <a:r>
              <a:rPr b="1" lang="en" sz="1600"/>
              <a:t>Licensing</a:t>
            </a:r>
            <a:r>
              <a:rPr lang="en" sz="1600"/>
              <a:t>.</a:t>
            </a:r>
            <a:endParaRPr sz="1600"/>
          </a:p>
          <a:p>
            <a:pPr indent="0" lvl="0" marL="0" rtl="0" algn="l">
              <a:spcBef>
                <a:spcPts val="0"/>
              </a:spcBef>
              <a:spcAft>
                <a:spcPts val="0"/>
              </a:spcAft>
              <a:buNone/>
            </a:pPr>
            <a:r>
              <a:t/>
            </a:r>
            <a:endParaRPr sz="1600"/>
          </a:p>
        </p:txBody>
      </p:sp>
      <p:sp>
        <p:nvSpPr>
          <p:cNvPr id="202" name="Google Shape;202;p16"/>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From Fragile to FAIR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7"/>
          <p:cNvSpPr txBox="1"/>
          <p:nvPr>
            <p:ph idx="1" type="body"/>
          </p:nvPr>
        </p:nvSpPr>
        <p:spPr>
          <a:xfrm>
            <a:off x="713225" y="1088875"/>
            <a:ext cx="7717500" cy="3245100"/>
          </a:xfrm>
          <a:prstGeom prst="rect">
            <a:avLst/>
          </a:prstGeom>
          <a:noFill/>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SzPts val="1600"/>
              <a:buChar char="●"/>
            </a:pPr>
            <a:r>
              <a:rPr lang="en" sz="1600"/>
              <a:t>Clear licensing communicates permission and expectations, reducing friction and supporting open, reproducible research. </a:t>
            </a:r>
            <a:endParaRPr sz="1600"/>
          </a:p>
          <a:p>
            <a:pPr indent="0" lvl="0" marL="0" rtl="0" algn="l">
              <a:lnSpc>
                <a:spcPct val="115000"/>
              </a:lnSpc>
              <a:spcBef>
                <a:spcPts val="1200"/>
              </a:spcBef>
              <a:spcAft>
                <a:spcPts val="0"/>
              </a:spcAft>
              <a:buNone/>
            </a:pPr>
            <a:r>
              <a:t/>
            </a:r>
            <a:endParaRPr sz="1600"/>
          </a:p>
          <a:p>
            <a:pPr indent="-330200" lvl="0" marL="457200" rtl="0" algn="l">
              <a:lnSpc>
                <a:spcPct val="115000"/>
              </a:lnSpc>
              <a:spcBef>
                <a:spcPts val="1200"/>
              </a:spcBef>
              <a:spcAft>
                <a:spcPts val="0"/>
              </a:spcAft>
              <a:buSzPts val="1600"/>
              <a:buChar char="●"/>
            </a:pPr>
            <a:r>
              <a:rPr lang="en" sz="1600"/>
              <a:t>But before choosing a license or making the decision to open source your software, it is important to determine who owns the code.  </a:t>
            </a:r>
            <a:endParaRPr sz="1600"/>
          </a:p>
          <a:p>
            <a:pPr indent="0" lvl="0" marL="457200" rtl="0" algn="l">
              <a:lnSpc>
                <a:spcPct val="115000"/>
              </a:lnSpc>
              <a:spcBef>
                <a:spcPts val="1200"/>
              </a:spcBef>
              <a:spcAft>
                <a:spcPts val="0"/>
              </a:spcAft>
              <a:buNone/>
            </a:pPr>
            <a:r>
              <a:t/>
            </a:r>
            <a:endParaRPr sz="1600"/>
          </a:p>
          <a:p>
            <a:pPr indent="0" lvl="0" marL="0" rtl="0" algn="ctr">
              <a:lnSpc>
                <a:spcPct val="115000"/>
              </a:lnSpc>
              <a:spcBef>
                <a:spcPts val="1200"/>
              </a:spcBef>
              <a:spcAft>
                <a:spcPts val="0"/>
              </a:spcAft>
              <a:buNone/>
            </a:pPr>
            <a:r>
              <a:rPr b="1" lang="en" sz="1600"/>
              <a:t>Licensing can be trickier than you would expect!</a:t>
            </a:r>
            <a:endParaRPr b="1" sz="1600"/>
          </a:p>
          <a:p>
            <a:pPr indent="0" lvl="0" marL="0" rtl="0" algn="l">
              <a:spcBef>
                <a:spcPts val="0"/>
              </a:spcBef>
              <a:spcAft>
                <a:spcPts val="0"/>
              </a:spcAft>
              <a:buNone/>
            </a:pPr>
            <a:r>
              <a:t/>
            </a:r>
            <a:endParaRPr/>
          </a:p>
        </p:txBody>
      </p:sp>
      <p:sp>
        <p:nvSpPr>
          <p:cNvPr id="208" name="Google Shape;208;p17"/>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t>Why Licensing Matters?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8"/>
          <p:cNvSpPr txBox="1"/>
          <p:nvPr>
            <p:ph idx="1" type="body"/>
          </p:nvPr>
        </p:nvSpPr>
        <p:spPr>
          <a:xfrm>
            <a:off x="713250" y="1182250"/>
            <a:ext cx="7717500" cy="2571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700"/>
              <a:t>When researchers publish code </a:t>
            </a:r>
            <a:r>
              <a:rPr b="1" lang="en" sz="1700">
                <a:solidFill>
                  <a:srgbClr val="ECB63A"/>
                </a:solidFill>
              </a:rPr>
              <a:t>without a license</a:t>
            </a:r>
            <a:r>
              <a:rPr b="1" lang="en" sz="1700"/>
              <a:t>, most people assume it is “public.” </a:t>
            </a:r>
            <a:endParaRPr b="1" sz="1700"/>
          </a:p>
          <a:p>
            <a:pPr indent="-336550" lvl="0" marL="457200" rtl="0" algn="l">
              <a:lnSpc>
                <a:spcPct val="115000"/>
              </a:lnSpc>
              <a:spcBef>
                <a:spcPts val="1200"/>
              </a:spcBef>
              <a:spcAft>
                <a:spcPts val="0"/>
              </a:spcAft>
              <a:buSzPts val="1700"/>
              <a:buChar char="●"/>
            </a:pPr>
            <a:r>
              <a:rPr lang="en" sz="1700"/>
              <a:t>Legally, it is not.</a:t>
            </a:r>
            <a:endParaRPr sz="1700"/>
          </a:p>
          <a:p>
            <a:pPr indent="-336550" lvl="0" marL="457200" rtl="0" algn="l">
              <a:lnSpc>
                <a:spcPct val="115000"/>
              </a:lnSpc>
              <a:spcBef>
                <a:spcPts val="0"/>
              </a:spcBef>
              <a:spcAft>
                <a:spcPts val="0"/>
              </a:spcAft>
              <a:buSzPts val="1700"/>
              <a:buChar char="●"/>
            </a:pPr>
            <a:r>
              <a:rPr lang="en" sz="1700"/>
              <a:t>Copyright law applies automatically.</a:t>
            </a:r>
            <a:endParaRPr sz="1700"/>
          </a:p>
          <a:p>
            <a:pPr indent="0" lvl="0" marL="0" rtl="0" algn="l">
              <a:lnSpc>
                <a:spcPct val="115000"/>
              </a:lnSpc>
              <a:spcBef>
                <a:spcPts val="1200"/>
              </a:spcBef>
              <a:spcAft>
                <a:spcPts val="0"/>
              </a:spcAft>
              <a:buNone/>
            </a:pPr>
            <a:r>
              <a:rPr b="1" lang="en" sz="1700"/>
              <a:t>Without a license:</a:t>
            </a:r>
            <a:endParaRPr b="1" sz="1700"/>
          </a:p>
          <a:p>
            <a:pPr indent="-336550" lvl="0" marL="457200" rtl="0" algn="l">
              <a:lnSpc>
                <a:spcPct val="115000"/>
              </a:lnSpc>
              <a:spcBef>
                <a:spcPts val="1200"/>
              </a:spcBef>
              <a:spcAft>
                <a:spcPts val="0"/>
              </a:spcAft>
              <a:buSzPts val="1700"/>
              <a:buChar char="●"/>
            </a:pPr>
            <a:r>
              <a:rPr lang="en" sz="1700"/>
              <a:t>others cannot reuse, modify, or redistribute the code</a:t>
            </a:r>
            <a:endParaRPr sz="1700"/>
          </a:p>
          <a:p>
            <a:pPr indent="-336550" lvl="0" marL="457200" rtl="0" algn="l">
              <a:lnSpc>
                <a:spcPct val="115000"/>
              </a:lnSpc>
              <a:spcBef>
                <a:spcPts val="0"/>
              </a:spcBef>
              <a:spcAft>
                <a:spcPts val="0"/>
              </a:spcAft>
              <a:buSzPts val="1700"/>
              <a:buChar char="●"/>
            </a:pPr>
            <a:r>
              <a:rPr lang="en" sz="1700"/>
              <a:t>collaboration becomes uncertain and risky</a:t>
            </a:r>
            <a:endParaRPr sz="1700"/>
          </a:p>
          <a:p>
            <a:pPr indent="-336550" lvl="0" marL="457200" rtl="0" algn="l">
              <a:lnSpc>
                <a:spcPct val="115000"/>
              </a:lnSpc>
              <a:spcBef>
                <a:spcPts val="0"/>
              </a:spcBef>
              <a:spcAft>
                <a:spcPts val="0"/>
              </a:spcAft>
              <a:buSzPts val="1700"/>
              <a:buChar char="●"/>
            </a:pPr>
            <a:r>
              <a:rPr lang="en" sz="1700"/>
              <a:t>the sustainability of the project suffers</a:t>
            </a:r>
            <a:endParaRPr/>
          </a:p>
          <a:p>
            <a:pPr indent="0" lvl="0" marL="0" rtl="0" algn="l">
              <a:lnSpc>
                <a:spcPct val="115000"/>
              </a:lnSpc>
              <a:spcBef>
                <a:spcPts val="1200"/>
              </a:spcBef>
              <a:spcAft>
                <a:spcPts val="1200"/>
              </a:spcAft>
              <a:buNone/>
            </a:pPr>
            <a:r>
              <a:t/>
            </a:r>
            <a:endParaRPr b="1" sz="600"/>
          </a:p>
        </p:txBody>
      </p:sp>
      <p:sp>
        <p:nvSpPr>
          <p:cNvPr id="214" name="Google Shape;214;p18"/>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t>Why Licensing Matters?</a:t>
            </a:r>
            <a:endParaRPr sz="4200"/>
          </a:p>
        </p:txBody>
      </p:sp>
      <p:sp>
        <p:nvSpPr>
          <p:cNvPr id="215" name="Google Shape;215;p18"/>
          <p:cNvSpPr txBox="1"/>
          <p:nvPr/>
        </p:nvSpPr>
        <p:spPr>
          <a:xfrm>
            <a:off x="882975" y="3753850"/>
            <a:ext cx="7440900" cy="415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t/>
            </a:r>
            <a:endParaRPr sz="1500">
              <a:solidFill>
                <a:schemeClr val="dk1"/>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9"/>
          <p:cNvSpPr txBox="1"/>
          <p:nvPr>
            <p:ph type="title"/>
          </p:nvPr>
        </p:nvSpPr>
        <p:spPr>
          <a:xfrm>
            <a:off x="713250" y="45357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Understanding license categories</a:t>
            </a:r>
            <a:endParaRPr/>
          </a:p>
        </p:txBody>
      </p:sp>
      <p:grpSp>
        <p:nvGrpSpPr>
          <p:cNvPr id="221" name="Google Shape;221;p19"/>
          <p:cNvGrpSpPr/>
          <p:nvPr/>
        </p:nvGrpSpPr>
        <p:grpSpPr>
          <a:xfrm>
            <a:off x="433725" y="1830277"/>
            <a:ext cx="8131200" cy="2425023"/>
            <a:chOff x="433725" y="1910138"/>
            <a:chExt cx="8131200" cy="2425023"/>
          </a:xfrm>
        </p:grpSpPr>
        <p:sp>
          <p:nvSpPr>
            <p:cNvPr id="222" name="Google Shape;222;p19"/>
            <p:cNvSpPr txBox="1"/>
            <p:nvPr/>
          </p:nvSpPr>
          <p:spPr>
            <a:xfrm>
              <a:off x="433725" y="1910138"/>
              <a:ext cx="8131200" cy="9465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650">
                  <a:solidFill>
                    <a:srgbClr val="DEE2E6"/>
                  </a:solidFill>
                </a:rPr>
                <a:t>Permissive licenses:</a:t>
              </a:r>
              <a:endParaRPr b="1" sz="1650">
                <a:solidFill>
                  <a:srgbClr val="DEE2E6"/>
                </a:solidFill>
              </a:endParaRPr>
            </a:p>
            <a:p>
              <a:pPr indent="-333375" lvl="0" marL="457200" rtl="0" algn="l">
                <a:lnSpc>
                  <a:spcPct val="100000"/>
                </a:lnSpc>
                <a:spcBef>
                  <a:spcPts val="0"/>
                </a:spcBef>
                <a:spcAft>
                  <a:spcPts val="0"/>
                </a:spcAft>
                <a:buClr>
                  <a:srgbClr val="DEE2E6"/>
                </a:buClr>
                <a:buSzPts val="1650"/>
                <a:buChar char="●"/>
              </a:pPr>
              <a:r>
                <a:rPr b="1" lang="en" sz="1650">
                  <a:solidFill>
                    <a:srgbClr val="DEE2E6"/>
                  </a:solidFill>
                </a:rPr>
                <a:t>These are "no strings attached" licenses.</a:t>
              </a:r>
              <a:endParaRPr b="1" sz="1650">
                <a:solidFill>
                  <a:srgbClr val="DEE2E6"/>
                </a:solidFill>
              </a:endParaRPr>
            </a:p>
            <a:p>
              <a:pPr indent="-333375" lvl="0" marL="457200" rtl="0" algn="l">
                <a:lnSpc>
                  <a:spcPct val="178846"/>
                </a:lnSpc>
                <a:spcBef>
                  <a:spcPts val="0"/>
                </a:spcBef>
                <a:spcAft>
                  <a:spcPts val="0"/>
                </a:spcAft>
                <a:buClr>
                  <a:srgbClr val="DEE2E6"/>
                </a:buClr>
                <a:buSzPts val="1650"/>
                <a:buChar char="●"/>
              </a:pPr>
              <a:r>
                <a:rPr b="1" lang="en" sz="1650">
                  <a:solidFill>
                    <a:srgbClr val="DEE2E6"/>
                  </a:solidFill>
                </a:rPr>
                <a:t>Idea: "Just take it and use it; we don't care what you do next."</a:t>
              </a:r>
              <a:endParaRPr b="1" sz="1650">
                <a:solidFill>
                  <a:srgbClr val="DEE2E6"/>
                </a:solidFill>
              </a:endParaRPr>
            </a:p>
          </p:txBody>
        </p:sp>
        <p:sp>
          <p:nvSpPr>
            <p:cNvPr id="223" name="Google Shape;223;p19"/>
            <p:cNvSpPr txBox="1"/>
            <p:nvPr/>
          </p:nvSpPr>
          <p:spPr>
            <a:xfrm>
              <a:off x="433725" y="3083260"/>
              <a:ext cx="7513500" cy="1251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650">
                  <a:solidFill>
                    <a:srgbClr val="DEE2E6"/>
                  </a:solidFill>
                </a:rPr>
                <a:t>Copyleft licenses </a:t>
              </a:r>
              <a:endParaRPr b="1" sz="1650">
                <a:solidFill>
                  <a:srgbClr val="DEE2E6"/>
                </a:solidFill>
              </a:endParaRPr>
            </a:p>
            <a:p>
              <a:pPr indent="-333375" lvl="0" marL="457200" rtl="0" algn="l">
                <a:lnSpc>
                  <a:spcPct val="100000"/>
                </a:lnSpc>
                <a:spcBef>
                  <a:spcPts val="400"/>
                </a:spcBef>
                <a:spcAft>
                  <a:spcPts val="0"/>
                </a:spcAft>
                <a:buClr>
                  <a:srgbClr val="DEE2E6"/>
                </a:buClr>
                <a:buSzPts val="1650"/>
                <a:buChar char="●"/>
              </a:pPr>
              <a:r>
                <a:rPr b="1" lang="en" sz="1650">
                  <a:solidFill>
                    <a:srgbClr val="DEE2E6"/>
                  </a:solidFill>
                </a:rPr>
                <a:t>These are often called "reciprocal" or "viral" licenses.</a:t>
              </a:r>
              <a:endParaRPr b="1" sz="1650">
                <a:solidFill>
                  <a:srgbClr val="DEE2E6"/>
                </a:solidFill>
              </a:endParaRPr>
            </a:p>
            <a:p>
              <a:pPr indent="-333375" lvl="0" marL="457200" rtl="0" algn="l">
                <a:lnSpc>
                  <a:spcPct val="100000"/>
                </a:lnSpc>
                <a:spcBef>
                  <a:spcPts val="0"/>
                </a:spcBef>
                <a:spcAft>
                  <a:spcPts val="0"/>
                </a:spcAft>
                <a:buClr>
                  <a:srgbClr val="DEE2E6"/>
                </a:buClr>
                <a:buSzPts val="1650"/>
                <a:buChar char="●"/>
              </a:pPr>
              <a:r>
                <a:rPr b="1" lang="en" sz="1650">
                  <a:solidFill>
                    <a:srgbClr val="DEE2E6"/>
                  </a:solidFill>
                </a:rPr>
                <a:t>Idea: </a:t>
              </a:r>
              <a:r>
                <a:rPr b="1" lang="en" sz="1650">
                  <a:solidFill>
                    <a:srgbClr val="DEE2E6"/>
                  </a:solidFill>
                </a:rPr>
                <a:t>"We give you this freedom, but you must ensure the next person has the same freedom."</a:t>
              </a:r>
              <a:endParaRPr b="1" sz="1650">
                <a:solidFill>
                  <a:srgbClr val="DEE2E6"/>
                </a:solidFill>
              </a:endParaRPr>
            </a:p>
          </p:txBody>
        </p:sp>
      </p:grpSp>
      <p:sp>
        <p:nvSpPr>
          <p:cNvPr id="224" name="Google Shape;224;p19"/>
          <p:cNvSpPr txBox="1"/>
          <p:nvPr/>
        </p:nvSpPr>
        <p:spPr>
          <a:xfrm>
            <a:off x="524975" y="1197425"/>
            <a:ext cx="5862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Open-source licenses fall into two broad categories.</a:t>
            </a:r>
            <a:endParaRPr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0"/>
          <p:cNvSpPr txBox="1"/>
          <p:nvPr>
            <p:ph idx="1" type="body"/>
          </p:nvPr>
        </p:nvSpPr>
        <p:spPr>
          <a:xfrm>
            <a:off x="413825" y="1017725"/>
            <a:ext cx="5665500" cy="3853200"/>
          </a:xfrm>
          <a:prstGeom prst="rect">
            <a:avLst/>
          </a:prstGeom>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500"/>
              <a:t>Examples: BSD, MIT, Apache 2.0</a:t>
            </a:r>
            <a:endParaRPr b="1" sz="1500"/>
          </a:p>
          <a:p>
            <a:pPr indent="0" lvl="0" marL="0" rtl="0" algn="l">
              <a:lnSpc>
                <a:spcPct val="100000"/>
              </a:lnSpc>
              <a:spcBef>
                <a:spcPts val="0"/>
              </a:spcBef>
              <a:spcAft>
                <a:spcPts val="0"/>
              </a:spcAft>
              <a:buNone/>
            </a:pPr>
            <a:r>
              <a:t/>
            </a:r>
            <a:endParaRPr b="1" sz="1500"/>
          </a:p>
          <a:p>
            <a:pPr indent="0" lvl="0" marL="0" rtl="0" algn="l">
              <a:lnSpc>
                <a:spcPct val="100000"/>
              </a:lnSpc>
              <a:spcBef>
                <a:spcPts val="0"/>
              </a:spcBef>
              <a:spcAft>
                <a:spcPts val="0"/>
              </a:spcAft>
              <a:buNone/>
            </a:pPr>
            <a:r>
              <a:rPr b="1" lang="en" sz="1500"/>
              <a:t>Permissive licenses - </a:t>
            </a:r>
            <a:r>
              <a:rPr lang="en" sz="1500"/>
              <a:t>have few requirements and are relatively easy to comply with.  Typically, you are required to provide attribution.  </a:t>
            </a:r>
            <a:endParaRPr sz="1500"/>
          </a:p>
          <a:p>
            <a:pPr indent="0" lvl="0" marL="0" rtl="0" algn="l">
              <a:lnSpc>
                <a:spcPct val="100000"/>
              </a:lnSpc>
              <a:spcBef>
                <a:spcPts val="0"/>
              </a:spcBef>
              <a:spcAft>
                <a:spcPts val="0"/>
              </a:spcAft>
              <a:buNone/>
            </a:pPr>
            <a:r>
              <a:t/>
            </a:r>
            <a:endParaRPr sz="1500"/>
          </a:p>
          <a:p>
            <a:pPr indent="0" lvl="0" marL="0" rtl="0" algn="ctr">
              <a:lnSpc>
                <a:spcPct val="100000"/>
              </a:lnSpc>
              <a:spcBef>
                <a:spcPts val="0"/>
              </a:spcBef>
              <a:spcAft>
                <a:spcPts val="0"/>
              </a:spcAft>
              <a:buNone/>
            </a:pPr>
            <a:r>
              <a:rPr b="1" lang="en" sz="1500"/>
              <a:t>These licenses allow users to distribute your software commercially </a:t>
            </a:r>
            <a:endParaRPr b="1" sz="1500"/>
          </a:p>
          <a:p>
            <a:pPr indent="0" lvl="0" marL="0" rtl="0" algn="ctr">
              <a:lnSpc>
                <a:spcPct val="100000"/>
              </a:lnSpc>
              <a:spcBef>
                <a:spcPts val="0"/>
              </a:spcBef>
              <a:spcAft>
                <a:spcPts val="0"/>
              </a:spcAft>
              <a:buNone/>
            </a:pPr>
            <a:r>
              <a:t/>
            </a:r>
            <a:endParaRPr b="1" sz="1500"/>
          </a:p>
          <a:p>
            <a:pPr indent="0" lvl="0" marL="0" rtl="0" algn="l">
              <a:lnSpc>
                <a:spcPct val="100000"/>
              </a:lnSpc>
              <a:spcBef>
                <a:spcPts val="0"/>
              </a:spcBef>
              <a:spcAft>
                <a:spcPts val="0"/>
              </a:spcAft>
              <a:buNone/>
            </a:pPr>
            <a:r>
              <a:t/>
            </a:r>
            <a:endParaRPr sz="1500"/>
          </a:p>
          <a:p>
            <a:pPr indent="0" lvl="0" marL="0" rtl="0" algn="l">
              <a:lnSpc>
                <a:spcPct val="100000"/>
              </a:lnSpc>
              <a:spcBef>
                <a:spcPts val="0"/>
              </a:spcBef>
              <a:spcAft>
                <a:spcPts val="0"/>
              </a:spcAft>
              <a:buNone/>
            </a:pPr>
            <a:r>
              <a:rPr b="1" lang="en" sz="1400"/>
              <a:t>BSD and MIT are often preferred in UC environments due to their simplicity and lack of explicit patent grant provisions.</a:t>
            </a:r>
            <a:endParaRPr b="1" sz="1400"/>
          </a:p>
          <a:p>
            <a:pPr indent="0" lvl="0" marL="0" rtl="0" algn="l">
              <a:lnSpc>
                <a:spcPct val="100000"/>
              </a:lnSpc>
              <a:spcBef>
                <a:spcPts val="0"/>
              </a:spcBef>
              <a:spcAft>
                <a:spcPts val="0"/>
              </a:spcAft>
              <a:buNone/>
            </a:pPr>
            <a:r>
              <a:t/>
            </a:r>
            <a:endParaRPr b="1" sz="1400"/>
          </a:p>
          <a:p>
            <a:pPr indent="-317500" lvl="0" marL="457200" rtl="0" algn="l">
              <a:lnSpc>
                <a:spcPct val="100000"/>
              </a:lnSpc>
              <a:spcBef>
                <a:spcPts val="0"/>
              </a:spcBef>
              <a:spcAft>
                <a:spcPts val="0"/>
              </a:spcAft>
              <a:buSzPts val="1400"/>
              <a:buChar char="●"/>
            </a:pPr>
            <a:r>
              <a:rPr lang="en" sz="1400"/>
              <a:t>The Apache license requires licensors to grant a patent license to all licensees.  </a:t>
            </a:r>
            <a:endParaRPr sz="1300"/>
          </a:p>
          <a:p>
            <a:pPr indent="0" lvl="0" marL="0" rtl="0" algn="l">
              <a:lnSpc>
                <a:spcPct val="100000"/>
              </a:lnSpc>
              <a:spcBef>
                <a:spcPts val="0"/>
              </a:spcBef>
              <a:spcAft>
                <a:spcPts val="0"/>
              </a:spcAft>
              <a:buNone/>
            </a:pPr>
            <a:r>
              <a:t/>
            </a:r>
            <a:endParaRPr sz="1100"/>
          </a:p>
          <a:p>
            <a:pPr indent="0" lvl="0" marL="0" rtl="0" algn="l">
              <a:lnSpc>
                <a:spcPct val="100000"/>
              </a:lnSpc>
              <a:spcBef>
                <a:spcPts val="0"/>
              </a:spcBef>
              <a:spcAft>
                <a:spcPts val="0"/>
              </a:spcAft>
              <a:buNone/>
            </a:pPr>
            <a:r>
              <a:t/>
            </a:r>
            <a:endParaRPr/>
          </a:p>
        </p:txBody>
      </p:sp>
      <p:sp>
        <p:nvSpPr>
          <p:cNvPr id="230" name="Google Shape;230;p20"/>
          <p:cNvSpPr txBox="1"/>
          <p:nvPr>
            <p:ph type="title"/>
          </p:nvPr>
        </p:nvSpPr>
        <p:spPr>
          <a:xfrm>
            <a:off x="713250"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Permissive Licenses</a:t>
            </a:r>
            <a:endParaRPr/>
          </a:p>
        </p:txBody>
      </p:sp>
      <p:pic>
        <p:nvPicPr>
          <p:cNvPr id="231" name="Google Shape;231;p20" title="Screenshot 2026-02-09 at 6.29.45 PM.png"/>
          <p:cNvPicPr preferRelativeResize="0"/>
          <p:nvPr/>
        </p:nvPicPr>
        <p:blipFill>
          <a:blip r:embed="rId3">
            <a:alphaModFix/>
          </a:blip>
          <a:stretch>
            <a:fillRect/>
          </a:stretch>
        </p:blipFill>
        <p:spPr>
          <a:xfrm>
            <a:off x="6368850" y="1017725"/>
            <a:ext cx="2359875" cy="21866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1"/>
          <p:cNvSpPr txBox="1"/>
          <p:nvPr>
            <p:ph idx="1" type="body"/>
          </p:nvPr>
        </p:nvSpPr>
        <p:spPr>
          <a:xfrm>
            <a:off x="713225" y="1340450"/>
            <a:ext cx="5288700" cy="2218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500"/>
              <a:t>Examples: GNU General Public License 2.0  or GPL 2.0</a:t>
            </a:r>
            <a:endParaRPr b="1" sz="1500"/>
          </a:p>
          <a:p>
            <a:pPr indent="0" lvl="0" marL="0" rtl="0" algn="l">
              <a:lnSpc>
                <a:spcPct val="100000"/>
              </a:lnSpc>
              <a:spcBef>
                <a:spcPts val="0"/>
              </a:spcBef>
              <a:spcAft>
                <a:spcPts val="0"/>
              </a:spcAft>
              <a:buNone/>
            </a:pPr>
            <a:r>
              <a:t/>
            </a:r>
            <a:endParaRPr b="1" sz="1500"/>
          </a:p>
          <a:p>
            <a:pPr indent="0" lvl="0" marL="0" rtl="0" algn="l">
              <a:lnSpc>
                <a:spcPct val="100000"/>
              </a:lnSpc>
              <a:spcBef>
                <a:spcPts val="0"/>
              </a:spcBef>
              <a:spcAft>
                <a:spcPts val="0"/>
              </a:spcAft>
              <a:buNone/>
            </a:pPr>
            <a:r>
              <a:rPr b="1" lang="en" sz="1500"/>
              <a:t>Copyleft licenses - </a:t>
            </a:r>
            <a:r>
              <a:rPr lang="en" sz="1500"/>
              <a:t>these licenses require that “derivative works/modifications” must be licensed under the same terms of the copyleft license.</a:t>
            </a:r>
            <a:endParaRPr sz="1500"/>
          </a:p>
          <a:p>
            <a:pPr indent="0" lvl="0" marL="0" rtl="0" algn="l">
              <a:lnSpc>
                <a:spcPct val="100000"/>
              </a:lnSpc>
              <a:spcBef>
                <a:spcPts val="0"/>
              </a:spcBef>
              <a:spcAft>
                <a:spcPts val="0"/>
              </a:spcAft>
              <a:buNone/>
            </a:pPr>
            <a:r>
              <a:t/>
            </a:r>
            <a:endParaRPr sz="1500"/>
          </a:p>
          <a:p>
            <a:pPr indent="0" lvl="0" marL="0" rtl="0" algn="l">
              <a:lnSpc>
                <a:spcPct val="100000"/>
              </a:lnSpc>
              <a:spcBef>
                <a:spcPts val="0"/>
              </a:spcBef>
              <a:spcAft>
                <a:spcPts val="0"/>
              </a:spcAft>
              <a:buNone/>
            </a:pPr>
            <a:r>
              <a:rPr b="1" lang="en" sz="1500"/>
              <a:t>This </a:t>
            </a:r>
            <a:r>
              <a:rPr b="1" lang="en" sz="1500"/>
              <a:t>protects</a:t>
            </a:r>
            <a:r>
              <a:rPr b="1" lang="en" sz="1500"/>
              <a:t> openness across the lifecycle of a project.</a:t>
            </a:r>
            <a:endParaRPr b="1" sz="1500"/>
          </a:p>
          <a:p>
            <a:pPr indent="0" lvl="0" marL="0" rtl="0" algn="l">
              <a:lnSpc>
                <a:spcPct val="100000"/>
              </a:lnSpc>
              <a:spcBef>
                <a:spcPts val="0"/>
              </a:spcBef>
              <a:spcAft>
                <a:spcPts val="0"/>
              </a:spcAft>
              <a:buNone/>
            </a:pPr>
            <a:r>
              <a:t/>
            </a:r>
            <a:endParaRPr sz="1500"/>
          </a:p>
          <a:p>
            <a:pPr indent="0" lvl="0" marL="0" rtl="0" algn="l">
              <a:lnSpc>
                <a:spcPct val="100000"/>
              </a:lnSpc>
              <a:spcBef>
                <a:spcPts val="0"/>
              </a:spcBef>
              <a:spcAft>
                <a:spcPts val="0"/>
              </a:spcAft>
              <a:buNone/>
            </a:pPr>
            <a:r>
              <a:t/>
            </a:r>
            <a:endParaRPr sz="1500"/>
          </a:p>
          <a:p>
            <a:pPr indent="0" lvl="0" marL="0" rtl="0" algn="l">
              <a:spcBef>
                <a:spcPts val="0"/>
              </a:spcBef>
              <a:spcAft>
                <a:spcPts val="0"/>
              </a:spcAft>
              <a:buNone/>
            </a:pPr>
            <a:r>
              <a:t/>
            </a:r>
            <a:endParaRPr sz="1500"/>
          </a:p>
        </p:txBody>
      </p:sp>
      <p:sp>
        <p:nvSpPr>
          <p:cNvPr id="237" name="Google Shape;237;p21"/>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Copyleft Licenses</a:t>
            </a:r>
            <a:endParaRPr/>
          </a:p>
        </p:txBody>
      </p:sp>
      <p:pic>
        <p:nvPicPr>
          <p:cNvPr id="238" name="Google Shape;238;p21"/>
          <p:cNvPicPr preferRelativeResize="0"/>
          <p:nvPr/>
        </p:nvPicPr>
        <p:blipFill>
          <a:blip r:embed="rId3">
            <a:alphaModFix/>
          </a:blip>
          <a:stretch>
            <a:fillRect/>
          </a:stretch>
        </p:blipFill>
        <p:spPr>
          <a:xfrm>
            <a:off x="6433388" y="1340450"/>
            <a:ext cx="2143125" cy="21431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2"/>
          <p:cNvSpPr txBox="1"/>
          <p:nvPr>
            <p:ph idx="1" type="body"/>
          </p:nvPr>
        </p:nvSpPr>
        <p:spPr>
          <a:xfrm>
            <a:off x="4240150" y="1017725"/>
            <a:ext cx="4527000" cy="2577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Before releasing code under an open-source license, you must check with your campus Tech Transfer office (sometimes called the Office of Intellectual Property or Technology Commercialization).</a:t>
            </a:r>
            <a:endParaRPr/>
          </a:p>
          <a:p>
            <a:pPr indent="0" lvl="0" marL="0" rtl="0" algn="l">
              <a:lnSpc>
                <a:spcPct val="115000"/>
              </a:lnSpc>
              <a:spcBef>
                <a:spcPts val="1200"/>
              </a:spcBef>
              <a:spcAft>
                <a:spcPts val="1200"/>
              </a:spcAft>
              <a:buNone/>
            </a:pPr>
            <a:r>
              <a:rPr lang="en"/>
              <a:t>Selection of a license will depend on your goals, and the policies of the University of California. The</a:t>
            </a:r>
            <a:r>
              <a:rPr lang="en">
                <a:uFill>
                  <a:noFill/>
                </a:uFill>
                <a:hlinkClick r:id="rId3"/>
              </a:rPr>
              <a:t> </a:t>
            </a:r>
            <a:r>
              <a:rPr lang="en" u="sng">
                <a:hlinkClick r:id="rId4"/>
              </a:rPr>
              <a:t>Open Source Software chart</a:t>
            </a:r>
            <a:r>
              <a:rPr lang="en"/>
              <a:t> and its companion can help you to navigate the UC policies and help guide your discussion with your TTO.</a:t>
            </a:r>
            <a:endParaRPr sz="800"/>
          </a:p>
        </p:txBody>
      </p:sp>
      <p:sp>
        <p:nvSpPr>
          <p:cNvPr id="244" name="Google Shape;244;p22"/>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How to choose a license for your UC project</a:t>
            </a:r>
            <a:endParaRPr/>
          </a:p>
        </p:txBody>
      </p:sp>
      <p:sp>
        <p:nvSpPr>
          <p:cNvPr id="245" name="Google Shape;245;p22"/>
          <p:cNvSpPr txBox="1"/>
          <p:nvPr/>
        </p:nvSpPr>
        <p:spPr>
          <a:xfrm>
            <a:off x="1362175" y="3594900"/>
            <a:ext cx="62067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a:solidFill>
                  <a:schemeClr val="dk1"/>
                </a:solidFill>
                <a:latin typeface="Open Sans"/>
                <a:ea typeface="Open Sans"/>
                <a:cs typeface="Open Sans"/>
                <a:sym typeface="Open Sans"/>
              </a:rPr>
              <a:t>Always consult your campus </a:t>
            </a:r>
            <a:r>
              <a:rPr b="1" lang="en">
                <a:solidFill>
                  <a:srgbClr val="C09748"/>
                </a:solidFill>
                <a:latin typeface="Open Sans"/>
                <a:ea typeface="Open Sans"/>
                <a:cs typeface="Open Sans"/>
                <a:sym typeface="Open Sans"/>
              </a:rPr>
              <a:t>Tech Transfer office </a:t>
            </a:r>
            <a:r>
              <a:rPr b="1" lang="en">
                <a:solidFill>
                  <a:schemeClr val="dk1"/>
                </a:solidFill>
                <a:latin typeface="Open Sans"/>
                <a:ea typeface="Open Sans"/>
                <a:cs typeface="Open Sans"/>
                <a:sym typeface="Open Sans"/>
              </a:rPr>
              <a:t>before releasing UC-owned software.</a:t>
            </a:r>
            <a:endParaRPr b="1">
              <a:solidFill>
                <a:schemeClr val="dk1"/>
              </a:solidFill>
              <a:latin typeface="Open Sans"/>
              <a:ea typeface="Open Sans"/>
              <a:cs typeface="Open Sans"/>
              <a:sym typeface="Open Sans"/>
            </a:endParaRPr>
          </a:p>
        </p:txBody>
      </p:sp>
      <p:pic>
        <p:nvPicPr>
          <p:cNvPr id="246" name="Google Shape;246;p22" title="Screenshot 2026-02-09 at 5.04.00 PM.png"/>
          <p:cNvPicPr preferRelativeResize="0"/>
          <p:nvPr/>
        </p:nvPicPr>
        <p:blipFill>
          <a:blip r:embed="rId5">
            <a:alphaModFix/>
          </a:blip>
          <a:stretch>
            <a:fillRect/>
          </a:stretch>
        </p:blipFill>
        <p:spPr>
          <a:xfrm>
            <a:off x="412100" y="1331125"/>
            <a:ext cx="3574425" cy="165008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3"/>
          <p:cNvSpPr txBox="1"/>
          <p:nvPr>
            <p:ph idx="1" type="body"/>
          </p:nvPr>
        </p:nvSpPr>
        <p:spPr>
          <a:xfrm>
            <a:off x="481575" y="689975"/>
            <a:ext cx="3257100" cy="1554000"/>
          </a:xfrm>
          <a:prstGeom prst="rect">
            <a:avLst/>
          </a:prstGeom>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500"/>
              <a:t>When creating a new GIthub repository -  </a:t>
            </a:r>
            <a:r>
              <a:rPr b="1" lang="en" sz="1500"/>
              <a:t>Choose your </a:t>
            </a:r>
            <a:endParaRPr b="1" sz="1500"/>
          </a:p>
          <a:p>
            <a:pPr indent="0" lvl="0" marL="0" rtl="0" algn="l">
              <a:lnSpc>
                <a:spcPct val="100000"/>
              </a:lnSpc>
              <a:spcBef>
                <a:spcPts val="0"/>
              </a:spcBef>
              <a:spcAft>
                <a:spcPts val="0"/>
              </a:spcAft>
              <a:buNone/>
            </a:pPr>
            <a:r>
              <a:rPr b="1" lang="en" sz="1500"/>
              <a:t>License</a:t>
            </a:r>
            <a:endParaRPr b="1" sz="1500"/>
          </a:p>
          <a:p>
            <a:pPr indent="0" lvl="0" marL="0" rtl="0" algn="l">
              <a:lnSpc>
                <a:spcPct val="100000"/>
              </a:lnSpc>
              <a:spcBef>
                <a:spcPts val="0"/>
              </a:spcBef>
              <a:spcAft>
                <a:spcPts val="0"/>
              </a:spcAft>
              <a:buNone/>
            </a:pPr>
            <a:r>
              <a:t/>
            </a:r>
            <a:endParaRPr b="1" sz="1500"/>
          </a:p>
          <a:p>
            <a:pPr indent="0" lvl="0" marL="0" rtl="0" algn="l">
              <a:lnSpc>
                <a:spcPct val="100000"/>
              </a:lnSpc>
              <a:spcBef>
                <a:spcPts val="0"/>
              </a:spcBef>
              <a:spcAft>
                <a:spcPts val="0"/>
              </a:spcAft>
              <a:buNone/>
            </a:pPr>
            <a:r>
              <a:rPr b="1" lang="en" sz="1500"/>
              <a:t>The UC Standard Recommendation is:  </a:t>
            </a:r>
            <a:endParaRPr b="1" sz="1500"/>
          </a:p>
          <a:p>
            <a:pPr indent="0" lvl="0" marL="0" rtl="0" algn="l">
              <a:lnSpc>
                <a:spcPct val="100000"/>
              </a:lnSpc>
              <a:spcBef>
                <a:spcPts val="0"/>
              </a:spcBef>
              <a:spcAft>
                <a:spcPts val="0"/>
              </a:spcAft>
              <a:buNone/>
            </a:pPr>
            <a:r>
              <a:t/>
            </a:r>
            <a:endParaRPr b="1" sz="1500"/>
          </a:p>
          <a:p>
            <a:pPr indent="0" lvl="0" marL="0" rtl="0" algn="l">
              <a:lnSpc>
                <a:spcPct val="100000"/>
              </a:lnSpc>
              <a:spcBef>
                <a:spcPts val="0"/>
              </a:spcBef>
              <a:spcAft>
                <a:spcPts val="0"/>
              </a:spcAft>
              <a:buNone/>
            </a:pPr>
            <a:r>
              <a:t/>
            </a:r>
            <a:endParaRPr b="1" sz="1500"/>
          </a:p>
          <a:p>
            <a:pPr indent="0" lvl="0" marL="0" rtl="0" algn="ctr">
              <a:lnSpc>
                <a:spcPct val="100000"/>
              </a:lnSpc>
              <a:spcBef>
                <a:spcPts val="0"/>
              </a:spcBef>
              <a:spcAft>
                <a:spcPts val="0"/>
              </a:spcAft>
              <a:buNone/>
            </a:pPr>
            <a:r>
              <a:rPr b="1" lang="en" sz="2100">
                <a:solidFill>
                  <a:srgbClr val="C09748"/>
                </a:solidFill>
              </a:rPr>
              <a:t>BSD 3-Clause </a:t>
            </a:r>
            <a:endParaRPr b="1" sz="2100">
              <a:solidFill>
                <a:srgbClr val="C09748"/>
              </a:solidFill>
            </a:endParaRPr>
          </a:p>
          <a:p>
            <a:pPr indent="0" lvl="0" marL="0" rtl="0" algn="l">
              <a:lnSpc>
                <a:spcPct val="115000"/>
              </a:lnSpc>
              <a:spcBef>
                <a:spcPts val="1200"/>
              </a:spcBef>
              <a:spcAft>
                <a:spcPts val="0"/>
              </a:spcAft>
              <a:buNone/>
            </a:pPr>
            <a:r>
              <a:t/>
            </a:r>
            <a:endParaRPr sz="14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
        <p:nvSpPr>
          <p:cNvPr id="252" name="Google Shape;252;p23"/>
          <p:cNvSpPr txBox="1"/>
          <p:nvPr/>
        </p:nvSpPr>
        <p:spPr>
          <a:xfrm>
            <a:off x="618388" y="6653000"/>
            <a:ext cx="7422600" cy="61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300">
                <a:solidFill>
                  <a:schemeClr val="dk1"/>
                </a:solidFill>
              </a:rPr>
              <a:t>Why this matters:</a:t>
            </a:r>
            <a:r>
              <a:rPr lang="en" sz="1300">
                <a:solidFill>
                  <a:schemeClr val="dk1"/>
                </a:solidFill>
              </a:rPr>
              <a:t> Users reading your README on platforms other than GitHub (Zenodo, email, exported PDFs) will see your license terms even without GitHub's automatic detection.</a:t>
            </a:r>
            <a:endParaRPr>
              <a:solidFill>
                <a:schemeClr val="dk1"/>
              </a:solidFill>
              <a:latin typeface="Open Sans"/>
              <a:ea typeface="Open Sans"/>
              <a:cs typeface="Open Sans"/>
              <a:sym typeface="Open Sans"/>
            </a:endParaRPr>
          </a:p>
        </p:txBody>
      </p:sp>
      <p:pic>
        <p:nvPicPr>
          <p:cNvPr id="253" name="Google Shape;253;p23" title="Screenshot 2026-02-10 at 1.00.25 PM.png"/>
          <p:cNvPicPr preferRelativeResize="0"/>
          <p:nvPr/>
        </p:nvPicPr>
        <p:blipFill>
          <a:blip r:embed="rId3">
            <a:alphaModFix/>
          </a:blip>
          <a:stretch>
            <a:fillRect/>
          </a:stretch>
        </p:blipFill>
        <p:spPr>
          <a:xfrm>
            <a:off x="3738671" y="413053"/>
            <a:ext cx="4672454" cy="4126725"/>
          </a:xfrm>
          <a:prstGeom prst="rect">
            <a:avLst/>
          </a:prstGeom>
          <a:noFill/>
          <a:ln>
            <a:noFill/>
          </a:ln>
        </p:spPr>
      </p:pic>
      <p:sp>
        <p:nvSpPr>
          <p:cNvPr id="254" name="Google Shape;254;p23"/>
          <p:cNvSpPr/>
          <p:nvPr/>
        </p:nvSpPr>
        <p:spPr>
          <a:xfrm>
            <a:off x="6721225" y="2980400"/>
            <a:ext cx="1689900" cy="3381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4"/>
          <p:cNvSpPr txBox="1"/>
          <p:nvPr>
            <p:ph idx="1" type="body"/>
          </p:nvPr>
        </p:nvSpPr>
        <p:spPr>
          <a:xfrm>
            <a:off x="713225" y="1088875"/>
            <a:ext cx="7717500" cy="2385000"/>
          </a:xfrm>
          <a:prstGeom prst="rect">
            <a:avLst/>
          </a:prstGeom>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Clr>
                <a:schemeClr val="dk1"/>
              </a:buClr>
              <a:buSzPts val="1700"/>
              <a:buFont typeface="Open Sans"/>
              <a:buChar char="●"/>
            </a:pPr>
            <a:r>
              <a:rPr lang="en" sz="1700" u="sng">
                <a:hlinkClick r:id="rId3"/>
              </a:rPr>
              <a:t>UC OSS Resources</a:t>
            </a:r>
            <a:r>
              <a:rPr lang="en" sz="1700"/>
              <a:t> – Resources and guides for open source activities at UC.</a:t>
            </a:r>
            <a:endParaRPr sz="1700"/>
          </a:p>
          <a:p>
            <a:pPr indent="0" lvl="0" marL="457200" rtl="0" algn="l">
              <a:lnSpc>
                <a:spcPct val="100000"/>
              </a:lnSpc>
              <a:spcBef>
                <a:spcPts val="0"/>
              </a:spcBef>
              <a:spcAft>
                <a:spcPts val="0"/>
              </a:spcAft>
              <a:buNone/>
            </a:pPr>
            <a:r>
              <a:t/>
            </a:r>
            <a:endParaRPr sz="1700"/>
          </a:p>
          <a:p>
            <a:pPr indent="-336550" lvl="0" marL="457200" rtl="0" algn="l">
              <a:lnSpc>
                <a:spcPct val="100000"/>
              </a:lnSpc>
              <a:spcBef>
                <a:spcPts val="0"/>
              </a:spcBef>
              <a:spcAft>
                <a:spcPts val="0"/>
              </a:spcAft>
              <a:buClr>
                <a:schemeClr val="dk1"/>
              </a:buClr>
              <a:buSzPts val="1700"/>
              <a:buFont typeface="Open Sans"/>
              <a:buChar char="●"/>
            </a:pPr>
            <a:r>
              <a:rPr lang="en" sz="1700" u="sng">
                <a:hlinkClick r:id="rId4"/>
              </a:rPr>
              <a:t>UC OSS Chart and Companion Guide</a:t>
            </a:r>
            <a:r>
              <a:rPr lang="en" sz="1700"/>
              <a:t> – The definitive list of UC-recommended "low-risk" licenses.</a:t>
            </a:r>
            <a:endParaRPr sz="1700"/>
          </a:p>
          <a:p>
            <a:pPr indent="0" lvl="0" marL="457200" rtl="0" algn="l">
              <a:lnSpc>
                <a:spcPct val="100000"/>
              </a:lnSpc>
              <a:spcBef>
                <a:spcPts val="0"/>
              </a:spcBef>
              <a:spcAft>
                <a:spcPts val="0"/>
              </a:spcAft>
              <a:buNone/>
            </a:pPr>
            <a:r>
              <a:t/>
            </a:r>
            <a:endParaRPr sz="1700"/>
          </a:p>
          <a:p>
            <a:pPr indent="-336550" lvl="0" marL="457200" rtl="0" algn="l">
              <a:lnSpc>
                <a:spcPct val="100000"/>
              </a:lnSpc>
              <a:spcBef>
                <a:spcPts val="0"/>
              </a:spcBef>
              <a:spcAft>
                <a:spcPts val="0"/>
              </a:spcAft>
              <a:buClr>
                <a:schemeClr val="dk1"/>
              </a:buClr>
              <a:buSzPts val="1700"/>
              <a:buFont typeface="Open Sans"/>
              <a:buChar char="●"/>
            </a:pPr>
            <a:r>
              <a:rPr lang="en" sz="1700" u="sng">
                <a:hlinkClick r:id="rId5"/>
              </a:rPr>
              <a:t>UC OSPO License Guide</a:t>
            </a:r>
            <a:r>
              <a:rPr lang="en" sz="1700"/>
              <a:t> – Guidance on institutional requirements and templates.</a:t>
            </a:r>
            <a:endParaRPr sz="1700"/>
          </a:p>
          <a:p>
            <a:pPr indent="0" lvl="0" marL="457200" rtl="0" algn="l">
              <a:lnSpc>
                <a:spcPct val="100000"/>
              </a:lnSpc>
              <a:spcBef>
                <a:spcPts val="0"/>
              </a:spcBef>
              <a:spcAft>
                <a:spcPts val="0"/>
              </a:spcAft>
              <a:buNone/>
            </a:pPr>
            <a:r>
              <a:t/>
            </a:r>
            <a:endParaRPr sz="1700"/>
          </a:p>
          <a:p>
            <a:pPr indent="-336550" lvl="0" marL="457200" rtl="0" algn="l">
              <a:lnSpc>
                <a:spcPct val="100000"/>
              </a:lnSpc>
              <a:spcBef>
                <a:spcPts val="0"/>
              </a:spcBef>
              <a:spcAft>
                <a:spcPts val="0"/>
              </a:spcAft>
              <a:buClr>
                <a:schemeClr val="dk1"/>
              </a:buClr>
              <a:buSzPts val="1700"/>
              <a:buFont typeface="Open Sans"/>
              <a:buChar char="●"/>
            </a:pPr>
            <a:r>
              <a:rPr lang="en" sz="1700" u="sng">
                <a:hlinkClick r:id="rId6"/>
              </a:rPr>
              <a:t>ChooseALicense.com</a:t>
            </a:r>
            <a:r>
              <a:rPr lang="en" sz="1700"/>
              <a:t> – A helpful tool created by GitHub for comparing license features.  This tool does not supersede UC policies.</a:t>
            </a:r>
            <a:endParaRPr sz="1700"/>
          </a:p>
          <a:p>
            <a:pPr indent="0" lvl="0" marL="0" rtl="0" algn="l">
              <a:lnSpc>
                <a:spcPct val="100000"/>
              </a:lnSpc>
              <a:spcBef>
                <a:spcPts val="0"/>
              </a:spcBef>
              <a:spcAft>
                <a:spcPts val="0"/>
              </a:spcAft>
              <a:buNone/>
            </a:pPr>
            <a:r>
              <a:t/>
            </a:r>
            <a:endParaRPr/>
          </a:p>
        </p:txBody>
      </p:sp>
      <p:sp>
        <p:nvSpPr>
          <p:cNvPr id="260" name="Google Shape;260;p24"/>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UC </a:t>
            </a:r>
            <a:r>
              <a:rPr lang="en"/>
              <a:t>Licensing</a:t>
            </a:r>
            <a:r>
              <a:rPr lang="en"/>
              <a:t> Resources</a:t>
            </a:r>
            <a:endParaRPr/>
          </a:p>
        </p:txBody>
      </p:sp>
      <p:sp>
        <p:nvSpPr>
          <p:cNvPr id="261" name="Google Shape;261;p24"/>
          <p:cNvSpPr txBox="1"/>
          <p:nvPr/>
        </p:nvSpPr>
        <p:spPr>
          <a:xfrm>
            <a:off x="2339800" y="-1317800"/>
            <a:ext cx="7745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5"/>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Code rots. Python updates, packages break, and 6 months from now, your script won't run.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400"/>
              <a:t>The Problem</a:t>
            </a:r>
            <a:r>
              <a:rPr lang="en" sz="1400"/>
              <a:t>: Research software often "works on my machine" and nowhere else.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Different operating systems, outdated packages, and mismatched library versions frequently break code.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What Environment Management Captures:</a:t>
            </a:r>
            <a:endParaRPr sz="1400"/>
          </a:p>
          <a:p>
            <a:pPr indent="0" lvl="0" marL="457200" rtl="0" algn="l">
              <a:spcBef>
                <a:spcPts val="0"/>
              </a:spcBef>
              <a:spcAft>
                <a:spcPts val="0"/>
              </a:spcAft>
              <a:buNone/>
            </a:pPr>
            <a:r>
              <a:rPr lang="en" sz="1400"/>
              <a:t>- The exact language versions used</a:t>
            </a:r>
            <a:endParaRPr sz="1400"/>
          </a:p>
          <a:p>
            <a:pPr indent="0" lvl="0" marL="457200" rtl="0" algn="l">
              <a:spcBef>
                <a:spcPts val="0"/>
              </a:spcBef>
              <a:spcAft>
                <a:spcPts val="0"/>
              </a:spcAft>
              <a:buNone/>
            </a:pPr>
            <a:r>
              <a:rPr lang="en" sz="1400"/>
              <a:t>- Required packages</a:t>
            </a:r>
            <a:endParaRPr sz="1400"/>
          </a:p>
          <a:p>
            <a:pPr indent="0" lvl="0" marL="457200" rtl="0" algn="l">
              <a:spcBef>
                <a:spcPts val="0"/>
              </a:spcBef>
              <a:spcAft>
                <a:spcPts val="0"/>
              </a:spcAft>
              <a:buNone/>
            </a:pPr>
            <a:r>
              <a:rPr lang="en" sz="1400"/>
              <a:t>- The dependency set needed to run the software</a:t>
            </a:r>
            <a:endParaRPr sz="1400"/>
          </a:p>
          <a:p>
            <a:pPr indent="0" lvl="0" marL="457200" rtl="0" algn="l">
              <a:spcBef>
                <a:spcPts val="0"/>
              </a:spcBef>
              <a:spcAft>
                <a:spcPts val="0"/>
              </a:spcAft>
              <a:buNone/>
            </a:pPr>
            <a:r>
              <a:rPr lang="en" sz="1400"/>
              <a:t>- Instructions for reproducing the execution environment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400"/>
              <a:t>The Payoff</a:t>
            </a:r>
            <a:r>
              <a:rPr lang="en" sz="1400"/>
              <a:t>: We aren't just shipping code; we're shipping the </a:t>
            </a:r>
            <a:r>
              <a:rPr b="1" lang="en" sz="1400"/>
              <a:t>computer state</a:t>
            </a:r>
            <a:r>
              <a:rPr lang="en" sz="1400"/>
              <a:t> needed to run it.</a:t>
            </a:r>
            <a:endParaRPr sz="1400"/>
          </a:p>
          <a:p>
            <a:pPr indent="0" lvl="0" marL="0" rtl="0" algn="l">
              <a:spcBef>
                <a:spcPts val="0"/>
              </a:spcBef>
              <a:spcAft>
                <a:spcPts val="0"/>
              </a:spcAft>
              <a:buNone/>
            </a:pPr>
            <a:r>
              <a:t/>
            </a:r>
            <a:endParaRPr sz="1400"/>
          </a:p>
        </p:txBody>
      </p:sp>
      <p:sp>
        <p:nvSpPr>
          <p:cNvPr id="267" name="Google Shape;267;p25"/>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Why Environments Matter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6"/>
          <p:cNvSpPr txBox="1"/>
          <p:nvPr>
            <p:ph idx="1" type="body"/>
          </p:nvPr>
        </p:nvSpPr>
        <p:spPr>
          <a:xfrm>
            <a:off x="713225" y="2764250"/>
            <a:ext cx="7717500" cy="156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Pixi is a modern, fast environment manager that works with Python, R, and many other languages</a:t>
            </a:r>
            <a:endParaRPr sz="1400"/>
          </a:p>
          <a:p>
            <a:pPr indent="-317500" lvl="0" marL="457200" rtl="0" algn="l">
              <a:spcBef>
                <a:spcPts val="0"/>
              </a:spcBef>
              <a:spcAft>
                <a:spcPts val="0"/>
              </a:spcAft>
              <a:buSzPts val="1400"/>
              <a:buChar char="●"/>
            </a:pPr>
            <a:r>
              <a:rPr lang="en" sz="1400"/>
              <a:t>Cross-platform: MacOS, Linux, Windows</a:t>
            </a:r>
            <a:endParaRPr sz="1400"/>
          </a:p>
          <a:p>
            <a:pPr indent="-317500" lvl="0" marL="457200" rtl="0" algn="l">
              <a:spcBef>
                <a:spcPts val="0"/>
              </a:spcBef>
              <a:spcAft>
                <a:spcPts val="0"/>
              </a:spcAft>
              <a:buSzPts val="1400"/>
              <a:buChar char="●"/>
            </a:pPr>
            <a:r>
              <a:rPr lang="en" sz="1400"/>
              <a:t>Automatically creates a </a:t>
            </a:r>
            <a:r>
              <a:rPr b="1" lang="en" sz="1400"/>
              <a:t>lock file</a:t>
            </a:r>
            <a:r>
              <a:rPr lang="en" sz="1400"/>
              <a:t> - lock files contain the exact versions of all packages installed into an environment, ensuring all users run the exact same versions of every package.</a:t>
            </a:r>
            <a:endParaRPr sz="1400"/>
          </a:p>
        </p:txBody>
      </p:sp>
      <p:pic>
        <p:nvPicPr>
          <p:cNvPr descr="Logo of Pixi environment manager: a robot in the shape of a yellow cube with metallic arms and legs and white feathering wings, holding a magic wand over a starry background." id="273" name="Google Shape;273;p26" title="pixi-logo-banner.png"/>
          <p:cNvPicPr preferRelativeResize="0"/>
          <p:nvPr/>
        </p:nvPicPr>
        <p:blipFill>
          <a:blip r:embed="rId3">
            <a:alphaModFix/>
          </a:blip>
          <a:stretch>
            <a:fillRect/>
          </a:stretch>
        </p:blipFill>
        <p:spPr>
          <a:xfrm>
            <a:off x="1639001" y="882680"/>
            <a:ext cx="5582848" cy="17855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7"/>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pixi: Reproducible Environments</a:t>
            </a:r>
            <a:endParaRPr/>
          </a:p>
        </p:txBody>
      </p:sp>
      <p:sp>
        <p:nvSpPr>
          <p:cNvPr id="279" name="Google Shape;279;p27"/>
          <p:cNvSpPr/>
          <p:nvPr/>
        </p:nvSpPr>
        <p:spPr>
          <a:xfrm>
            <a:off x="714800" y="1491825"/>
            <a:ext cx="2055300" cy="952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0" name="Google Shape;280;p27"/>
          <p:cNvSpPr/>
          <p:nvPr/>
        </p:nvSpPr>
        <p:spPr>
          <a:xfrm>
            <a:off x="4682225" y="1491825"/>
            <a:ext cx="2055300" cy="1190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1" name="Google Shape;281;p27"/>
          <p:cNvSpPr txBox="1"/>
          <p:nvPr>
            <p:ph idx="1" type="body"/>
          </p:nvPr>
        </p:nvSpPr>
        <p:spPr>
          <a:xfrm>
            <a:off x="713225" y="1088875"/>
            <a:ext cx="3332700" cy="32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 The Vague Way: </a:t>
            </a:r>
            <a:br>
              <a:rPr b="1" lang="en"/>
            </a:br>
            <a:endParaRPr b="1"/>
          </a:p>
          <a:p>
            <a:pPr indent="0" lvl="0" marL="0" rtl="0" algn="l">
              <a:spcBef>
                <a:spcPts val="0"/>
              </a:spcBef>
              <a:spcAft>
                <a:spcPts val="0"/>
              </a:spcAft>
              <a:buNone/>
            </a:pPr>
            <a:r>
              <a:rPr lang="en">
                <a:latin typeface="Consolas"/>
                <a:ea typeface="Consolas"/>
                <a:cs typeface="Consolas"/>
                <a:sym typeface="Consolas"/>
              </a:rPr>
              <a:t>```toml</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[dependencies]</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python = "*"</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numpy = "*"</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t/>
            </a:r>
            <a:endParaRPr/>
          </a:p>
          <a:p>
            <a:pPr indent="0" lvl="0" marL="0" rtl="0" algn="l">
              <a:spcBef>
                <a:spcPts val="0"/>
              </a:spcBef>
              <a:spcAft>
                <a:spcPts val="0"/>
              </a:spcAft>
              <a:buNone/>
            </a:pPr>
            <a:r>
              <a:rPr lang="en">
                <a:highlight>
                  <a:schemeClr val="lt1"/>
                </a:highlight>
                <a:latin typeface="Consolas"/>
                <a:ea typeface="Consolas"/>
                <a:cs typeface="Consolas"/>
                <a:sym typeface="Consolas"/>
              </a:rPr>
              <a:t>`python = "*"`</a:t>
            </a:r>
            <a:r>
              <a:rPr lang="en">
                <a:latin typeface="Consolas"/>
                <a:ea typeface="Consolas"/>
                <a:cs typeface="Consolas"/>
                <a:sym typeface="Consolas"/>
              </a:rPr>
              <a:t> </a:t>
            </a:r>
            <a:r>
              <a:rPr lang="en"/>
              <a:t>is like saying "I need some food."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Problems:</a:t>
            </a:r>
            <a:endParaRPr/>
          </a:p>
          <a:p>
            <a:pPr indent="-304800" lvl="0" marL="457200" rtl="0" algn="l">
              <a:spcBef>
                <a:spcPts val="0"/>
              </a:spcBef>
              <a:spcAft>
                <a:spcPts val="0"/>
              </a:spcAft>
              <a:buSzPts val="1200"/>
              <a:buChar char="●"/>
            </a:pPr>
            <a:r>
              <a:rPr lang="en"/>
              <a:t>Works today, breaks tomorrow</a:t>
            </a:r>
            <a:endParaRPr/>
          </a:p>
          <a:p>
            <a:pPr indent="-304800" lvl="0" marL="457200" rtl="0" algn="l">
              <a:spcBef>
                <a:spcPts val="0"/>
              </a:spcBef>
              <a:spcAft>
                <a:spcPts val="0"/>
              </a:spcAft>
              <a:buSzPts val="1200"/>
              <a:buChar char="●"/>
            </a:pPr>
            <a:r>
              <a:rPr lang="en"/>
              <a:t>Different versions on different machines</a:t>
            </a:r>
            <a:endParaRPr/>
          </a:p>
          <a:p>
            <a:pPr indent="-304800" lvl="0" marL="457200" rtl="0" algn="l">
              <a:spcBef>
                <a:spcPts val="0"/>
              </a:spcBef>
              <a:spcAft>
                <a:spcPts val="0"/>
              </a:spcAft>
              <a:buSzPts val="1200"/>
              <a:buChar char="●"/>
            </a:pPr>
            <a:r>
              <a:rPr lang="en"/>
              <a:t>"Works on my machine" syndrome</a:t>
            </a:r>
            <a:endParaRPr/>
          </a:p>
        </p:txBody>
      </p:sp>
      <p:sp>
        <p:nvSpPr>
          <p:cNvPr id="282" name="Google Shape;282;p27"/>
          <p:cNvSpPr txBox="1"/>
          <p:nvPr/>
        </p:nvSpPr>
        <p:spPr>
          <a:xfrm>
            <a:off x="4682225" y="1088875"/>
            <a:ext cx="38943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Open Sans"/>
                <a:ea typeface="Open Sans"/>
                <a:cs typeface="Open Sans"/>
                <a:sym typeface="Open Sans"/>
              </a:rPr>
              <a:t>✅ The Locked Way</a:t>
            </a:r>
            <a:endParaRPr b="1" sz="12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pixi.lock contains:</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python = "3.11.4"</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numpy = "1.24.3"</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 </a:t>
            </a:r>
            <a:r>
              <a:rPr b="1" lang="en" sz="1200">
                <a:solidFill>
                  <a:schemeClr val="dk1"/>
                </a:solidFill>
                <a:latin typeface="Consolas"/>
                <a:ea typeface="Consolas"/>
                <a:cs typeface="Consolas"/>
                <a:sym typeface="Consolas"/>
              </a:rPr>
              <a:t>47 dependencies</a:t>
            </a:r>
            <a:endParaRPr b="1"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lang="en" sz="1200">
                <a:solidFill>
                  <a:schemeClr val="dk1"/>
                </a:solidFill>
                <a:highlight>
                  <a:schemeClr val="lt1"/>
                </a:highlight>
                <a:latin typeface="Consolas"/>
                <a:ea typeface="Consolas"/>
                <a:cs typeface="Consolas"/>
                <a:sym typeface="Consolas"/>
              </a:rPr>
              <a:t>`pixi.lock`</a:t>
            </a:r>
            <a:r>
              <a:rPr lang="en" sz="1200">
                <a:solidFill>
                  <a:schemeClr val="dk1"/>
                </a:solidFill>
                <a:latin typeface="Open Sans"/>
                <a:ea typeface="Open Sans"/>
                <a:cs typeface="Open Sans"/>
                <a:sym typeface="Open Sans"/>
              </a:rPr>
              <a:t> is like saying "I need a pepperoni pizza from Mario's, baked at 5:00 PM."</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b="1" lang="en" sz="1200">
                <a:solidFill>
                  <a:schemeClr val="dk1"/>
                </a:solidFill>
                <a:latin typeface="Open Sans"/>
                <a:ea typeface="Open Sans"/>
                <a:cs typeface="Open Sans"/>
                <a:sym typeface="Open Sans"/>
              </a:rPr>
              <a:t>Benefits:</a:t>
            </a:r>
            <a:endParaRPr b="1"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 Exact versions locked</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 Same environment everywhere</a:t>
            </a:r>
            <a:endParaRPr sz="1200">
              <a:solidFill>
                <a:schemeClr val="dk1"/>
              </a:solidFill>
              <a:latin typeface="Open Sans"/>
              <a:ea typeface="Open Sans"/>
              <a:cs typeface="Open Sans"/>
              <a:sym typeface="Open Sans"/>
            </a:endParaRPr>
          </a:p>
          <a:p>
            <a:pPr indent="-304800" lvl="0" marL="457200" rtl="0" algn="l">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 Reproducible in 5 years</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8"/>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Installing pixi</a:t>
            </a:r>
            <a:endParaRPr/>
          </a:p>
        </p:txBody>
      </p:sp>
      <p:sp>
        <p:nvSpPr>
          <p:cNvPr id="288" name="Google Shape;288;p28"/>
          <p:cNvSpPr txBox="1"/>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Char char="●"/>
            </a:pPr>
            <a:r>
              <a:rPr lang="en" sz="1800">
                <a:solidFill>
                  <a:schemeClr val="dk1"/>
                </a:solidFill>
              </a:rPr>
              <a:t>Full installation docs: </a:t>
            </a:r>
            <a:r>
              <a:rPr lang="en" sz="1800" u="sng">
                <a:solidFill>
                  <a:schemeClr val="dk1"/>
                </a:solidFill>
                <a:hlinkClick r:id="rId3">
                  <a:extLst>
                    <a:ext uri="{A12FA001-AC4F-418D-AE19-62706E023703}">
                      <ahyp:hlinkClr val="tx"/>
                    </a:ext>
                  </a:extLst>
                </a:hlinkClick>
              </a:rPr>
              <a:t>https://pixi.sh</a:t>
            </a:r>
            <a:r>
              <a:rPr lang="en" sz="1800">
                <a:solidFill>
                  <a:schemeClr val="dk1"/>
                </a:solidFill>
              </a:rPr>
              <a:t>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In MacOS or Linux</a:t>
            </a:r>
            <a:br>
              <a:rPr lang="en" sz="1800">
                <a:solidFill>
                  <a:schemeClr val="dk1"/>
                </a:solidFill>
              </a:rPr>
            </a:br>
            <a:r>
              <a:rPr lang="en" sz="1800">
                <a:solidFill>
                  <a:schemeClr val="dk1"/>
                </a:solidFill>
                <a:highlight>
                  <a:schemeClr val="lt1"/>
                </a:highlight>
              </a:rPr>
              <a:t>	</a:t>
            </a:r>
            <a:r>
              <a:rPr lang="en" sz="1800">
                <a:solidFill>
                  <a:schemeClr val="dk1"/>
                </a:solidFill>
                <a:highlight>
                  <a:schemeClr val="lt1"/>
                </a:highlight>
                <a:latin typeface="Consolas"/>
                <a:ea typeface="Consolas"/>
                <a:cs typeface="Consolas"/>
                <a:sym typeface="Consolas"/>
              </a:rPr>
              <a:t>curl -fsSL https://pixi.sh/install.sh | bash</a:t>
            </a:r>
            <a:endParaRPr sz="1800">
              <a:solidFill>
                <a:schemeClr val="dk1"/>
              </a:solidFill>
              <a:highlight>
                <a:schemeClr val="lt1"/>
              </a:highlight>
              <a:latin typeface="Consolas"/>
              <a:ea typeface="Consolas"/>
              <a:cs typeface="Consolas"/>
              <a:sym typeface="Consolas"/>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In Windows</a:t>
            </a:r>
            <a:br>
              <a:rPr lang="en" sz="1800">
                <a:solidFill>
                  <a:schemeClr val="dk1"/>
                </a:solidFill>
              </a:rPr>
            </a:br>
            <a:r>
              <a:rPr lang="en" sz="1800">
                <a:solidFill>
                  <a:schemeClr val="dk1"/>
                </a:solidFill>
              </a:rPr>
              <a:t>	Install via MSI Installer OR</a:t>
            </a:r>
            <a:br>
              <a:rPr lang="en" sz="1800">
                <a:solidFill>
                  <a:schemeClr val="dk1"/>
                </a:solidFill>
                <a:latin typeface="Consolas"/>
                <a:ea typeface="Consolas"/>
                <a:cs typeface="Consolas"/>
                <a:sym typeface="Consolas"/>
              </a:rPr>
            </a:br>
            <a:r>
              <a:rPr lang="en" sz="1800">
                <a:solidFill>
                  <a:schemeClr val="dk1"/>
                </a:solidFill>
                <a:latin typeface="Consolas"/>
                <a:ea typeface="Consolas"/>
                <a:cs typeface="Consolas"/>
                <a:sym typeface="Consolas"/>
              </a:rPr>
              <a:t>	</a:t>
            </a:r>
            <a:r>
              <a:rPr lang="en" sz="1800">
                <a:solidFill>
                  <a:schemeClr val="dk1"/>
                </a:solidFill>
                <a:highlight>
                  <a:schemeClr val="lt1"/>
                </a:highlight>
                <a:latin typeface="Consolas"/>
                <a:ea typeface="Consolas"/>
                <a:cs typeface="Consolas"/>
                <a:sym typeface="Consolas"/>
              </a:rPr>
              <a:t>winget install prefix-dev.pixi</a:t>
            </a:r>
            <a:endParaRPr sz="1800">
              <a:solidFill>
                <a:schemeClr val="dk1"/>
              </a:solidFill>
              <a:highlight>
                <a:schemeClr val="lt1"/>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2" name="Shape 292"/>
        <p:cNvGrpSpPr/>
        <p:nvPr/>
      </p:nvGrpSpPr>
      <p:grpSpPr>
        <a:xfrm>
          <a:off x="0" y="0"/>
          <a:ext cx="0" cy="0"/>
          <a:chOff x="0" y="0"/>
          <a:chExt cx="0" cy="0"/>
        </a:xfrm>
      </p:grpSpPr>
      <p:sp>
        <p:nvSpPr>
          <p:cNvPr id="293" name="Google Shape;293;p29"/>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Fast, cross-platform, automatic lockfiles</a:t>
            </a:r>
            <a:endParaRPr b="1" sz="1400"/>
          </a:p>
          <a:p>
            <a:pPr indent="-317500" lvl="0" marL="457200" rtl="0" algn="l">
              <a:spcBef>
                <a:spcPts val="0"/>
              </a:spcBef>
              <a:spcAft>
                <a:spcPts val="0"/>
              </a:spcAft>
              <a:buSzPts val="1400"/>
              <a:buChar char="●"/>
            </a:pPr>
            <a:r>
              <a:rPr lang="en" sz="1400"/>
              <a:t>Works on macOS, Linux, Windows</a:t>
            </a:r>
            <a:endParaRPr sz="1400"/>
          </a:p>
          <a:p>
            <a:pPr indent="-317500" lvl="0" marL="457200" rtl="0" algn="l">
              <a:spcBef>
                <a:spcPts val="0"/>
              </a:spcBef>
              <a:spcAft>
                <a:spcPts val="0"/>
              </a:spcAft>
              <a:buSzPts val="1400"/>
              <a:buChar char="●"/>
            </a:pPr>
            <a:r>
              <a:rPr lang="en" sz="1400"/>
              <a:t>Creates pixi.lock automatically</a:t>
            </a:r>
            <a:endParaRPr sz="1400"/>
          </a:p>
          <a:p>
            <a:pPr indent="-317500" lvl="0" marL="457200" rtl="0" algn="l">
              <a:spcBef>
                <a:spcPts val="0"/>
              </a:spcBef>
              <a:spcAft>
                <a:spcPts val="0"/>
              </a:spcAft>
              <a:buSzPts val="1400"/>
              <a:buChar char="●"/>
            </a:pPr>
            <a:r>
              <a:rPr lang="en" sz="1400"/>
              <a:t>Supports Python, R, and more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400"/>
              <a:t>  Simple workflow:</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rPr lang="en" sz="1400">
                <a:highlight>
                  <a:schemeClr val="lt1"/>
                </a:highlight>
              </a:rPr>
              <a:t>  pixi init                          # Create project</a:t>
            </a:r>
            <a:endParaRPr sz="1400">
              <a:highlight>
                <a:schemeClr val="lt1"/>
              </a:highlight>
            </a:endParaRPr>
          </a:p>
          <a:p>
            <a:pPr indent="0" lvl="0" marL="0" rtl="0" algn="l">
              <a:spcBef>
                <a:spcPts val="0"/>
              </a:spcBef>
              <a:spcAft>
                <a:spcPts val="0"/>
              </a:spcAft>
              <a:buNone/>
            </a:pPr>
            <a:r>
              <a:rPr lang="en" sz="1400">
                <a:highlight>
                  <a:schemeClr val="lt1"/>
                </a:highlight>
              </a:rPr>
              <a:t>  pixi add python numpy pandas       # Add dependencies</a:t>
            </a:r>
            <a:endParaRPr sz="1400">
              <a:highlight>
                <a:schemeClr val="lt1"/>
              </a:highlight>
            </a:endParaRPr>
          </a:p>
          <a:p>
            <a:pPr indent="0" lvl="0" marL="0" rtl="0" algn="l">
              <a:spcBef>
                <a:spcPts val="0"/>
              </a:spcBef>
              <a:spcAft>
                <a:spcPts val="0"/>
              </a:spcAft>
              <a:buNone/>
            </a:pPr>
            <a:r>
              <a:rPr lang="en" sz="1400">
                <a:highlight>
                  <a:schemeClr val="lt1"/>
                </a:highlight>
              </a:rPr>
              <a:t>  pixi run python analysis.py        # Run code</a:t>
            </a:r>
            <a:endParaRPr sz="1400">
              <a:highlight>
                <a:schemeClr val="lt1"/>
              </a:highlight>
            </a:endParaRPr>
          </a:p>
          <a:p>
            <a:pPr indent="0" lvl="0" marL="0" rtl="0" algn="l">
              <a:spcBef>
                <a:spcPts val="0"/>
              </a:spcBef>
              <a:spcAft>
                <a:spcPts val="0"/>
              </a:spcAft>
              <a:buNone/>
            </a:pPr>
            <a:r>
              <a:t/>
            </a:r>
            <a:endParaRPr sz="1400"/>
          </a:p>
          <a:p>
            <a:pPr indent="0" lvl="0" marL="0" rtl="0" algn="l">
              <a:spcBef>
                <a:spcPts val="0"/>
              </a:spcBef>
              <a:spcAft>
                <a:spcPts val="0"/>
              </a:spcAft>
              <a:buNone/>
            </a:pPr>
            <a:r>
              <a:rPr b="1" lang="en" sz="1400"/>
              <a:t>  FAIR Connection:</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rPr lang="en" sz="1400"/>
              <a:t>  Standard formats + clear dependencies = Interoperable &amp; Reusable software</a:t>
            </a:r>
            <a:endParaRPr sz="1400"/>
          </a:p>
          <a:p>
            <a:pPr indent="0" lvl="0" marL="0" rtl="0" algn="l">
              <a:spcBef>
                <a:spcPts val="0"/>
              </a:spcBef>
              <a:spcAft>
                <a:spcPts val="0"/>
              </a:spcAft>
              <a:buNone/>
            </a:pPr>
            <a:r>
              <a:t/>
            </a:r>
            <a:endParaRPr sz="1400"/>
          </a:p>
        </p:txBody>
      </p:sp>
      <p:sp>
        <p:nvSpPr>
          <p:cNvPr id="294" name="Google Shape;294;p29"/>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Why pixi?</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0"/>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Create a directory and initialize a </a:t>
            </a:r>
            <a:r>
              <a:rPr b="1" lang="en" sz="1400">
                <a:latin typeface="Consolas"/>
                <a:ea typeface="Consolas"/>
                <a:cs typeface="Consolas"/>
                <a:sym typeface="Consolas"/>
              </a:rPr>
              <a:t>pixi</a:t>
            </a:r>
            <a:r>
              <a:rPr lang="en" sz="1400"/>
              <a:t> project: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This creates a </a:t>
            </a:r>
            <a:r>
              <a:rPr b="1" lang="en" sz="1400">
                <a:latin typeface="Consolas"/>
                <a:ea typeface="Consolas"/>
                <a:cs typeface="Consolas"/>
                <a:sym typeface="Consolas"/>
              </a:rPr>
              <a:t>pixi.toml</a:t>
            </a:r>
            <a:r>
              <a:rPr lang="en" sz="1400"/>
              <a:t> file, which documents your environment.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sp>
        <p:nvSpPr>
          <p:cNvPr id="300" name="Google Shape;300;p30"/>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Creating a New pixi Project</a:t>
            </a:r>
            <a:endParaRPr/>
          </a:p>
        </p:txBody>
      </p:sp>
      <p:pic>
        <p:nvPicPr>
          <p:cNvPr descr="A screenshot of Leigh's terminal window showing the commands: &quot;mkdir myproject,&quot; &quot;cd myproject,&quot; and &quot;pixi init&quot; and the final result showing the output statement: &quot;Created /Users/leigh/myproject/pixi.toml&quot;." id="301" name="Google Shape;301;p30" title="Screenshot 2026-02-09 at 12.59.48 PM.png"/>
          <p:cNvPicPr preferRelativeResize="0"/>
          <p:nvPr/>
        </p:nvPicPr>
        <p:blipFill rotWithShape="1">
          <a:blip r:embed="rId3">
            <a:alphaModFix/>
          </a:blip>
          <a:srcRect b="0" l="0" r="0" t="4086"/>
          <a:stretch/>
        </p:blipFill>
        <p:spPr>
          <a:xfrm>
            <a:off x="1809175" y="1970376"/>
            <a:ext cx="5525650" cy="9666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1"/>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1"/>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700"/>
              <a:t>Example: c</a:t>
            </a:r>
            <a:r>
              <a:rPr lang="en" sz="2700"/>
              <a:t>reating a New pixi Project - </a:t>
            </a:r>
            <a:r>
              <a:rPr b="0" lang="en" sz="2700">
                <a:latin typeface="Consolas"/>
                <a:ea typeface="Consolas"/>
                <a:cs typeface="Consolas"/>
                <a:sym typeface="Consolas"/>
              </a:rPr>
              <a:t>pixi.toml</a:t>
            </a:r>
            <a:endParaRPr b="0" sz="2700">
              <a:latin typeface="Consolas"/>
              <a:ea typeface="Consolas"/>
              <a:cs typeface="Consolas"/>
              <a:sym typeface="Consolas"/>
            </a:endParaRPr>
          </a:p>
          <a:p>
            <a:pPr indent="0" lvl="0" marL="0" rtl="0" algn="ctr">
              <a:spcBef>
                <a:spcPts val="0"/>
              </a:spcBef>
              <a:spcAft>
                <a:spcPts val="0"/>
              </a:spcAft>
              <a:buNone/>
            </a:pPr>
            <a:r>
              <a:t/>
            </a:r>
            <a:endParaRPr sz="2700"/>
          </a:p>
          <a:p>
            <a:pPr indent="0" lvl="0" marL="0" rtl="0" algn="ctr">
              <a:spcBef>
                <a:spcPts val="0"/>
              </a:spcBef>
              <a:spcAft>
                <a:spcPts val="0"/>
              </a:spcAft>
              <a:buNone/>
            </a:pPr>
            <a:r>
              <a:t/>
            </a:r>
            <a:endParaRPr sz="2700"/>
          </a:p>
        </p:txBody>
      </p:sp>
      <p:pic>
        <p:nvPicPr>
          <p:cNvPr descr="Screenshot of terminal window showing the following commands: &#10;&quot;pixi add python&quot; to add Python,&#10;&quot;pixi add numpy&quot; to add the NumPy package, and &quot;pixi add r&quot; and &quot;pixi add r-dplyr&quot; to add R and one R package." id="308" name="Google Shape;308;p31" title="Screenshot 2026-02-09 at 1.00.50 PM.png"/>
          <p:cNvPicPr preferRelativeResize="0"/>
          <p:nvPr/>
        </p:nvPicPr>
        <p:blipFill>
          <a:blip r:embed="rId3">
            <a:alphaModFix/>
          </a:blip>
          <a:stretch>
            <a:fillRect/>
          </a:stretch>
        </p:blipFill>
        <p:spPr>
          <a:xfrm>
            <a:off x="2004988" y="1466625"/>
            <a:ext cx="5133975" cy="16764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2"/>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2"/>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Checking </a:t>
            </a:r>
            <a:r>
              <a:rPr lang="en">
                <a:latin typeface="Consolas"/>
                <a:ea typeface="Consolas"/>
                <a:cs typeface="Consolas"/>
                <a:sym typeface="Consolas"/>
              </a:rPr>
              <a:t>pixi.toml</a:t>
            </a:r>
            <a:endParaRPr>
              <a:latin typeface="Consolas"/>
              <a:ea typeface="Consolas"/>
              <a:cs typeface="Consolas"/>
              <a:sym typeface="Consolas"/>
            </a:endParaRPr>
          </a:p>
        </p:txBody>
      </p:sp>
      <p:pic>
        <p:nvPicPr>
          <p:cNvPr descr="View of the example pixi.toml file generated and modified using pixi, listing workspace metadata including authors, channels, name, platforms, and version. The .toml also lists dependencies for Python, Numpy, R, and R-dplyr." id="315" name="Google Shape;315;p32" title="Screenshot 2026-02-09 at 1.02.04 PM.png"/>
          <p:cNvPicPr preferRelativeResize="0"/>
          <p:nvPr/>
        </p:nvPicPr>
        <p:blipFill rotWithShape="1">
          <a:blip r:embed="rId3">
            <a:alphaModFix/>
          </a:blip>
          <a:srcRect b="26216" l="0" r="2296" t="0"/>
          <a:stretch/>
        </p:blipFill>
        <p:spPr>
          <a:xfrm>
            <a:off x="713225" y="1104492"/>
            <a:ext cx="4279324" cy="2809225"/>
          </a:xfrm>
          <a:prstGeom prst="rect">
            <a:avLst/>
          </a:prstGeom>
          <a:noFill/>
          <a:ln>
            <a:noFill/>
          </a:ln>
          <a:effectLst>
            <a:outerShdw blurRad="57150" rotWithShape="0" algn="bl" dir="5400000" dist="19050">
              <a:srgbClr val="000000">
                <a:alpha val="50000"/>
              </a:srgbClr>
            </a:outerShdw>
          </a:effectLst>
        </p:spPr>
      </p:pic>
      <p:sp>
        <p:nvSpPr>
          <p:cNvPr id="316" name="Google Shape;316;p32"/>
          <p:cNvSpPr txBox="1"/>
          <p:nvPr/>
        </p:nvSpPr>
        <p:spPr>
          <a:xfrm>
            <a:off x="5195050" y="1201200"/>
            <a:ext cx="3165300" cy="274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 sz="1800">
                <a:solidFill>
                  <a:schemeClr val="dk1"/>
                </a:solidFill>
                <a:latin typeface="Open Sans"/>
                <a:ea typeface="Open Sans"/>
                <a:cs typeface="Open Sans"/>
                <a:sym typeface="Open Sans"/>
              </a:rPr>
              <a:t>The </a:t>
            </a:r>
            <a:r>
              <a:rPr b="1" lang="en" sz="1800">
                <a:solidFill>
                  <a:schemeClr val="dk1"/>
                </a:solidFill>
                <a:latin typeface="Consolas"/>
                <a:ea typeface="Consolas"/>
                <a:cs typeface="Consolas"/>
                <a:sym typeface="Consolas"/>
              </a:rPr>
              <a:t>pixi.toml</a:t>
            </a:r>
            <a:r>
              <a:rPr lang="en" sz="1800">
                <a:solidFill>
                  <a:schemeClr val="dk1"/>
                </a:solidFill>
                <a:latin typeface="Open Sans"/>
                <a:ea typeface="Open Sans"/>
                <a:cs typeface="Open Sans"/>
                <a:sym typeface="Open Sans"/>
              </a:rPr>
              <a:t> file is now a reproducible record of all dependencies needed for the software.</a:t>
            </a:r>
            <a:endParaRPr>
              <a:solidFill>
                <a:schemeClr val="dk1"/>
              </a:solidFill>
              <a:latin typeface="Open Sans"/>
              <a:ea typeface="Open Sans"/>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3"/>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Running Code with pixi</a:t>
            </a:r>
            <a:endParaRPr/>
          </a:p>
        </p:txBody>
      </p:sp>
      <p:pic>
        <p:nvPicPr>
          <p:cNvPr descr="Screenshot showing commands to run example Python and R code:&#10;&quot;pixi run python script.py&quot; and &quot;pixi run Rscript analysis.R&quot;." id="322" name="Google Shape;322;p33" title="Screenshot 2026-02-09 at 1.08.41 PM.png"/>
          <p:cNvPicPr preferRelativeResize="0"/>
          <p:nvPr/>
        </p:nvPicPr>
        <p:blipFill rotWithShape="1">
          <a:blip r:embed="rId3">
            <a:alphaModFix/>
          </a:blip>
          <a:srcRect b="11669" l="0" r="26041" t="0"/>
          <a:stretch/>
        </p:blipFill>
        <p:spPr>
          <a:xfrm>
            <a:off x="1082825" y="1304363"/>
            <a:ext cx="3537100" cy="2534775"/>
          </a:xfrm>
          <a:prstGeom prst="rect">
            <a:avLst/>
          </a:prstGeom>
          <a:noFill/>
          <a:ln>
            <a:noFill/>
          </a:ln>
          <a:effectLst>
            <a:outerShdw blurRad="57150" rotWithShape="0" algn="bl" dir="5400000" dist="19050">
              <a:srgbClr val="000000">
                <a:alpha val="50000"/>
              </a:srgbClr>
            </a:outerShdw>
          </a:effectLst>
        </p:spPr>
      </p:pic>
      <p:sp>
        <p:nvSpPr>
          <p:cNvPr id="323" name="Google Shape;323;p33"/>
          <p:cNvSpPr txBox="1"/>
          <p:nvPr/>
        </p:nvSpPr>
        <p:spPr>
          <a:xfrm>
            <a:off x="4951225" y="1487250"/>
            <a:ext cx="3302400" cy="21690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chemeClr val="dk1"/>
              </a:buClr>
              <a:buSzPts val="1400"/>
              <a:buChar char="●"/>
            </a:pPr>
            <a:r>
              <a:rPr lang="en">
                <a:solidFill>
                  <a:schemeClr val="dk1"/>
                </a:solidFill>
                <a:latin typeface="Open Sans"/>
                <a:ea typeface="Open Sans"/>
                <a:cs typeface="Open Sans"/>
                <a:sym typeface="Open Sans"/>
              </a:rPr>
              <a:t>Every command is executed inside the environment described by </a:t>
            </a:r>
            <a:r>
              <a:rPr b="1" lang="en">
                <a:solidFill>
                  <a:schemeClr val="dk1"/>
                </a:solidFill>
                <a:latin typeface="Consolas"/>
                <a:ea typeface="Consolas"/>
                <a:cs typeface="Consolas"/>
                <a:sym typeface="Consolas"/>
              </a:rPr>
              <a:t>pixi.toml</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317500" lvl="0" marL="457200" rtl="0" algn="l">
              <a:lnSpc>
                <a:spcPct val="115000"/>
              </a:lnSpc>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This makes it easier for others to test, cite, extend, build upon your work.</a:t>
            </a:r>
            <a:endParaRPr>
              <a:solidFill>
                <a:schemeClr val="dk1"/>
              </a:solidFill>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4"/>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t>A reusable research software project contains not only code, but:</a:t>
            </a:r>
            <a:endParaRPr sz="1400"/>
          </a:p>
          <a:p>
            <a:pPr indent="-317500" lvl="0" marL="457200" rtl="0" algn="l">
              <a:lnSpc>
                <a:spcPct val="115000"/>
              </a:lnSpc>
              <a:spcBef>
                <a:spcPts val="1200"/>
              </a:spcBef>
              <a:spcAft>
                <a:spcPts val="0"/>
              </a:spcAft>
              <a:buClr>
                <a:schemeClr val="dk1"/>
              </a:buClr>
              <a:buSzPts val="1400"/>
              <a:buFont typeface="Open Sans"/>
              <a:buChar char="●"/>
            </a:pPr>
            <a:r>
              <a:rPr lang="en" sz="1400"/>
              <a:t>Licensing</a:t>
            </a:r>
            <a:endParaRPr sz="1400"/>
          </a:p>
          <a:p>
            <a:pPr indent="-317500" lvl="0" marL="457200" rtl="0" algn="l">
              <a:lnSpc>
                <a:spcPct val="115000"/>
              </a:lnSpc>
              <a:spcBef>
                <a:spcPts val="0"/>
              </a:spcBef>
              <a:spcAft>
                <a:spcPts val="0"/>
              </a:spcAft>
              <a:buClr>
                <a:schemeClr val="dk1"/>
              </a:buClr>
              <a:buSzPts val="1400"/>
              <a:buFont typeface="Open Sans"/>
              <a:buChar char="●"/>
            </a:pPr>
            <a:r>
              <a:rPr lang="en" sz="1400"/>
              <a:t>authorship and citation metadata (CITATION.cff)</a:t>
            </a:r>
            <a:endParaRPr sz="1400"/>
          </a:p>
          <a:p>
            <a:pPr indent="-317500" lvl="0" marL="457200" rtl="0" algn="l">
              <a:lnSpc>
                <a:spcPct val="115000"/>
              </a:lnSpc>
              <a:spcBef>
                <a:spcPts val="0"/>
              </a:spcBef>
              <a:spcAft>
                <a:spcPts val="0"/>
              </a:spcAft>
              <a:buClr>
                <a:schemeClr val="dk1"/>
              </a:buClr>
              <a:buSzPts val="1400"/>
              <a:buFont typeface="Open Sans"/>
              <a:buChar char="●"/>
            </a:pPr>
            <a:r>
              <a:rPr lang="en" sz="1400"/>
              <a:t>version information</a:t>
            </a:r>
            <a:endParaRPr sz="1400"/>
          </a:p>
          <a:p>
            <a:pPr indent="-317500" lvl="0" marL="457200" rtl="0" algn="l">
              <a:lnSpc>
                <a:spcPct val="115000"/>
              </a:lnSpc>
              <a:spcBef>
                <a:spcPts val="0"/>
              </a:spcBef>
              <a:spcAft>
                <a:spcPts val="0"/>
              </a:spcAft>
              <a:buClr>
                <a:schemeClr val="dk1"/>
              </a:buClr>
              <a:buSzPts val="1400"/>
              <a:buFont typeface="Open Sans"/>
              <a:buChar char="●"/>
            </a:pPr>
            <a:r>
              <a:rPr lang="en" sz="1400"/>
              <a:t>a </a:t>
            </a:r>
            <a:r>
              <a:rPr b="1" lang="en" sz="1400"/>
              <a:t>documented environment</a:t>
            </a:r>
            <a:endParaRPr b="1"/>
          </a:p>
        </p:txBody>
      </p:sp>
      <p:sp>
        <p:nvSpPr>
          <p:cNvPr id="329" name="Google Shape;329;p34"/>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00"/>
              <a:t>How Environments Support Citation and Reuse</a:t>
            </a:r>
            <a:endParaRPr sz="28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5"/>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Publishing</a:t>
            </a:r>
            <a:r>
              <a:rPr lang="en"/>
              <a:t> and Citation</a:t>
            </a:r>
            <a:endParaRPr/>
          </a:p>
        </p:txBody>
      </p:sp>
      <p:sp>
        <p:nvSpPr>
          <p:cNvPr id="335" name="Google Shape;335;p35"/>
          <p:cNvSpPr txBox="1"/>
          <p:nvPr/>
        </p:nvSpPr>
        <p:spPr>
          <a:xfrm>
            <a:off x="4888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a:solidFill>
                  <a:schemeClr val="dk1"/>
                </a:solidFill>
                <a:latin typeface="Open Sans"/>
                <a:ea typeface="Open Sans"/>
                <a:cs typeface="Open Sans"/>
                <a:sym typeface="Open Sans"/>
              </a:rPr>
              <a:t>When publishing your software, include:</a:t>
            </a:r>
            <a:endParaRPr>
              <a:solidFill>
                <a:schemeClr val="dk1"/>
              </a:solidFill>
              <a:latin typeface="Open Sans"/>
              <a:ea typeface="Open Sans"/>
              <a:cs typeface="Open Sans"/>
              <a:sym typeface="Open Sans"/>
            </a:endParaRPr>
          </a:p>
          <a:p>
            <a:pPr indent="-330200" lvl="0" marL="457200" rtl="0" algn="l">
              <a:lnSpc>
                <a:spcPct val="115000"/>
              </a:lnSpc>
              <a:spcBef>
                <a:spcPts val="1200"/>
              </a:spcBef>
              <a:spcAft>
                <a:spcPts val="0"/>
              </a:spcAft>
              <a:buClr>
                <a:schemeClr val="dk1"/>
              </a:buClr>
              <a:buSzPts val="1600"/>
              <a:buChar char="●"/>
            </a:pPr>
            <a:r>
              <a:rPr lang="en" sz="1600">
                <a:solidFill>
                  <a:schemeClr val="dk1"/>
                </a:solidFill>
                <a:latin typeface="Open Sans"/>
                <a:ea typeface="Open Sans"/>
                <a:cs typeface="Open Sans"/>
                <a:sym typeface="Open Sans"/>
              </a:rPr>
              <a:t>the </a:t>
            </a:r>
            <a:r>
              <a:rPr lang="en" sz="1600">
                <a:solidFill>
                  <a:schemeClr val="dk1"/>
                </a:solidFill>
                <a:latin typeface="Consolas"/>
                <a:ea typeface="Consolas"/>
                <a:cs typeface="Consolas"/>
                <a:sym typeface="Consolas"/>
              </a:rPr>
              <a:t>pixi.toml</a:t>
            </a:r>
            <a:r>
              <a:rPr lang="en" sz="1600">
                <a:solidFill>
                  <a:schemeClr val="dk1"/>
                </a:solidFill>
                <a:latin typeface="Open Sans"/>
                <a:ea typeface="Open Sans"/>
                <a:cs typeface="Open Sans"/>
                <a:sym typeface="Open Sans"/>
              </a:rPr>
              <a:t> file</a:t>
            </a:r>
            <a:endParaRPr sz="1600">
              <a:solidFill>
                <a:schemeClr val="dk1"/>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latin typeface="Open Sans"/>
                <a:ea typeface="Open Sans"/>
                <a:cs typeface="Open Sans"/>
                <a:sym typeface="Open Sans"/>
              </a:rPr>
              <a:t>instructions such as:</a:t>
            </a:r>
            <a:br>
              <a:rPr lang="en" sz="1600">
                <a:solidFill>
                  <a:schemeClr val="dk1"/>
                </a:solidFill>
                <a:latin typeface="Open Sans"/>
                <a:ea typeface="Open Sans"/>
                <a:cs typeface="Open Sans"/>
                <a:sym typeface="Open Sans"/>
              </a:rPr>
            </a:br>
            <a:r>
              <a:rPr lang="en" sz="1600">
                <a:solidFill>
                  <a:schemeClr val="dk1"/>
                </a:solidFill>
                <a:latin typeface="Open Sans"/>
                <a:ea typeface="Open Sans"/>
                <a:cs typeface="Open Sans"/>
                <a:sym typeface="Open Sans"/>
              </a:rPr>
              <a:t>	</a:t>
            </a:r>
            <a:r>
              <a:rPr b="1" lang="en" sz="1600">
                <a:solidFill>
                  <a:schemeClr val="dk1"/>
                </a:solidFill>
                <a:highlight>
                  <a:schemeClr val="lt1"/>
                </a:highlight>
                <a:latin typeface="Consolas"/>
                <a:ea typeface="Consolas"/>
                <a:cs typeface="Consolas"/>
                <a:sym typeface="Consolas"/>
              </a:rPr>
              <a:t>pixi run</a:t>
            </a:r>
            <a:r>
              <a:rPr lang="en" sz="1600">
                <a:solidFill>
                  <a:schemeClr val="dk1"/>
                </a:solidFill>
                <a:highlight>
                  <a:schemeClr val="lt1"/>
                </a:highlight>
                <a:latin typeface="Consolas"/>
                <a:ea typeface="Consolas"/>
                <a:cs typeface="Consolas"/>
                <a:sym typeface="Consolas"/>
              </a:rPr>
              <a:t> </a:t>
            </a:r>
            <a:r>
              <a:rPr b="1" lang="en" sz="1600">
                <a:solidFill>
                  <a:schemeClr val="dk1"/>
                </a:solidFill>
                <a:highlight>
                  <a:schemeClr val="lt1"/>
                </a:highlight>
                <a:latin typeface="Consolas"/>
                <a:ea typeface="Consolas"/>
                <a:cs typeface="Consolas"/>
                <a:sym typeface="Consolas"/>
              </a:rPr>
              <a:t>python script.py</a:t>
            </a:r>
            <a:endParaRPr sz="1600">
              <a:solidFill>
                <a:schemeClr val="dk1"/>
              </a:solidFill>
              <a:highlight>
                <a:schemeClr val="lt1"/>
              </a:highlight>
              <a:latin typeface="Consolas"/>
              <a:ea typeface="Consolas"/>
              <a:cs typeface="Consolas"/>
              <a:sym typeface="Consolas"/>
            </a:endParaRPr>
          </a:p>
        </p:txBody>
      </p:sp>
      <p:sp>
        <p:nvSpPr>
          <p:cNvPr id="336" name="Google Shape;336;p35"/>
          <p:cNvSpPr txBox="1"/>
          <p:nvPr/>
        </p:nvSpPr>
        <p:spPr>
          <a:xfrm>
            <a:off x="4678400" y="1152475"/>
            <a:ext cx="39999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a:solidFill>
                  <a:schemeClr val="dk1"/>
                </a:solidFill>
                <a:latin typeface="Open Sans"/>
                <a:ea typeface="Open Sans"/>
                <a:cs typeface="Open Sans"/>
                <a:sym typeface="Open Sans"/>
              </a:rPr>
              <a:t>Reuse in practice:</a:t>
            </a:r>
            <a:endParaRPr>
              <a:solidFill>
                <a:schemeClr val="dk1"/>
              </a:solidFill>
              <a:latin typeface="Open Sans"/>
              <a:ea typeface="Open Sans"/>
              <a:cs typeface="Open Sans"/>
              <a:sym typeface="Open Sans"/>
            </a:endParaRPr>
          </a:p>
          <a:p>
            <a:pPr indent="-317500" lvl="0" marL="457200" rtl="0" algn="l">
              <a:lnSpc>
                <a:spcPct val="115000"/>
              </a:lnSpc>
              <a:spcBef>
                <a:spcPts val="1200"/>
              </a:spcBef>
              <a:spcAft>
                <a:spcPts val="0"/>
              </a:spcAft>
              <a:buClr>
                <a:schemeClr val="dk1"/>
              </a:buClr>
              <a:buSzPts val="1400"/>
              <a:buChar char="●"/>
            </a:pPr>
            <a:r>
              <a:rPr lang="en">
                <a:solidFill>
                  <a:schemeClr val="dk1"/>
                </a:solidFill>
                <a:latin typeface="Open Sans"/>
                <a:ea typeface="Open Sans"/>
                <a:cs typeface="Open Sans"/>
                <a:sym typeface="Open Sans"/>
              </a:rPr>
              <a:t>Including </a:t>
            </a:r>
            <a:r>
              <a:rPr lang="en">
                <a:solidFill>
                  <a:schemeClr val="dk1"/>
                </a:solidFill>
                <a:latin typeface="Consolas"/>
                <a:ea typeface="Consolas"/>
                <a:cs typeface="Consolas"/>
                <a:sym typeface="Consolas"/>
              </a:rPr>
              <a:t>pixi.toml</a:t>
            </a:r>
            <a:r>
              <a:rPr lang="en">
                <a:solidFill>
                  <a:schemeClr val="dk1"/>
                </a:solidFill>
                <a:latin typeface="Open Sans"/>
                <a:ea typeface="Open Sans"/>
                <a:cs typeface="Open Sans"/>
                <a:sym typeface="Open Sans"/>
              </a:rPr>
              <a:t> in your repository or DOI deposit helps future readers:</a:t>
            </a:r>
            <a:endParaRPr>
              <a:solidFill>
                <a:schemeClr val="dk1"/>
              </a:solidFill>
              <a:latin typeface="Open Sans"/>
              <a:ea typeface="Open Sans"/>
              <a:cs typeface="Open Sans"/>
              <a:sym typeface="Open Sans"/>
            </a:endParaRPr>
          </a:p>
          <a:p>
            <a:pPr indent="-317500" lvl="1" marL="914400" rtl="0" algn="l">
              <a:lnSpc>
                <a:spcPct val="115000"/>
              </a:lnSpc>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recreate the execution environment</a:t>
            </a:r>
            <a:endParaRPr>
              <a:solidFill>
                <a:schemeClr val="dk1"/>
              </a:solidFill>
              <a:latin typeface="Open Sans"/>
              <a:ea typeface="Open Sans"/>
              <a:cs typeface="Open Sans"/>
              <a:sym typeface="Open Sans"/>
            </a:endParaRPr>
          </a:p>
          <a:p>
            <a:pPr indent="-317500" lvl="1" marL="914400" rtl="0" algn="l">
              <a:lnSpc>
                <a:spcPct val="115000"/>
              </a:lnSpc>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verify results</a:t>
            </a:r>
            <a:endParaRPr>
              <a:solidFill>
                <a:schemeClr val="dk1"/>
              </a:solidFill>
              <a:latin typeface="Open Sans"/>
              <a:ea typeface="Open Sans"/>
              <a:cs typeface="Open Sans"/>
              <a:sym typeface="Open Sans"/>
            </a:endParaRPr>
          </a:p>
          <a:p>
            <a:pPr indent="-317500" lvl="1" marL="914400" rtl="0" algn="l">
              <a:lnSpc>
                <a:spcPct val="115000"/>
              </a:lnSpc>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adapt your code for new analyses</a:t>
            </a:r>
            <a:endParaRPr>
              <a:solidFill>
                <a:schemeClr val="dk1"/>
              </a:solidFill>
              <a:latin typeface="Open Sans"/>
              <a:ea typeface="Open Sans"/>
              <a:cs typeface="Open Sans"/>
              <a:sym typeface="Open Sans"/>
            </a:endParaRPr>
          </a:p>
          <a:p>
            <a:pPr indent="-317500" lvl="1" marL="914400" rtl="0" algn="l">
              <a:lnSpc>
                <a:spcPct val="115000"/>
              </a:lnSpc>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evaluate whether the software is FAIR (Findable, Accessible, Interoperable, Reusable)</a:t>
            </a:r>
            <a:endParaRPr sz="1200">
              <a:solidFill>
                <a:schemeClr val="dk1"/>
              </a:solidFill>
              <a:latin typeface="Open Sans"/>
              <a:ea typeface="Open Sans"/>
              <a:cs typeface="Open Sans"/>
              <a:sym typeface="Open Sans"/>
            </a:endParaRPr>
          </a:p>
          <a:p>
            <a:pPr indent="0" lvl="0" marL="0" rtl="0" algn="l">
              <a:lnSpc>
                <a:spcPct val="115000"/>
              </a:lnSpc>
              <a:spcBef>
                <a:spcPts val="1200"/>
              </a:spcBef>
              <a:spcAft>
                <a:spcPts val="1200"/>
              </a:spcAft>
              <a:buNone/>
            </a:pPr>
            <a:r>
              <a:t/>
            </a:r>
            <a:endParaRPr>
              <a:solidFill>
                <a:schemeClr val="dk1"/>
              </a:solidFill>
              <a:latin typeface="Open Sans"/>
              <a:ea typeface="Open Sans"/>
              <a:cs typeface="Open Sans"/>
              <a:sym typeface="Open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6"/>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Scenario: </a:t>
            </a:r>
            <a:r>
              <a:rPr lang="en" sz="1500"/>
              <a:t> You publish a paper using someone's code.</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b="1" lang="en" sz="1500"/>
              <a:t>❌ Bad Citation:</a:t>
            </a:r>
            <a:r>
              <a:rPr lang="en" sz="1500"/>
              <a:t> &gt; "We used the analysis script from https://github.com/jt14den/software-demo"</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b="1" lang="en" sz="1500"/>
              <a:t>Problems:</a:t>
            </a:r>
            <a:endParaRPr b="1" sz="1500"/>
          </a:p>
          <a:p>
            <a:pPr indent="0" lvl="0" marL="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URL breaks (link rot)</a:t>
            </a:r>
            <a:endParaRPr sz="1500"/>
          </a:p>
          <a:p>
            <a:pPr indent="-323850" lvl="0" marL="457200" rtl="0" algn="l">
              <a:spcBef>
                <a:spcPts val="0"/>
              </a:spcBef>
              <a:spcAft>
                <a:spcPts val="0"/>
              </a:spcAft>
              <a:buSzPts val="1500"/>
              <a:buChar char="●"/>
            </a:pPr>
            <a:r>
              <a:rPr lang="en" sz="1500"/>
              <a:t>No version specified</a:t>
            </a:r>
            <a:endParaRPr sz="1500"/>
          </a:p>
          <a:p>
            <a:pPr indent="-323850" lvl="0" marL="457200" rtl="0" algn="l">
              <a:spcBef>
                <a:spcPts val="0"/>
              </a:spcBef>
              <a:spcAft>
                <a:spcPts val="0"/>
              </a:spcAft>
              <a:buSzPts val="1500"/>
              <a:buChar char="●"/>
            </a:pPr>
            <a:r>
              <a:rPr lang="en" sz="1500"/>
              <a:t>No formal credit</a:t>
            </a:r>
            <a:endParaRPr sz="1500"/>
          </a:p>
          <a:p>
            <a:pPr indent="-323850" lvl="0" marL="457200" rtl="0" algn="l">
              <a:spcBef>
                <a:spcPts val="0"/>
              </a:spcBef>
              <a:spcAft>
                <a:spcPts val="0"/>
              </a:spcAft>
              <a:buSzPts val="1500"/>
              <a:buChar char="●"/>
            </a:pPr>
            <a:r>
              <a:rPr lang="en" sz="1500"/>
              <a:t>Author's name not visible</a:t>
            </a:r>
            <a:endParaRPr sz="1500"/>
          </a:p>
        </p:txBody>
      </p:sp>
      <p:sp>
        <p:nvSpPr>
          <p:cNvPr id="342" name="Google Shape;342;p36"/>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Citation Problem</a:t>
            </a:r>
            <a:endParaRPr/>
          </a:p>
          <a:p>
            <a:pPr indent="0" lvl="0" marL="0" rtl="0" algn="ctr">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7"/>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 Good Citation:</a:t>
            </a:r>
            <a:endParaRPr b="1" sz="1500"/>
          </a:p>
          <a:p>
            <a:pPr indent="0" lvl="0" marL="0" rtl="0" algn="l">
              <a:spcBef>
                <a:spcPts val="0"/>
              </a:spcBef>
              <a:spcAft>
                <a:spcPts val="0"/>
              </a:spcAft>
              <a:buNone/>
            </a:pPr>
            <a:r>
              <a:t/>
            </a:r>
            <a:endParaRPr b="1" sz="1500"/>
          </a:p>
          <a:p>
            <a:pPr indent="0" lvl="0" marL="457200" rtl="0" algn="l">
              <a:spcBef>
                <a:spcPts val="0"/>
              </a:spcBef>
              <a:spcAft>
                <a:spcPts val="0"/>
              </a:spcAft>
              <a:buNone/>
            </a:pPr>
            <a:r>
              <a:rPr lang="en" sz="1500"/>
              <a:t>Dennis, T. (2025). </a:t>
            </a:r>
            <a:r>
              <a:rPr i="1" lang="en" sz="1500"/>
              <a:t>Biodiversity Analysis Toolkit</a:t>
            </a:r>
            <a:r>
              <a:rPr lang="en" sz="1500"/>
              <a:t> (v0.1.0). Zenodo. https://doi.org/10.5281/zenodo.123456</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b="1" lang="en" sz="1500"/>
              <a:t>Why This Works:</a:t>
            </a:r>
            <a:endParaRPr b="1" sz="1500"/>
          </a:p>
          <a:p>
            <a:pPr indent="0" lvl="0" marL="0" rtl="0" algn="l">
              <a:spcBef>
                <a:spcPts val="0"/>
              </a:spcBef>
              <a:spcAft>
                <a:spcPts val="0"/>
              </a:spcAft>
              <a:buNone/>
            </a:pPr>
            <a:r>
              <a:t/>
            </a:r>
            <a:endParaRPr b="1" sz="1500"/>
          </a:p>
          <a:p>
            <a:pPr indent="-323850" lvl="0" marL="457200" rtl="0" algn="l">
              <a:spcBef>
                <a:spcPts val="0"/>
              </a:spcBef>
              <a:spcAft>
                <a:spcPts val="0"/>
              </a:spcAft>
              <a:buSzPts val="1500"/>
              <a:buChar char="●"/>
            </a:pPr>
            <a:r>
              <a:rPr lang="en" sz="1500"/>
              <a:t>DOI is permanent</a:t>
            </a:r>
            <a:endParaRPr sz="1500"/>
          </a:p>
          <a:p>
            <a:pPr indent="-323850" lvl="0" marL="457200" rtl="0" algn="l">
              <a:spcBef>
                <a:spcPts val="0"/>
              </a:spcBef>
              <a:spcAft>
                <a:spcPts val="0"/>
              </a:spcAft>
              <a:buSzPts val="1500"/>
              <a:buChar char="●"/>
            </a:pPr>
            <a:r>
              <a:rPr lang="en" sz="1500"/>
              <a:t>Version is explicit</a:t>
            </a:r>
            <a:endParaRPr sz="1500"/>
          </a:p>
          <a:p>
            <a:pPr indent="-323850" lvl="0" marL="457200" rtl="0" algn="l">
              <a:spcBef>
                <a:spcPts val="0"/>
              </a:spcBef>
              <a:spcAft>
                <a:spcPts val="0"/>
              </a:spcAft>
              <a:buSzPts val="1500"/>
              <a:buChar char="●"/>
            </a:pPr>
            <a:r>
              <a:rPr lang="en" sz="1500"/>
              <a:t>Author gets formal credit</a:t>
            </a:r>
            <a:endParaRPr sz="1500"/>
          </a:p>
          <a:p>
            <a:pPr indent="-323850" lvl="0" marL="457200" rtl="0" algn="l">
              <a:spcBef>
                <a:spcPts val="0"/>
              </a:spcBef>
              <a:spcAft>
                <a:spcPts val="0"/>
              </a:spcAft>
              <a:buSzPts val="1500"/>
              <a:buChar char="●"/>
            </a:pPr>
            <a:r>
              <a:rPr lang="en" sz="1500"/>
              <a:t>Appears in citation metrics</a:t>
            </a:r>
            <a:endParaRPr sz="1500"/>
          </a:p>
          <a:p>
            <a:pPr indent="0" lvl="0" marL="0" rtl="0" algn="l">
              <a:spcBef>
                <a:spcPts val="0"/>
              </a:spcBef>
              <a:spcAft>
                <a:spcPts val="0"/>
              </a:spcAft>
              <a:buNone/>
            </a:pPr>
            <a:r>
              <a:t/>
            </a:r>
            <a:endParaRPr b="1" sz="1500"/>
          </a:p>
          <a:p>
            <a:pPr indent="0" lvl="0" marL="0" rtl="0" algn="l">
              <a:spcBef>
                <a:spcPts val="0"/>
              </a:spcBef>
              <a:spcAft>
                <a:spcPts val="0"/>
              </a:spcAft>
              <a:buNone/>
            </a:pPr>
            <a:r>
              <a:rPr b="1" lang="en" sz="1500"/>
              <a:t>The Fix:  CITATION.cff file</a:t>
            </a:r>
            <a:endParaRPr b="1" sz="1500"/>
          </a:p>
        </p:txBody>
      </p:sp>
      <p:sp>
        <p:nvSpPr>
          <p:cNvPr id="348" name="Google Shape;348;p37"/>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Citation Problem</a:t>
            </a:r>
            <a:endParaRPr/>
          </a:p>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8"/>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CITATION.cff: The "Cite Me" Button</a:t>
            </a:r>
            <a:endParaRPr/>
          </a:p>
          <a:p>
            <a:pPr indent="0" lvl="0" marL="0" rtl="0" algn="ctr">
              <a:spcBef>
                <a:spcPts val="0"/>
              </a:spcBef>
              <a:spcAft>
                <a:spcPts val="0"/>
              </a:spcAft>
              <a:buNone/>
            </a:pPr>
            <a:r>
              <a:t/>
            </a:r>
            <a:endParaRPr/>
          </a:p>
        </p:txBody>
      </p:sp>
      <p:sp>
        <p:nvSpPr>
          <p:cNvPr id="354" name="Google Shape;354;p38"/>
          <p:cNvSpPr txBox="1"/>
          <p:nvPr>
            <p:ph idx="1" type="body"/>
          </p:nvPr>
        </p:nvSpPr>
        <p:spPr>
          <a:xfrm>
            <a:off x="713225" y="1088875"/>
            <a:ext cx="5342700" cy="26238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DEE2E6"/>
                </a:solidFill>
                <a:latin typeface="Courier New"/>
                <a:ea typeface="Courier New"/>
                <a:cs typeface="Courier New"/>
                <a:sym typeface="Courier New"/>
              </a:rPr>
              <a:t>cff-version: 1.2.0</a:t>
            </a:r>
            <a:endParaRPr b="1" sz="1400">
              <a:solidFill>
                <a:srgbClr val="DEE2E6"/>
              </a:solidFill>
              <a:latin typeface="Courier New"/>
              <a:ea typeface="Courier New"/>
              <a:cs typeface="Courier New"/>
              <a:sym typeface="Courier New"/>
            </a:endParaRPr>
          </a:p>
          <a:p>
            <a:pPr indent="0" lvl="0" marL="0" rtl="0" algn="l">
              <a:spcBef>
                <a:spcPts val="0"/>
              </a:spcBef>
              <a:spcAft>
                <a:spcPts val="0"/>
              </a:spcAft>
              <a:buNone/>
            </a:pPr>
            <a:r>
              <a:rPr b="1" lang="en" sz="1400">
                <a:solidFill>
                  <a:srgbClr val="DEE2E6"/>
                </a:solidFill>
                <a:latin typeface="Courier New"/>
                <a:ea typeface="Courier New"/>
                <a:cs typeface="Courier New"/>
                <a:sym typeface="Courier New"/>
              </a:rPr>
              <a:t>message: "If you use this software, please cite it as below."</a:t>
            </a:r>
            <a:endParaRPr b="1" sz="1400">
              <a:solidFill>
                <a:srgbClr val="DEE2E6"/>
              </a:solidFill>
              <a:latin typeface="Courier New"/>
              <a:ea typeface="Courier New"/>
              <a:cs typeface="Courier New"/>
              <a:sym typeface="Courier New"/>
            </a:endParaRPr>
          </a:p>
          <a:p>
            <a:pPr indent="0" lvl="0" marL="0" rtl="0" algn="l">
              <a:spcBef>
                <a:spcPts val="0"/>
              </a:spcBef>
              <a:spcAft>
                <a:spcPts val="0"/>
              </a:spcAft>
              <a:buNone/>
            </a:pPr>
            <a:r>
              <a:rPr b="1" lang="en" sz="1400">
                <a:solidFill>
                  <a:srgbClr val="DEE2E6"/>
                </a:solidFill>
                <a:latin typeface="Courier New"/>
                <a:ea typeface="Courier New"/>
                <a:cs typeface="Courier New"/>
                <a:sym typeface="Courier New"/>
              </a:rPr>
              <a:t>authors:</a:t>
            </a:r>
            <a:endParaRPr b="1" sz="1400">
              <a:solidFill>
                <a:srgbClr val="DEE2E6"/>
              </a:solidFill>
              <a:latin typeface="Courier New"/>
              <a:ea typeface="Courier New"/>
              <a:cs typeface="Courier New"/>
              <a:sym typeface="Courier New"/>
            </a:endParaRPr>
          </a:p>
          <a:p>
            <a:pPr indent="0" lvl="0" marL="0" rtl="0" algn="l">
              <a:spcBef>
                <a:spcPts val="0"/>
              </a:spcBef>
              <a:spcAft>
                <a:spcPts val="0"/>
              </a:spcAft>
              <a:buNone/>
            </a:pPr>
            <a:r>
              <a:rPr b="1" lang="en" sz="1400">
                <a:solidFill>
                  <a:srgbClr val="DEE2E6"/>
                </a:solidFill>
                <a:latin typeface="Courier New"/>
                <a:ea typeface="Courier New"/>
                <a:cs typeface="Courier New"/>
                <a:sym typeface="Courier New"/>
              </a:rPr>
              <a:t>  - family-names: "Dennis"</a:t>
            </a:r>
            <a:endParaRPr b="1" sz="1400">
              <a:solidFill>
                <a:srgbClr val="DEE2E6"/>
              </a:solidFill>
              <a:latin typeface="Courier New"/>
              <a:ea typeface="Courier New"/>
              <a:cs typeface="Courier New"/>
              <a:sym typeface="Courier New"/>
            </a:endParaRPr>
          </a:p>
          <a:p>
            <a:pPr indent="0" lvl="0" marL="0" rtl="0" algn="l">
              <a:spcBef>
                <a:spcPts val="0"/>
              </a:spcBef>
              <a:spcAft>
                <a:spcPts val="0"/>
              </a:spcAft>
              <a:buNone/>
            </a:pPr>
            <a:r>
              <a:rPr b="1" lang="en" sz="1400">
                <a:solidFill>
                  <a:srgbClr val="DEE2E6"/>
                </a:solidFill>
                <a:latin typeface="Courier New"/>
                <a:ea typeface="Courier New"/>
                <a:cs typeface="Courier New"/>
                <a:sym typeface="Courier New"/>
              </a:rPr>
              <a:t>    given-names: "Tim"</a:t>
            </a:r>
            <a:endParaRPr b="1" sz="1400">
              <a:solidFill>
                <a:srgbClr val="DEE2E6"/>
              </a:solidFill>
              <a:latin typeface="Courier New"/>
              <a:ea typeface="Courier New"/>
              <a:cs typeface="Courier New"/>
              <a:sym typeface="Courier New"/>
            </a:endParaRPr>
          </a:p>
          <a:p>
            <a:pPr indent="0" lvl="0" marL="0" rtl="0" algn="l">
              <a:spcBef>
                <a:spcPts val="0"/>
              </a:spcBef>
              <a:spcAft>
                <a:spcPts val="0"/>
              </a:spcAft>
              <a:buNone/>
            </a:pPr>
            <a:r>
              <a:rPr b="1" lang="en" sz="1400">
                <a:solidFill>
                  <a:srgbClr val="DEE2E6"/>
                </a:solidFill>
                <a:latin typeface="Courier New"/>
                <a:ea typeface="Courier New"/>
                <a:cs typeface="Courier New"/>
                <a:sym typeface="Courier New"/>
              </a:rPr>
              <a:t>    orcid: "https://orcid.org/0000-0002-1234-5678"</a:t>
            </a:r>
            <a:endParaRPr b="1" sz="1400">
              <a:solidFill>
                <a:srgbClr val="DEE2E6"/>
              </a:solidFill>
              <a:latin typeface="Courier New"/>
              <a:ea typeface="Courier New"/>
              <a:cs typeface="Courier New"/>
              <a:sym typeface="Courier New"/>
            </a:endParaRPr>
          </a:p>
          <a:p>
            <a:pPr indent="0" lvl="0" marL="0" rtl="0" algn="l">
              <a:spcBef>
                <a:spcPts val="0"/>
              </a:spcBef>
              <a:spcAft>
                <a:spcPts val="0"/>
              </a:spcAft>
              <a:buNone/>
            </a:pPr>
            <a:r>
              <a:rPr b="1" lang="en" sz="1400">
                <a:solidFill>
                  <a:srgbClr val="DEE2E6"/>
                </a:solidFill>
                <a:latin typeface="Courier New"/>
                <a:ea typeface="Courier New"/>
                <a:cs typeface="Courier New"/>
                <a:sym typeface="Courier New"/>
              </a:rPr>
              <a:t>title: "Biodiversity Analysis Toolkit"</a:t>
            </a:r>
            <a:endParaRPr b="1" sz="1400">
              <a:solidFill>
                <a:srgbClr val="DEE2E6"/>
              </a:solidFill>
              <a:latin typeface="Courier New"/>
              <a:ea typeface="Courier New"/>
              <a:cs typeface="Courier New"/>
              <a:sym typeface="Courier New"/>
            </a:endParaRPr>
          </a:p>
          <a:p>
            <a:pPr indent="0" lvl="0" marL="0" rtl="0" algn="l">
              <a:spcBef>
                <a:spcPts val="0"/>
              </a:spcBef>
              <a:spcAft>
                <a:spcPts val="0"/>
              </a:spcAft>
              <a:buNone/>
            </a:pPr>
            <a:r>
              <a:rPr b="1" lang="en" sz="1400">
                <a:solidFill>
                  <a:srgbClr val="DEE2E6"/>
                </a:solidFill>
                <a:latin typeface="Courier New"/>
                <a:ea typeface="Courier New"/>
                <a:cs typeface="Courier New"/>
                <a:sym typeface="Courier New"/>
              </a:rPr>
              <a:t>version: 0.1.0</a:t>
            </a:r>
            <a:endParaRPr b="1" sz="1400">
              <a:solidFill>
                <a:srgbClr val="DEE2E6"/>
              </a:solidFill>
              <a:latin typeface="Courier New"/>
              <a:ea typeface="Courier New"/>
              <a:cs typeface="Courier New"/>
              <a:sym typeface="Courier New"/>
            </a:endParaRPr>
          </a:p>
          <a:p>
            <a:pPr indent="0" lvl="0" marL="0" rtl="0" algn="l">
              <a:spcBef>
                <a:spcPts val="0"/>
              </a:spcBef>
              <a:spcAft>
                <a:spcPts val="0"/>
              </a:spcAft>
              <a:buNone/>
            </a:pPr>
            <a:r>
              <a:rPr b="1" lang="en" sz="1400">
                <a:solidFill>
                  <a:srgbClr val="DEE2E6"/>
                </a:solidFill>
                <a:latin typeface="Courier New"/>
                <a:ea typeface="Courier New"/>
                <a:cs typeface="Courier New"/>
                <a:sym typeface="Courier New"/>
              </a:rPr>
              <a:t>date-released: 2025-01-15</a:t>
            </a:r>
            <a:endParaRPr b="1" sz="1400">
              <a:solidFill>
                <a:srgbClr val="DEE2E6"/>
              </a:solidFill>
              <a:latin typeface="Courier New"/>
              <a:ea typeface="Courier New"/>
              <a:cs typeface="Courier New"/>
              <a:sym typeface="Courier New"/>
            </a:endParaRPr>
          </a:p>
          <a:p>
            <a:pPr indent="0" lvl="0" marL="0" rtl="0" algn="l">
              <a:spcBef>
                <a:spcPts val="0"/>
              </a:spcBef>
              <a:spcAft>
                <a:spcPts val="0"/>
              </a:spcAft>
              <a:buNone/>
            </a:pPr>
            <a:r>
              <a:rPr b="1" lang="en" sz="1400">
                <a:solidFill>
                  <a:srgbClr val="DEE2E6"/>
                </a:solidFill>
                <a:latin typeface="Courier New"/>
                <a:ea typeface="Courier New"/>
                <a:cs typeface="Courier New"/>
                <a:sym typeface="Courier New"/>
              </a:rPr>
              <a:t>url: "https://github.com/jt14den/software-demo"</a:t>
            </a:r>
            <a:endParaRPr b="1" sz="1400">
              <a:solidFill>
                <a:srgbClr val="DEE2E6"/>
              </a:solidFill>
              <a:latin typeface="Courier New"/>
              <a:ea typeface="Courier New"/>
              <a:cs typeface="Courier New"/>
              <a:sym typeface="Courier New"/>
            </a:endParaRPr>
          </a:p>
        </p:txBody>
      </p:sp>
      <p:pic>
        <p:nvPicPr>
          <p:cNvPr id="355" name="Google Shape;355;p38" title="Screenshot 2026-02-08 at 6.57.27 PM.png"/>
          <p:cNvPicPr preferRelativeResize="0"/>
          <p:nvPr/>
        </p:nvPicPr>
        <p:blipFill>
          <a:blip r:embed="rId3">
            <a:alphaModFix/>
          </a:blip>
          <a:stretch>
            <a:fillRect/>
          </a:stretch>
        </p:blipFill>
        <p:spPr>
          <a:xfrm>
            <a:off x="6820500" y="3518250"/>
            <a:ext cx="1547026" cy="982125"/>
          </a:xfrm>
          <a:prstGeom prst="rect">
            <a:avLst/>
          </a:prstGeom>
          <a:noFill/>
          <a:ln cap="flat" cmpd="sng" w="28575">
            <a:solidFill>
              <a:schemeClr val="lt1"/>
            </a:solidFill>
            <a:prstDash val="solid"/>
            <a:round/>
            <a:headEnd len="sm" w="sm" type="none"/>
            <a:tailEnd len="sm" w="sm" type="none"/>
          </a:ln>
        </p:spPr>
      </p:pic>
      <p:sp>
        <p:nvSpPr>
          <p:cNvPr id="356" name="Google Shape;356;p38"/>
          <p:cNvSpPr txBox="1"/>
          <p:nvPr/>
        </p:nvSpPr>
        <p:spPr>
          <a:xfrm>
            <a:off x="828700" y="3976500"/>
            <a:ext cx="5673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Open Sans"/>
                <a:ea typeface="Open Sans"/>
                <a:cs typeface="Open Sans"/>
                <a:sym typeface="Open Sans"/>
              </a:rPr>
              <a:t>GitHub creates a "Cite this repository" button automatically!</a:t>
            </a:r>
            <a:endParaRPr sz="1500">
              <a:solidFill>
                <a:schemeClr val="dk1"/>
              </a:solidFill>
              <a:latin typeface="Open Sans"/>
              <a:ea typeface="Open Sans"/>
              <a:cs typeface="Open Sans"/>
              <a:sym typeface="Open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9"/>
          <p:cNvSpPr txBox="1"/>
          <p:nvPr>
            <p:ph idx="1" type="body"/>
          </p:nvPr>
        </p:nvSpPr>
        <p:spPr>
          <a:xfrm>
            <a:off x="452525" y="1088875"/>
            <a:ext cx="3164700" cy="32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Use CFF INIT: </a:t>
            </a:r>
            <a:endParaRPr b="1" sz="1400"/>
          </a:p>
          <a:p>
            <a:pPr indent="0" lvl="0" marL="0" rtl="0" algn="l">
              <a:spcBef>
                <a:spcPts val="0"/>
              </a:spcBef>
              <a:spcAft>
                <a:spcPts val="0"/>
              </a:spcAft>
              <a:buNone/>
            </a:pPr>
            <a:r>
              <a:t/>
            </a:r>
            <a:endParaRPr b="1" sz="1400"/>
          </a:p>
          <a:p>
            <a:pPr indent="-317500" lvl="0" marL="457200" rtl="0" algn="l">
              <a:spcBef>
                <a:spcPts val="0"/>
              </a:spcBef>
              <a:spcAft>
                <a:spcPts val="0"/>
              </a:spcAft>
              <a:buSzPts val="1400"/>
              <a:buChar char="●"/>
            </a:pPr>
            <a:r>
              <a:rPr b="1" lang="en" sz="1400"/>
              <a:t>More information on CFF: </a:t>
            </a:r>
            <a:r>
              <a:rPr b="1" lang="en" sz="1400" u="sng">
                <a:solidFill>
                  <a:schemeClr val="hlink"/>
                </a:solidFill>
                <a:hlinkClick r:id="rId3"/>
              </a:rPr>
              <a:t>https://citation-file-format.github.io/</a:t>
            </a:r>
            <a:r>
              <a:rPr b="1" lang="en" sz="1400"/>
              <a:t> </a:t>
            </a:r>
            <a:endParaRPr b="1" sz="1400"/>
          </a:p>
          <a:p>
            <a:pPr indent="-317500" lvl="0" marL="457200" rtl="0" algn="l">
              <a:spcBef>
                <a:spcPts val="0"/>
              </a:spcBef>
              <a:spcAft>
                <a:spcPts val="0"/>
              </a:spcAft>
              <a:buSzPts val="1400"/>
              <a:buChar char="●"/>
            </a:pPr>
            <a:r>
              <a:rPr b="1" lang="en" sz="1400"/>
              <a:t>A wizard for creating your own CFF file: </a:t>
            </a:r>
            <a:endParaRPr b="1" sz="1400"/>
          </a:p>
          <a:p>
            <a:pPr indent="-317500" lvl="0" marL="457200" rtl="0" algn="l">
              <a:spcBef>
                <a:spcPts val="0"/>
              </a:spcBef>
              <a:spcAft>
                <a:spcPts val="0"/>
              </a:spcAft>
              <a:buSzPts val="1400"/>
              <a:buChar char="●"/>
            </a:pPr>
            <a:r>
              <a:rPr b="1" lang="en" sz="1400" u="sng">
                <a:solidFill>
                  <a:schemeClr val="hlink"/>
                </a:solidFill>
                <a:hlinkClick r:id="rId4"/>
              </a:rPr>
              <a:t>https://citation-file-format.github.io/cff-initializer-javascript/#/</a:t>
            </a:r>
            <a:r>
              <a:rPr b="1" lang="en" sz="1400"/>
              <a:t> </a:t>
            </a:r>
            <a:endParaRPr b="1" sz="1400"/>
          </a:p>
          <a:p>
            <a:pPr indent="-317500" lvl="0" marL="457200" rtl="0" algn="l">
              <a:spcBef>
                <a:spcPts val="0"/>
              </a:spcBef>
              <a:spcAft>
                <a:spcPts val="0"/>
              </a:spcAft>
              <a:buSzPts val="1400"/>
              <a:buChar char="●"/>
            </a:pPr>
            <a:r>
              <a:rPr b="1" lang="en" sz="1400"/>
              <a:t>Fill out, download and add to your repo</a:t>
            </a:r>
            <a:endParaRPr b="1" sz="1400"/>
          </a:p>
        </p:txBody>
      </p:sp>
      <p:sp>
        <p:nvSpPr>
          <p:cNvPr id="362" name="Google Shape;362;p39"/>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How to Create a CFF Doc</a:t>
            </a:r>
            <a:endParaRPr/>
          </a:p>
        </p:txBody>
      </p:sp>
      <p:pic>
        <p:nvPicPr>
          <p:cNvPr id="363" name="Google Shape;363;p39" title="cff-init.png">
            <a:hlinkClick r:id="rId5"/>
          </p:cNvPr>
          <p:cNvPicPr preferRelativeResize="0"/>
          <p:nvPr/>
        </p:nvPicPr>
        <p:blipFill>
          <a:blip r:embed="rId6">
            <a:alphaModFix/>
          </a:blip>
          <a:stretch>
            <a:fillRect/>
          </a:stretch>
        </p:blipFill>
        <p:spPr>
          <a:xfrm>
            <a:off x="3617251" y="1088875"/>
            <a:ext cx="4959273" cy="309954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0"/>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GitHub URLs are not citations. They break.</a:t>
            </a:r>
            <a:endParaRPr b="1" sz="1600"/>
          </a:p>
          <a:p>
            <a:pPr indent="0" lvl="0" marL="0" rtl="0" algn="l">
              <a:spcBef>
                <a:spcPts val="0"/>
              </a:spcBef>
              <a:spcAft>
                <a:spcPts val="0"/>
              </a:spcAft>
              <a:buNone/>
            </a:pPr>
            <a:r>
              <a:t/>
            </a:r>
            <a:endParaRPr sz="1600"/>
          </a:p>
          <a:p>
            <a:pPr indent="0" lvl="0" marL="0" rtl="0" algn="l">
              <a:spcBef>
                <a:spcPts val="0"/>
              </a:spcBef>
              <a:spcAft>
                <a:spcPts val="0"/>
              </a:spcAft>
              <a:buNone/>
            </a:pPr>
            <a:r>
              <a:rPr b="1" lang="en" sz="1600"/>
              <a:t>Timeline:</a:t>
            </a:r>
            <a:endParaRPr b="1" sz="1600"/>
          </a:p>
          <a:p>
            <a:pPr indent="0" lvl="0" marL="0" rtl="0" algn="l">
              <a:spcBef>
                <a:spcPts val="0"/>
              </a:spcBef>
              <a:spcAft>
                <a:spcPts val="0"/>
              </a:spcAft>
              <a:buNone/>
            </a:pPr>
            <a:r>
              <a:t/>
            </a:r>
            <a:endParaRPr sz="1600"/>
          </a:p>
          <a:p>
            <a:pPr indent="0" lvl="0" marL="0" rtl="0" algn="l">
              <a:spcBef>
                <a:spcPts val="0"/>
              </a:spcBef>
              <a:spcAft>
                <a:spcPts val="0"/>
              </a:spcAft>
              <a:buNone/>
            </a:pPr>
            <a:r>
              <a:rPr b="1" lang="en" sz="1600"/>
              <a:t>2020:</a:t>
            </a:r>
            <a:r>
              <a:rPr lang="en" sz="1600"/>
              <a:t>  Project starts → </a:t>
            </a:r>
            <a:r>
              <a:rPr lang="en" sz="1600" u="sng">
                <a:solidFill>
                  <a:schemeClr val="hlink"/>
                </a:solidFill>
                <a:hlinkClick r:id="rId3"/>
              </a:rPr>
              <a:t>github.com/jt14den/software-demo</a:t>
            </a:r>
            <a:endParaRPr sz="1600"/>
          </a:p>
          <a:p>
            <a:pPr indent="0" lvl="0" marL="0" rtl="0" algn="l">
              <a:spcBef>
                <a:spcPts val="0"/>
              </a:spcBef>
              <a:spcAft>
                <a:spcPts val="0"/>
              </a:spcAft>
              <a:buNone/>
            </a:pPr>
            <a:r>
              <a:rPr b="1" lang="en" sz="1600"/>
              <a:t>2022:</a:t>
            </a:r>
            <a:r>
              <a:rPr lang="en" sz="1600"/>
              <a:t>  Author changes username → github.com/timdennis/software-demo</a:t>
            </a:r>
            <a:endParaRPr sz="1600"/>
          </a:p>
          <a:p>
            <a:pPr indent="0" lvl="0" marL="0" rtl="0" algn="l">
              <a:spcBef>
                <a:spcPts val="0"/>
              </a:spcBef>
              <a:spcAft>
                <a:spcPts val="0"/>
              </a:spcAft>
              <a:buNone/>
            </a:pPr>
            <a:r>
              <a:rPr b="1" lang="en" sz="1600"/>
              <a:t>2025:</a:t>
            </a:r>
            <a:r>
              <a:rPr lang="en" sz="1600"/>
              <a:t>  Repository archived → "404 Not Found"</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Your citation is now dead. 💀</a:t>
            </a:r>
            <a:endParaRPr sz="1600"/>
          </a:p>
          <a:p>
            <a:pPr indent="0" lvl="0" marL="0" rtl="0" algn="l">
              <a:spcBef>
                <a:spcPts val="0"/>
              </a:spcBef>
              <a:spcAft>
                <a:spcPts val="0"/>
              </a:spcAft>
              <a:buNone/>
            </a:pPr>
            <a:r>
              <a:t/>
            </a:r>
            <a:endParaRPr sz="1300"/>
          </a:p>
        </p:txBody>
      </p:sp>
      <p:sp>
        <p:nvSpPr>
          <p:cNvPr id="369" name="Google Shape;369;p40"/>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0" lang="en" sz="2300">
                <a:latin typeface="Open Sans Medium"/>
                <a:ea typeface="Open Sans Medium"/>
                <a:cs typeface="Open Sans Medium"/>
                <a:sym typeface="Open Sans Medium"/>
              </a:rPr>
              <a:t>The </a:t>
            </a:r>
            <a:r>
              <a:rPr b="0" lang="en" sz="2300">
                <a:latin typeface="Open Sans Medium"/>
                <a:ea typeface="Open Sans Medium"/>
                <a:cs typeface="Open Sans Medium"/>
                <a:sym typeface="Open Sans Medium"/>
              </a:rPr>
              <a:t>Link Rot </a:t>
            </a:r>
            <a:r>
              <a:rPr b="0" lang="en" sz="2300">
                <a:latin typeface="Open Sans Medium"/>
                <a:ea typeface="Open Sans Medium"/>
                <a:cs typeface="Open Sans Medium"/>
                <a:sym typeface="Open Sans Medium"/>
              </a:rPr>
              <a:t>Problem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1"/>
          <p:cNvSpPr txBox="1"/>
          <p:nvPr>
            <p:ph idx="1" type="body"/>
          </p:nvPr>
        </p:nvSpPr>
        <p:spPr>
          <a:xfrm>
            <a:off x="713225" y="1088875"/>
            <a:ext cx="7717500" cy="323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DOI = Digital Object Identifier</a:t>
            </a:r>
            <a:endParaRPr b="1"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Think of it as a </a:t>
            </a:r>
            <a:r>
              <a:rPr b="1" lang="en" sz="1600"/>
              <a:t>QR Code</a:t>
            </a:r>
            <a:r>
              <a:rPr lang="en" sz="1600"/>
              <a:t> for your software project.</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 ✅ Never breaks (permanent redirect)</a:t>
            </a:r>
            <a:endParaRPr sz="1600"/>
          </a:p>
          <a:p>
            <a:pPr indent="-330200" lvl="0" marL="457200" rtl="0" algn="l">
              <a:spcBef>
                <a:spcPts val="0"/>
              </a:spcBef>
              <a:spcAft>
                <a:spcPts val="0"/>
              </a:spcAft>
              <a:buSzPts val="1600"/>
              <a:buChar char="●"/>
            </a:pPr>
            <a:r>
              <a:rPr lang="en" sz="1600"/>
              <a:t> ✅ Points to archived snapshot (Zenodo)</a:t>
            </a:r>
            <a:endParaRPr sz="1600"/>
          </a:p>
          <a:p>
            <a:pPr indent="-330200" lvl="0" marL="457200" rtl="0" algn="l">
              <a:spcBef>
                <a:spcPts val="0"/>
              </a:spcBef>
              <a:spcAft>
                <a:spcPts val="0"/>
              </a:spcAft>
              <a:buSzPts val="1600"/>
              <a:buChar char="●"/>
            </a:pPr>
            <a:r>
              <a:rPr lang="en" sz="1600"/>
              <a:t> ✅ Includes metadata (author, version, license)</a:t>
            </a:r>
            <a:endParaRPr sz="1600"/>
          </a:p>
          <a:p>
            <a:pPr indent="-330200" lvl="0" marL="457200" rtl="0" algn="l">
              <a:spcBef>
                <a:spcPts val="0"/>
              </a:spcBef>
              <a:spcAft>
                <a:spcPts val="0"/>
              </a:spcAft>
              <a:buSzPts val="1600"/>
              <a:buChar char="●"/>
            </a:pPr>
            <a:r>
              <a:rPr lang="en" sz="1600"/>
              <a:t> ✅ Citable in academic publications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b="1" lang="en" sz="1600"/>
              <a:t>Example:</a:t>
            </a:r>
            <a:r>
              <a:rPr lang="en" sz="1600"/>
              <a:t> `https://doi.org/10.5281/zenodo.123456`</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b="1" lang="en" sz="1600"/>
              <a:t>Even if GitHub disappears, your DOI still works.</a:t>
            </a:r>
            <a:endParaRPr b="1" sz="1600"/>
          </a:p>
          <a:p>
            <a:pPr indent="0" lvl="0" marL="0" rtl="0" algn="l">
              <a:spcBef>
                <a:spcPts val="0"/>
              </a:spcBef>
              <a:spcAft>
                <a:spcPts val="0"/>
              </a:spcAft>
              <a:buNone/>
            </a:pPr>
            <a:r>
              <a:t/>
            </a:r>
            <a:endParaRPr sz="1600"/>
          </a:p>
        </p:txBody>
      </p:sp>
      <p:sp>
        <p:nvSpPr>
          <p:cNvPr id="375" name="Google Shape;375;p41"/>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Solution: </a:t>
            </a:r>
            <a:r>
              <a:rPr lang="en"/>
              <a:t>Minting</a:t>
            </a:r>
            <a:r>
              <a:rPr lang="en"/>
              <a:t> a DOI</a:t>
            </a:r>
            <a:endParaRPr/>
          </a:p>
          <a:p>
            <a:pPr indent="0" lvl="0" marL="0" rtl="0" algn="ctr">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9" name="Shape 379"/>
        <p:cNvGrpSpPr/>
        <p:nvPr/>
      </p:nvGrpSpPr>
      <p:grpSpPr>
        <a:xfrm>
          <a:off x="0" y="0"/>
          <a:ext cx="0" cy="0"/>
          <a:chOff x="0" y="0"/>
          <a:chExt cx="0" cy="0"/>
        </a:xfrm>
      </p:grpSpPr>
      <p:sp>
        <p:nvSpPr>
          <p:cNvPr id="380" name="Google Shape;380;p42"/>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Branch: 05-release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Step 1:</a:t>
            </a:r>
            <a:r>
              <a:rPr lang="en"/>
              <a:t>   Tag your release</a:t>
            </a:r>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git tag v0.1.0</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git push --tags</a:t>
            </a:r>
            <a:endParaRPr>
              <a:latin typeface="Courier New"/>
              <a:ea typeface="Courier New"/>
              <a:cs typeface="Courier New"/>
              <a:sym typeface="Courier New"/>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Step 2:</a:t>
            </a:r>
            <a:r>
              <a:rPr lang="en"/>
              <a:t>  Create GitHub Release</a:t>
            </a:r>
            <a:endParaRPr/>
          </a:p>
          <a:p>
            <a:pPr indent="-304800" lvl="0" marL="457200" rtl="0" algn="l">
              <a:spcBef>
                <a:spcPts val="0"/>
              </a:spcBef>
              <a:spcAft>
                <a:spcPts val="0"/>
              </a:spcAft>
              <a:buSzPts val="1200"/>
              <a:buChar char="●"/>
            </a:pPr>
            <a:r>
              <a:rPr lang="en"/>
              <a:t>Go to: Releases → Draft a new release</a:t>
            </a:r>
            <a:endParaRPr/>
          </a:p>
          <a:p>
            <a:pPr indent="-304800" lvl="0" marL="457200" rtl="0" algn="l">
              <a:spcBef>
                <a:spcPts val="0"/>
              </a:spcBef>
              <a:spcAft>
                <a:spcPts val="0"/>
              </a:spcAft>
              <a:buSzPts val="1200"/>
              <a:buChar char="●"/>
            </a:pPr>
            <a:r>
              <a:rPr lang="en"/>
              <a:t>Select tag: v0.1.0</a:t>
            </a:r>
            <a:endParaRPr/>
          </a:p>
          <a:p>
            <a:pPr indent="-304800" lvl="0" marL="457200" rtl="0" algn="l">
              <a:spcBef>
                <a:spcPts val="0"/>
              </a:spcBef>
              <a:spcAft>
                <a:spcPts val="0"/>
              </a:spcAft>
              <a:buSzPts val="1200"/>
              <a:buChar char="●"/>
            </a:pPr>
            <a:r>
              <a:rPr lang="en"/>
              <a:t>Add release notes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Step 3:</a:t>
            </a:r>
            <a:r>
              <a:rPr lang="en"/>
              <a:t>  Connect Zenodo</a:t>
            </a:r>
            <a:endParaRPr/>
          </a:p>
          <a:p>
            <a:pPr indent="-304800" lvl="0" marL="457200" rtl="0" algn="l">
              <a:spcBef>
                <a:spcPts val="0"/>
              </a:spcBef>
              <a:spcAft>
                <a:spcPts val="0"/>
              </a:spcAft>
              <a:buSzPts val="1200"/>
              <a:buChar char="●"/>
            </a:pPr>
            <a:r>
              <a:rPr lang="en"/>
              <a:t>Link GitHub repo to Zenodo</a:t>
            </a:r>
            <a:endParaRPr/>
          </a:p>
          <a:p>
            <a:pPr indent="-304800" lvl="0" marL="457200" rtl="0" algn="l">
              <a:spcBef>
                <a:spcPts val="0"/>
              </a:spcBef>
              <a:spcAft>
                <a:spcPts val="0"/>
              </a:spcAft>
              <a:buSzPts val="1200"/>
              <a:buChar char="●"/>
            </a:pPr>
            <a:r>
              <a:rPr lang="en"/>
              <a:t>Zenodo automatically mints DOI for each release</a:t>
            </a:r>
            <a:endParaRPr/>
          </a:p>
          <a:p>
            <a:pPr indent="-304800" lvl="0" marL="457200" rtl="0" algn="l">
              <a:spcBef>
                <a:spcPts val="0"/>
              </a:spcBef>
              <a:spcAft>
                <a:spcPts val="0"/>
              </a:spcAft>
              <a:buSzPts val="1200"/>
              <a:buChar char="●"/>
            </a:pPr>
            <a:r>
              <a:rPr lang="en"/>
              <a:t>**Result:** Permanent, citable version of your software</a:t>
            </a:r>
            <a:endParaRPr/>
          </a:p>
          <a:p>
            <a:pPr indent="-304800" lvl="0" marL="457200" rtl="0" algn="l">
              <a:spcBef>
                <a:spcPts val="0"/>
              </a:spcBef>
              <a:spcAft>
                <a:spcPts val="0"/>
              </a:spcAft>
              <a:buSzPts val="1200"/>
              <a:buChar char="●"/>
            </a:pPr>
            <a:r>
              <a:t/>
            </a:r>
            <a:endParaRPr/>
          </a:p>
        </p:txBody>
      </p:sp>
      <p:sp>
        <p:nvSpPr>
          <p:cNvPr id="381" name="Google Shape;381;p42"/>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Minting a DOI: The Workflow</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3"/>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Steps to Mint DOI </a:t>
            </a:r>
            <a:endParaRPr/>
          </a:p>
        </p:txBody>
      </p:sp>
      <p:sp>
        <p:nvSpPr>
          <p:cNvPr id="387" name="Google Shape;387;p43"/>
          <p:cNvSpPr txBox="1"/>
          <p:nvPr/>
        </p:nvSpPr>
        <p:spPr>
          <a:xfrm>
            <a:off x="6380325" y="2503375"/>
            <a:ext cx="2378400" cy="1920900"/>
          </a:xfrm>
          <a:prstGeom prst="rect">
            <a:avLst/>
          </a:prstGeom>
          <a:solidFill>
            <a:schemeClr val="dk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50">
                <a:solidFill>
                  <a:schemeClr val="lt1"/>
                </a:solidFill>
                <a:latin typeface="Open Sans"/>
                <a:ea typeface="Open Sans"/>
                <a:cs typeface="Open Sans"/>
                <a:sym typeface="Open Sans"/>
              </a:rPr>
              <a:t>Now we have: </a:t>
            </a:r>
            <a:r>
              <a:rPr b="1" lang="en" sz="1350">
                <a:solidFill>
                  <a:schemeClr val="lt1"/>
                </a:solidFill>
                <a:latin typeface="Open Sans"/>
                <a:ea typeface="Open Sans"/>
                <a:cs typeface="Open Sans"/>
                <a:sym typeface="Open Sans"/>
              </a:rPr>
              <a:t>LICENSE</a:t>
            </a:r>
            <a:r>
              <a:rPr lang="en" sz="1350">
                <a:solidFill>
                  <a:schemeClr val="lt1"/>
                </a:solidFill>
                <a:latin typeface="Open Sans"/>
                <a:ea typeface="Open Sans"/>
                <a:cs typeface="Open Sans"/>
                <a:sym typeface="Open Sans"/>
              </a:rPr>
              <a:t>, </a:t>
            </a:r>
            <a:r>
              <a:rPr b="1" lang="en" sz="1350">
                <a:solidFill>
                  <a:schemeClr val="lt1"/>
                </a:solidFill>
                <a:latin typeface="Open Sans"/>
                <a:ea typeface="Open Sans"/>
                <a:cs typeface="Open Sans"/>
                <a:sym typeface="Open Sans"/>
              </a:rPr>
              <a:t>environment</a:t>
            </a:r>
            <a:r>
              <a:rPr lang="en" sz="1350">
                <a:solidFill>
                  <a:schemeClr val="lt1"/>
                </a:solidFill>
                <a:latin typeface="Open Sans"/>
                <a:ea typeface="Open Sans"/>
                <a:cs typeface="Open Sans"/>
                <a:sym typeface="Open Sans"/>
              </a:rPr>
              <a:t>, </a:t>
            </a:r>
            <a:r>
              <a:rPr b="1" lang="en" sz="1350">
                <a:solidFill>
                  <a:schemeClr val="lt1"/>
                </a:solidFill>
                <a:latin typeface="Open Sans"/>
                <a:ea typeface="Open Sans"/>
                <a:cs typeface="Open Sans"/>
                <a:sym typeface="Open Sans"/>
              </a:rPr>
              <a:t>CITATION.cff</a:t>
            </a:r>
            <a:r>
              <a:rPr lang="en" sz="1350">
                <a:solidFill>
                  <a:schemeClr val="lt1"/>
                </a:solidFill>
                <a:latin typeface="Open Sans"/>
                <a:ea typeface="Open Sans"/>
                <a:cs typeface="Open Sans"/>
                <a:sym typeface="Open Sans"/>
              </a:rPr>
              <a:t>, </a:t>
            </a:r>
            <a:r>
              <a:rPr b="1" lang="en" sz="1350">
                <a:solidFill>
                  <a:schemeClr val="lt1"/>
                </a:solidFill>
                <a:latin typeface="Open Sans"/>
                <a:ea typeface="Open Sans"/>
                <a:cs typeface="Open Sans"/>
                <a:sym typeface="Open Sans"/>
              </a:rPr>
              <a:t>DOI</a:t>
            </a:r>
            <a:r>
              <a:rPr lang="en" sz="1350">
                <a:solidFill>
                  <a:schemeClr val="lt1"/>
                </a:solidFill>
                <a:latin typeface="Open Sans"/>
                <a:ea typeface="Open Sans"/>
                <a:cs typeface="Open Sans"/>
                <a:sym typeface="Open Sans"/>
              </a:rPr>
              <a:t>.</a:t>
            </a:r>
            <a:endParaRPr sz="135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350">
              <a:solidFill>
                <a:schemeClr val="lt1"/>
              </a:solidFill>
              <a:latin typeface="Open Sans"/>
              <a:ea typeface="Open Sans"/>
              <a:cs typeface="Open Sans"/>
              <a:sym typeface="Open Sans"/>
            </a:endParaRPr>
          </a:p>
          <a:p>
            <a:pPr indent="0" lvl="0" marL="0" rtl="0" algn="l">
              <a:lnSpc>
                <a:spcPct val="115000"/>
              </a:lnSpc>
              <a:spcBef>
                <a:spcPts val="0"/>
              </a:spcBef>
              <a:spcAft>
                <a:spcPts val="0"/>
              </a:spcAft>
              <a:buNone/>
            </a:pPr>
            <a:r>
              <a:rPr lang="en" sz="1350">
                <a:solidFill>
                  <a:schemeClr val="lt1"/>
                </a:solidFill>
                <a:latin typeface="Open Sans"/>
                <a:ea typeface="Open Sans"/>
                <a:cs typeface="Open Sans"/>
                <a:sym typeface="Open Sans"/>
              </a:rPr>
              <a:t>But where do people look first? Your </a:t>
            </a:r>
            <a:r>
              <a:rPr b="1" lang="en" sz="1350">
                <a:solidFill>
                  <a:schemeClr val="lt1"/>
                </a:solidFill>
                <a:latin typeface="Open Sans"/>
                <a:ea typeface="Open Sans"/>
                <a:cs typeface="Open Sans"/>
                <a:sym typeface="Open Sans"/>
              </a:rPr>
              <a:t>README</a:t>
            </a:r>
            <a:r>
              <a:rPr lang="en" sz="1350">
                <a:solidFill>
                  <a:schemeClr val="lt1"/>
                </a:solidFill>
                <a:latin typeface="Open Sans"/>
                <a:ea typeface="Open Sans"/>
                <a:cs typeface="Open Sans"/>
                <a:sym typeface="Open Sans"/>
              </a:rPr>
              <a:t>.</a:t>
            </a:r>
            <a:endParaRPr sz="1350">
              <a:solidFill>
                <a:schemeClr val="lt1"/>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p:txBody>
      </p:sp>
      <p:sp>
        <p:nvSpPr>
          <p:cNvPr id="388" name="Google Shape;388;p43"/>
          <p:cNvSpPr txBox="1"/>
          <p:nvPr/>
        </p:nvSpPr>
        <p:spPr>
          <a:xfrm>
            <a:off x="713225" y="1181150"/>
            <a:ext cx="4117800" cy="16623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Open Sans"/>
              <a:buAutoNum type="arabicPeriod"/>
            </a:pPr>
            <a:r>
              <a:rPr lang="en" sz="1600">
                <a:solidFill>
                  <a:schemeClr val="dk1"/>
                </a:solidFill>
                <a:latin typeface="Open Sans"/>
                <a:ea typeface="Open Sans"/>
                <a:cs typeface="Open Sans"/>
                <a:sym typeface="Open Sans"/>
              </a:rPr>
              <a:t>Log in to Zenodo with GitHub</a:t>
            </a:r>
            <a:endParaRPr sz="1600">
              <a:solidFill>
                <a:schemeClr val="dk1"/>
              </a:solidFill>
              <a:latin typeface="Open Sans"/>
              <a:ea typeface="Open Sans"/>
              <a:cs typeface="Open Sans"/>
              <a:sym typeface="Open Sans"/>
            </a:endParaRPr>
          </a:p>
          <a:p>
            <a:pPr indent="-330200" lvl="0" marL="457200" rtl="0" algn="l">
              <a:spcBef>
                <a:spcPts val="0"/>
              </a:spcBef>
              <a:spcAft>
                <a:spcPts val="0"/>
              </a:spcAft>
              <a:buClr>
                <a:schemeClr val="dk1"/>
              </a:buClr>
              <a:buSzPts val="1600"/>
              <a:buFont typeface="Open Sans"/>
              <a:buAutoNum type="arabicPeriod"/>
            </a:pPr>
            <a:r>
              <a:rPr lang="en" sz="1600">
                <a:solidFill>
                  <a:schemeClr val="dk1"/>
                </a:solidFill>
                <a:latin typeface="Open Sans"/>
                <a:ea typeface="Open Sans"/>
                <a:cs typeface="Open Sans"/>
                <a:sym typeface="Open Sans"/>
              </a:rPr>
              <a:t>Enable your repository (toggle ON)</a:t>
            </a:r>
            <a:endParaRPr sz="1600">
              <a:solidFill>
                <a:schemeClr val="dk1"/>
              </a:solidFill>
              <a:latin typeface="Open Sans"/>
              <a:ea typeface="Open Sans"/>
              <a:cs typeface="Open Sans"/>
              <a:sym typeface="Open Sans"/>
            </a:endParaRPr>
          </a:p>
          <a:p>
            <a:pPr indent="-330200" lvl="0" marL="457200" rtl="0" algn="l">
              <a:spcBef>
                <a:spcPts val="0"/>
              </a:spcBef>
              <a:spcAft>
                <a:spcPts val="0"/>
              </a:spcAft>
              <a:buClr>
                <a:schemeClr val="dk1"/>
              </a:buClr>
              <a:buSzPts val="1600"/>
              <a:buFont typeface="Open Sans"/>
              <a:buAutoNum type="arabicPeriod"/>
            </a:pPr>
            <a:r>
              <a:rPr lang="en" sz="1600">
                <a:solidFill>
                  <a:schemeClr val="dk1"/>
                </a:solidFill>
                <a:latin typeface="Open Sans"/>
                <a:ea typeface="Open Sans"/>
                <a:cs typeface="Open Sans"/>
                <a:sym typeface="Open Sans"/>
              </a:rPr>
              <a:t>Create GitHub Release (tag v1.0.0)</a:t>
            </a:r>
            <a:endParaRPr sz="1600">
              <a:solidFill>
                <a:schemeClr val="dk1"/>
              </a:solidFill>
              <a:latin typeface="Open Sans"/>
              <a:ea typeface="Open Sans"/>
              <a:cs typeface="Open Sans"/>
              <a:sym typeface="Open Sans"/>
            </a:endParaRPr>
          </a:p>
          <a:p>
            <a:pPr indent="-330200" lvl="0" marL="457200" rtl="0" algn="l">
              <a:spcBef>
                <a:spcPts val="0"/>
              </a:spcBef>
              <a:spcAft>
                <a:spcPts val="0"/>
              </a:spcAft>
              <a:buClr>
                <a:schemeClr val="dk1"/>
              </a:buClr>
              <a:buSzPts val="1600"/>
              <a:buFont typeface="Open Sans"/>
              <a:buAutoNum type="arabicPeriod"/>
            </a:pPr>
            <a:r>
              <a:rPr lang="en" sz="1600">
                <a:solidFill>
                  <a:schemeClr val="dk1"/>
                </a:solidFill>
                <a:latin typeface="Open Sans"/>
                <a:ea typeface="Open Sans"/>
                <a:cs typeface="Open Sans"/>
                <a:sym typeface="Open Sans"/>
              </a:rPr>
              <a:t>Zenodo auto-archives and mints DOI</a:t>
            </a:r>
            <a:endParaRPr sz="1600">
              <a:solidFill>
                <a:schemeClr val="dk1"/>
              </a:solidFill>
              <a:latin typeface="Open Sans"/>
              <a:ea typeface="Open Sans"/>
              <a:cs typeface="Open Sans"/>
              <a:sym typeface="Open Sans"/>
            </a:endParaRPr>
          </a:p>
          <a:p>
            <a:pPr indent="-330200" lvl="0" marL="457200" rtl="0" algn="l">
              <a:spcBef>
                <a:spcPts val="0"/>
              </a:spcBef>
              <a:spcAft>
                <a:spcPts val="0"/>
              </a:spcAft>
              <a:buClr>
                <a:schemeClr val="dk1"/>
              </a:buClr>
              <a:buSzPts val="1600"/>
              <a:buFont typeface="Open Sans"/>
              <a:buAutoNum type="arabicPeriod"/>
            </a:pPr>
            <a:r>
              <a:rPr lang="en" sz="1600">
                <a:solidFill>
                  <a:schemeClr val="dk1"/>
                </a:solidFill>
                <a:latin typeface="Open Sans"/>
                <a:ea typeface="Open Sans"/>
                <a:cs typeface="Open Sans"/>
                <a:sym typeface="Open Sans"/>
              </a:rPr>
              <a:t>Add DOI badge to your README</a:t>
            </a:r>
            <a:endParaRPr sz="1600">
              <a:solidFill>
                <a:schemeClr val="dk1"/>
              </a:solidFill>
              <a:latin typeface="Open Sans"/>
              <a:ea typeface="Open Sans"/>
              <a:cs typeface="Open Sans"/>
              <a:sym typeface="Open Sans"/>
            </a:endParaRPr>
          </a:p>
          <a:p>
            <a:pPr indent="-330200" lvl="0" marL="457200" rtl="0" algn="l">
              <a:spcBef>
                <a:spcPts val="0"/>
              </a:spcBef>
              <a:spcAft>
                <a:spcPts val="0"/>
              </a:spcAft>
              <a:buClr>
                <a:schemeClr val="dk1"/>
              </a:buClr>
              <a:buSzPts val="1600"/>
              <a:buFont typeface="Open Sans"/>
              <a:buAutoNum type="arabicPeriod"/>
            </a:pPr>
            <a:r>
              <a:rPr lang="en" sz="1600">
                <a:solidFill>
                  <a:schemeClr val="dk1"/>
                </a:solidFill>
                <a:latin typeface="Open Sans"/>
                <a:ea typeface="Open Sans"/>
                <a:cs typeface="Open Sans"/>
                <a:sym typeface="Open Sans"/>
              </a:rPr>
              <a:t>Update your CFF file with your DOI</a:t>
            </a:r>
            <a:endParaRPr sz="1600">
              <a:solidFill>
                <a:schemeClr val="dk1"/>
              </a:solidFill>
              <a:latin typeface="Open Sans"/>
              <a:ea typeface="Open Sans"/>
              <a:cs typeface="Open Sans"/>
              <a:sym typeface="Open Sans"/>
            </a:endParaRPr>
          </a:p>
        </p:txBody>
      </p:sp>
      <p:sp>
        <p:nvSpPr>
          <p:cNvPr id="389" name="Google Shape;389;p43"/>
          <p:cNvSpPr/>
          <p:nvPr/>
        </p:nvSpPr>
        <p:spPr>
          <a:xfrm rot="2066674">
            <a:off x="8073578" y="3948787"/>
            <a:ext cx="581321" cy="475560"/>
          </a:xfrm>
          <a:prstGeom prst="notchedRight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390" name="Google Shape;390;p43" title="zenodo-software-demo.png"/>
          <p:cNvPicPr preferRelativeResize="0"/>
          <p:nvPr/>
        </p:nvPicPr>
        <p:blipFill>
          <a:blip r:embed="rId3">
            <a:alphaModFix/>
          </a:blip>
          <a:stretch>
            <a:fillRect/>
          </a:stretch>
        </p:blipFill>
        <p:spPr>
          <a:xfrm>
            <a:off x="1163513" y="2843450"/>
            <a:ext cx="3217226" cy="15808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4"/>
          <p:cNvSpPr txBox="1"/>
          <p:nvPr>
            <p:ph idx="1" type="body"/>
          </p:nvPr>
        </p:nvSpPr>
        <p:spPr>
          <a:xfrm>
            <a:off x="651225" y="1112275"/>
            <a:ext cx="7717500" cy="32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 </a:t>
            </a:r>
            <a:r>
              <a:rPr b="1" lang="en" sz="1700"/>
              <a:t>Your README is your software's front door.</a:t>
            </a:r>
            <a:endParaRPr b="1" sz="1700"/>
          </a:p>
          <a:p>
            <a:pPr indent="0" lvl="0" marL="0" rtl="0" algn="l">
              <a:spcBef>
                <a:spcPts val="0"/>
              </a:spcBef>
              <a:spcAft>
                <a:spcPts val="0"/>
              </a:spcAft>
              <a:buNone/>
            </a:pPr>
            <a:r>
              <a:t/>
            </a:r>
            <a:endParaRPr sz="1500"/>
          </a:p>
          <a:p>
            <a:pPr indent="0" lvl="0" marL="0" rtl="0" algn="l">
              <a:spcBef>
                <a:spcPts val="0"/>
              </a:spcBef>
              <a:spcAft>
                <a:spcPts val="0"/>
              </a:spcAft>
              <a:buNone/>
            </a:pPr>
            <a:r>
              <a:rPr lang="en" sz="1500"/>
              <a:t>If users can't understand what it does, how to install it, or how to use it in </a:t>
            </a:r>
            <a:endParaRPr sz="1500"/>
          </a:p>
          <a:p>
            <a:pPr indent="0" lvl="0" marL="0" rtl="0" algn="l">
              <a:spcBef>
                <a:spcPts val="0"/>
              </a:spcBef>
              <a:spcAft>
                <a:spcPts val="0"/>
              </a:spcAft>
              <a:buNone/>
            </a:pPr>
            <a:r>
              <a:rPr lang="en" sz="1500"/>
              <a:t>30 seconds → they leave.</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  </a:t>
            </a:r>
            <a:r>
              <a:rPr b="1" lang="en" sz="1500"/>
              <a:t>The Fix:</a:t>
            </a:r>
            <a:endParaRPr b="1" sz="1500"/>
          </a:p>
          <a:p>
            <a:pPr indent="0" lvl="0" marL="0" rtl="0" algn="l">
              <a:spcBef>
                <a:spcPts val="0"/>
              </a:spcBef>
              <a:spcAft>
                <a:spcPts val="0"/>
              </a:spcAft>
              <a:buNone/>
            </a:pPr>
            <a:r>
              <a:t/>
            </a:r>
            <a:endParaRPr b="1" sz="1500"/>
          </a:p>
          <a:p>
            <a:pPr indent="0" lvl="0" marL="0" rtl="0" algn="l">
              <a:spcBef>
                <a:spcPts val="0"/>
              </a:spcBef>
              <a:spcAft>
                <a:spcPts val="0"/>
              </a:spcAft>
              <a:buNone/>
            </a:pPr>
            <a:r>
              <a:rPr lang="en" sz="1500"/>
              <a:t>  A structured README makes your software:</a:t>
            </a:r>
            <a:endParaRPr sz="1500"/>
          </a:p>
          <a:p>
            <a:pPr indent="-323850" lvl="0" marL="457200" rtl="0" algn="l">
              <a:spcBef>
                <a:spcPts val="0"/>
              </a:spcBef>
              <a:spcAft>
                <a:spcPts val="0"/>
              </a:spcAft>
              <a:buSzPts val="1500"/>
              <a:buChar char="●"/>
            </a:pPr>
            <a:r>
              <a:rPr b="1" lang="en" sz="1500"/>
              <a:t>Findable: </a:t>
            </a:r>
            <a:r>
              <a:rPr lang="en" sz="1500"/>
              <a:t>Clear description aids discovery</a:t>
            </a:r>
            <a:endParaRPr sz="1500"/>
          </a:p>
          <a:p>
            <a:pPr indent="-323850" lvl="0" marL="457200" rtl="0" algn="l">
              <a:spcBef>
                <a:spcPts val="0"/>
              </a:spcBef>
              <a:spcAft>
                <a:spcPts val="0"/>
              </a:spcAft>
              <a:buSzPts val="1500"/>
              <a:buChar char="●"/>
            </a:pPr>
            <a:r>
              <a:rPr b="1" lang="en" sz="1500"/>
              <a:t>Accessible:</a:t>
            </a:r>
            <a:r>
              <a:rPr lang="en" sz="1500"/>
              <a:t> Easy installation removes barriers</a:t>
            </a:r>
            <a:endParaRPr sz="1500"/>
          </a:p>
          <a:p>
            <a:pPr indent="-323850" lvl="0" marL="457200" rtl="0" algn="l">
              <a:spcBef>
                <a:spcPts val="0"/>
              </a:spcBef>
              <a:spcAft>
                <a:spcPts val="0"/>
              </a:spcAft>
              <a:buSzPts val="1500"/>
              <a:buChar char="●"/>
            </a:pPr>
            <a:r>
              <a:rPr b="1" lang="en" sz="1500"/>
              <a:t>Reusable:</a:t>
            </a:r>
            <a:r>
              <a:rPr lang="en" sz="1500"/>
              <a:t> Usage examples enable adoption</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  </a:t>
            </a:r>
            <a:r>
              <a:rPr b="1" lang="en" sz="1500"/>
              <a:t>UC OSPO Guide:</a:t>
            </a:r>
            <a:r>
              <a:rPr lang="en" sz="1500"/>
              <a:t> https://ucospo.net/oss-resources/template-guides/readme-guide/</a:t>
            </a:r>
            <a:endParaRPr sz="1500"/>
          </a:p>
          <a:p>
            <a:pPr indent="0" lvl="0" marL="0" rtl="0" algn="l">
              <a:lnSpc>
                <a:spcPct val="115000"/>
              </a:lnSpc>
              <a:spcBef>
                <a:spcPts val="0"/>
              </a:spcBef>
              <a:spcAft>
                <a:spcPts val="0"/>
              </a:spcAft>
              <a:buNone/>
            </a:pPr>
            <a:r>
              <a:t/>
            </a:r>
            <a:endParaRPr sz="1500"/>
          </a:p>
        </p:txBody>
      </p:sp>
      <p:sp>
        <p:nvSpPr>
          <p:cNvPr id="396" name="Google Shape;396;p44"/>
          <p:cNvSpPr txBox="1"/>
          <p:nvPr>
            <p:ph type="title"/>
          </p:nvPr>
        </p:nvSpPr>
        <p:spPr>
          <a:xfrm>
            <a:off x="713225" y="477050"/>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Writing a README</a:t>
            </a:r>
            <a:endParaRPr/>
          </a:p>
        </p:txBody>
      </p:sp>
      <p:pic>
        <p:nvPicPr>
          <p:cNvPr id="397" name="Google Shape;397;p44"/>
          <p:cNvPicPr preferRelativeResize="0"/>
          <p:nvPr/>
        </p:nvPicPr>
        <p:blipFill>
          <a:blip r:embed="rId3">
            <a:alphaModFix/>
          </a:blip>
          <a:stretch>
            <a:fillRect/>
          </a:stretch>
        </p:blipFill>
        <p:spPr>
          <a:xfrm>
            <a:off x="7055477" y="2450175"/>
            <a:ext cx="1414281" cy="13464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5"/>
          <p:cNvSpPr txBox="1"/>
          <p:nvPr>
            <p:ph idx="1" type="body"/>
          </p:nvPr>
        </p:nvSpPr>
        <p:spPr>
          <a:xfrm>
            <a:off x="651225" y="1112275"/>
            <a:ext cx="7717500" cy="3245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700"/>
              <a:t>Essential sections to include:</a:t>
            </a:r>
            <a:endParaRPr b="1" sz="1700"/>
          </a:p>
          <a:p>
            <a:pPr indent="0" lvl="0" marL="0" rtl="0" algn="l">
              <a:lnSpc>
                <a:spcPct val="115000"/>
              </a:lnSpc>
              <a:spcBef>
                <a:spcPts val="0"/>
              </a:spcBef>
              <a:spcAft>
                <a:spcPts val="0"/>
              </a:spcAft>
              <a:buNone/>
            </a:pPr>
            <a:r>
              <a:t/>
            </a:r>
            <a:endParaRPr sz="1500"/>
          </a:p>
          <a:p>
            <a:pPr indent="-323850" lvl="0" marL="457200" rtl="0" algn="l">
              <a:lnSpc>
                <a:spcPct val="115000"/>
              </a:lnSpc>
              <a:spcBef>
                <a:spcPts val="0"/>
              </a:spcBef>
              <a:spcAft>
                <a:spcPts val="0"/>
              </a:spcAft>
              <a:buSzPts val="1500"/>
              <a:buAutoNum type="arabicPeriod"/>
            </a:pPr>
            <a:r>
              <a:rPr lang="en" sz="1500"/>
              <a:t> </a:t>
            </a:r>
            <a:r>
              <a:rPr b="1" lang="en" sz="1500"/>
              <a:t> About: </a:t>
            </a:r>
            <a:r>
              <a:rPr lang="en" sz="1500"/>
              <a:t>What does this do? (2-3 sentences)</a:t>
            </a:r>
            <a:endParaRPr sz="1500"/>
          </a:p>
          <a:p>
            <a:pPr indent="-323850" lvl="0" marL="457200" rtl="0" algn="l">
              <a:lnSpc>
                <a:spcPct val="115000"/>
              </a:lnSpc>
              <a:spcBef>
                <a:spcPts val="0"/>
              </a:spcBef>
              <a:spcAft>
                <a:spcPts val="0"/>
              </a:spcAft>
              <a:buSzPts val="1500"/>
              <a:buAutoNum type="arabicPeriod"/>
            </a:pPr>
            <a:r>
              <a:rPr lang="en" sz="1500"/>
              <a:t>  </a:t>
            </a:r>
            <a:r>
              <a:rPr b="1" lang="en" sz="1500"/>
              <a:t>Features:</a:t>
            </a:r>
            <a:r>
              <a:rPr lang="en" sz="1500"/>
              <a:t> Key capabilities (reproducible, citable, open source)</a:t>
            </a:r>
            <a:endParaRPr sz="1500"/>
          </a:p>
          <a:p>
            <a:pPr indent="-323850" lvl="0" marL="457200" rtl="0" algn="l">
              <a:lnSpc>
                <a:spcPct val="115000"/>
              </a:lnSpc>
              <a:spcBef>
                <a:spcPts val="0"/>
              </a:spcBef>
              <a:spcAft>
                <a:spcPts val="0"/>
              </a:spcAft>
              <a:buSzPts val="1500"/>
              <a:buAutoNum type="arabicPeriod"/>
            </a:pPr>
            <a:r>
              <a:rPr lang="en" sz="1500"/>
              <a:t>  </a:t>
            </a:r>
            <a:r>
              <a:rPr b="1" lang="en" sz="1500"/>
              <a:t>Getting Started:</a:t>
            </a:r>
            <a:r>
              <a:rPr lang="en" sz="1500"/>
              <a:t> Prerequisites + installation</a:t>
            </a:r>
            <a:endParaRPr sz="1500"/>
          </a:p>
          <a:p>
            <a:pPr indent="-323850" lvl="0" marL="457200" rtl="0" algn="l">
              <a:lnSpc>
                <a:spcPct val="115000"/>
              </a:lnSpc>
              <a:spcBef>
                <a:spcPts val="0"/>
              </a:spcBef>
              <a:spcAft>
                <a:spcPts val="0"/>
              </a:spcAft>
              <a:buSzPts val="1500"/>
              <a:buAutoNum type="arabicPeriod"/>
            </a:pPr>
            <a:r>
              <a:rPr lang="en" sz="1500"/>
              <a:t>  </a:t>
            </a:r>
            <a:r>
              <a:rPr b="1" lang="en" sz="1500"/>
              <a:t>Usage:</a:t>
            </a:r>
            <a:r>
              <a:rPr lang="en" sz="1500"/>
              <a:t> Minimal working example</a:t>
            </a:r>
            <a:endParaRPr sz="1500"/>
          </a:p>
          <a:p>
            <a:pPr indent="-323850" lvl="0" marL="457200" rtl="0" algn="l">
              <a:lnSpc>
                <a:spcPct val="115000"/>
              </a:lnSpc>
              <a:spcBef>
                <a:spcPts val="0"/>
              </a:spcBef>
              <a:spcAft>
                <a:spcPts val="0"/>
              </a:spcAft>
              <a:buSzPts val="1500"/>
              <a:buAutoNum type="arabicPeriod"/>
            </a:pPr>
            <a:r>
              <a:rPr lang="en" sz="1500"/>
              <a:t>  </a:t>
            </a:r>
            <a:r>
              <a:rPr b="1" lang="en" sz="1500"/>
              <a:t>Citation:</a:t>
            </a:r>
            <a:r>
              <a:rPr lang="en" sz="1500"/>
              <a:t> Link to CITATION.cff or DOI</a:t>
            </a:r>
            <a:endParaRPr sz="1500"/>
          </a:p>
          <a:p>
            <a:pPr indent="-323850" lvl="0" marL="457200" rtl="0" algn="l">
              <a:lnSpc>
                <a:spcPct val="115000"/>
              </a:lnSpc>
              <a:spcBef>
                <a:spcPts val="0"/>
              </a:spcBef>
              <a:spcAft>
                <a:spcPts val="0"/>
              </a:spcAft>
              <a:buSzPts val="1500"/>
              <a:buAutoNum type="arabicPeriod"/>
            </a:pPr>
            <a:r>
              <a:rPr lang="en" sz="1500"/>
              <a:t>  </a:t>
            </a:r>
            <a:r>
              <a:rPr b="1" lang="en" sz="1500"/>
              <a:t>License:</a:t>
            </a:r>
            <a:r>
              <a:rPr lang="en" sz="1500"/>
              <a:t> Explicitly state terms</a:t>
            </a:r>
            <a:endParaRPr sz="1500"/>
          </a:p>
          <a:p>
            <a:pPr indent="-323850" lvl="0" marL="457200" rtl="0" algn="l">
              <a:lnSpc>
                <a:spcPct val="115000"/>
              </a:lnSpc>
              <a:spcBef>
                <a:spcPts val="0"/>
              </a:spcBef>
              <a:spcAft>
                <a:spcPts val="0"/>
              </a:spcAft>
              <a:buSzPts val="1500"/>
              <a:buAutoNum type="arabicPeriod"/>
            </a:pPr>
            <a:r>
              <a:rPr lang="en" sz="1500"/>
              <a:t>  </a:t>
            </a:r>
            <a:r>
              <a:rPr b="1" lang="en" sz="1500"/>
              <a:t>Contact: </a:t>
            </a:r>
            <a:r>
              <a:rPr lang="en" sz="1500"/>
              <a:t>How to get help</a:t>
            </a:r>
            <a:endParaRPr sz="1500"/>
          </a:p>
          <a:p>
            <a:pPr indent="0" lvl="0" marL="0" rtl="0" algn="l">
              <a:lnSpc>
                <a:spcPct val="115000"/>
              </a:lnSpc>
              <a:spcBef>
                <a:spcPts val="0"/>
              </a:spcBef>
              <a:spcAft>
                <a:spcPts val="0"/>
              </a:spcAft>
              <a:buNone/>
            </a:pPr>
            <a:r>
              <a:t/>
            </a:r>
            <a:endParaRPr sz="1500"/>
          </a:p>
          <a:p>
            <a:pPr indent="0" lvl="0" marL="0" rtl="0" algn="l">
              <a:lnSpc>
                <a:spcPct val="115000"/>
              </a:lnSpc>
              <a:spcBef>
                <a:spcPts val="0"/>
              </a:spcBef>
              <a:spcAft>
                <a:spcPts val="0"/>
              </a:spcAft>
              <a:buNone/>
            </a:pPr>
            <a:r>
              <a:rPr b="1" lang="en" sz="1500"/>
              <a:t>Don't reinvent the wheel: </a:t>
            </a:r>
            <a:r>
              <a:rPr lang="en" sz="1500"/>
              <a:t>https://github.com/UC-OSPO-Network/templates/blob/main/README.md</a:t>
            </a:r>
            <a:endParaRPr sz="1500"/>
          </a:p>
          <a:p>
            <a:pPr indent="0" lvl="0" marL="0" rtl="0" algn="l">
              <a:lnSpc>
                <a:spcPct val="115000"/>
              </a:lnSpc>
              <a:spcBef>
                <a:spcPts val="0"/>
              </a:spcBef>
              <a:spcAft>
                <a:spcPts val="0"/>
              </a:spcAft>
              <a:buNone/>
            </a:pPr>
            <a:r>
              <a:t/>
            </a:r>
            <a:endParaRPr sz="1500"/>
          </a:p>
        </p:txBody>
      </p:sp>
      <p:sp>
        <p:nvSpPr>
          <p:cNvPr id="403" name="Google Shape;403;p45"/>
          <p:cNvSpPr txBox="1"/>
          <p:nvPr>
            <p:ph type="title"/>
          </p:nvPr>
        </p:nvSpPr>
        <p:spPr>
          <a:xfrm>
            <a:off x="713225" y="477050"/>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README Structure (UC OSPO Template)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6"/>
          <p:cNvSpPr txBox="1"/>
          <p:nvPr>
            <p:ph idx="1" type="body"/>
          </p:nvPr>
        </p:nvSpPr>
        <p:spPr>
          <a:xfrm>
            <a:off x="713225" y="1088875"/>
            <a:ext cx="3678000" cy="50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t>❌ Before (01-start)</a:t>
            </a:r>
            <a:endParaRPr b="1" sz="1700"/>
          </a:p>
          <a:p>
            <a:pPr indent="0" lvl="0" marL="0" rtl="0" algn="l">
              <a:spcBef>
                <a:spcPts val="0"/>
              </a:spcBef>
              <a:spcAft>
                <a:spcPts val="0"/>
              </a:spcAft>
              <a:buNone/>
            </a:pPr>
            <a:r>
              <a:t/>
            </a:r>
            <a:endParaRPr/>
          </a:p>
          <a:p>
            <a:pPr indent="0" lvl="0" marL="0" rtl="0" algn="l">
              <a:spcBef>
                <a:spcPts val="0"/>
              </a:spcBef>
              <a:spcAft>
                <a:spcPts val="0"/>
              </a:spcAft>
              <a:buNone/>
            </a:pPr>
            <a:r>
              <a:t/>
            </a:r>
            <a:endParaRPr>
              <a:highlight>
                <a:schemeClr val="lt1"/>
              </a:highlight>
            </a:endParaRPr>
          </a:p>
        </p:txBody>
      </p:sp>
      <p:sp>
        <p:nvSpPr>
          <p:cNvPr id="409" name="Google Shape;409;p46"/>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README:  </a:t>
            </a:r>
            <a:r>
              <a:rPr lang="en"/>
              <a:t>Before vs. After</a:t>
            </a:r>
            <a:endParaRPr/>
          </a:p>
        </p:txBody>
      </p:sp>
      <p:sp>
        <p:nvSpPr>
          <p:cNvPr id="410" name="Google Shape;410;p46"/>
          <p:cNvSpPr txBox="1"/>
          <p:nvPr/>
        </p:nvSpPr>
        <p:spPr>
          <a:xfrm>
            <a:off x="4818650" y="1088875"/>
            <a:ext cx="3348300" cy="67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750">
                <a:solidFill>
                  <a:srgbClr val="F2F2F2"/>
                </a:solidFill>
              </a:rPr>
              <a:t>  </a:t>
            </a:r>
            <a:r>
              <a:rPr lang="en" sz="1750">
                <a:solidFill>
                  <a:srgbClr val="FFFFFF"/>
                </a:solidFill>
              </a:rPr>
              <a:t>✅</a:t>
            </a:r>
            <a:r>
              <a:rPr lang="en" sz="1750">
                <a:solidFill>
                  <a:srgbClr val="F2F2F2"/>
                </a:solidFill>
              </a:rPr>
              <a:t> </a:t>
            </a:r>
            <a:r>
              <a:rPr lang="en" sz="1750">
                <a:solidFill>
                  <a:srgbClr val="FFFFFF"/>
                </a:solidFill>
              </a:rPr>
              <a:t>After</a:t>
            </a:r>
            <a:r>
              <a:rPr lang="en" sz="1750">
                <a:solidFill>
                  <a:srgbClr val="F2F2F2"/>
                </a:solidFill>
              </a:rPr>
              <a:t> </a:t>
            </a:r>
            <a:r>
              <a:rPr lang="en" sz="1750">
                <a:solidFill>
                  <a:srgbClr val="FFFFFF"/>
                </a:solidFill>
              </a:rPr>
              <a:t>(06-metadata)</a:t>
            </a:r>
            <a:endParaRPr sz="1750">
              <a:solidFill>
                <a:srgbClr val="FFFFFF"/>
              </a:solidFill>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p:txBody>
      </p:sp>
      <p:sp>
        <p:nvSpPr>
          <p:cNvPr id="411" name="Google Shape;411;p46"/>
          <p:cNvSpPr txBox="1"/>
          <p:nvPr/>
        </p:nvSpPr>
        <p:spPr>
          <a:xfrm>
            <a:off x="843475" y="1662225"/>
            <a:ext cx="3106200" cy="1477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spcBef>
                <a:spcPts val="0"/>
              </a:spcBef>
              <a:spcAft>
                <a:spcPts val="0"/>
              </a:spcAft>
              <a:buNone/>
            </a:pPr>
            <a:r>
              <a:rPr lang="en" sz="1200">
                <a:solidFill>
                  <a:schemeClr val="dk1"/>
                </a:solidFill>
                <a:highlight>
                  <a:schemeClr val="lt1"/>
                </a:highlight>
                <a:latin typeface="Open Sans"/>
                <a:ea typeface="Open Sans"/>
                <a:cs typeface="Open Sans"/>
                <a:sym typeface="Open Sans"/>
              </a:rPr>
              <a:t> # Biodiversity Analysis Toolkit</a:t>
            </a:r>
            <a:endParaRPr sz="1200">
              <a:solidFill>
                <a:schemeClr val="dk1"/>
              </a:solidFill>
              <a:highlight>
                <a:schemeClr val="lt1"/>
              </a:highlight>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highlight>
                <a:schemeClr val="lt1"/>
              </a:highlight>
              <a:latin typeface="Open Sans"/>
              <a:ea typeface="Open Sans"/>
              <a:cs typeface="Open Sans"/>
              <a:sym typeface="Open Sans"/>
            </a:endParaRPr>
          </a:p>
          <a:p>
            <a:pPr indent="0" lvl="0" marL="0" rtl="0" algn="l">
              <a:spcBef>
                <a:spcPts val="0"/>
              </a:spcBef>
              <a:spcAft>
                <a:spcPts val="0"/>
              </a:spcAft>
              <a:buNone/>
            </a:pPr>
            <a:r>
              <a:rPr lang="en" sz="1200">
                <a:solidFill>
                  <a:schemeClr val="dk1"/>
                </a:solidFill>
                <a:highlight>
                  <a:schemeClr val="lt1"/>
                </a:highlight>
                <a:latin typeface="Open Sans"/>
                <a:ea typeface="Open Sans"/>
                <a:cs typeface="Open Sans"/>
                <a:sym typeface="Open Sans"/>
              </a:rPr>
              <a:t> A script.</a:t>
            </a:r>
            <a:endParaRPr sz="1200">
              <a:solidFill>
                <a:schemeClr val="dk1"/>
              </a:solidFill>
              <a:highlight>
                <a:schemeClr val="lt1"/>
              </a:highlight>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highlight>
                <a:schemeClr val="lt1"/>
              </a:highlight>
              <a:latin typeface="Open Sans"/>
              <a:ea typeface="Open Sans"/>
              <a:cs typeface="Open Sans"/>
              <a:sym typeface="Open Sans"/>
            </a:endParaRPr>
          </a:p>
          <a:p>
            <a:pPr indent="0" lvl="0" marL="0" rtl="0" algn="l">
              <a:spcBef>
                <a:spcPts val="0"/>
              </a:spcBef>
              <a:spcAft>
                <a:spcPts val="0"/>
              </a:spcAft>
              <a:buNone/>
            </a:pPr>
            <a:r>
              <a:rPr lang="en" sz="1200">
                <a:solidFill>
                  <a:schemeClr val="dk1"/>
                </a:solidFill>
                <a:highlight>
                  <a:schemeClr val="lt1"/>
                </a:highlight>
                <a:latin typeface="Open Sans"/>
                <a:ea typeface="Open Sans"/>
                <a:cs typeface="Open Sans"/>
                <a:sym typeface="Open Sans"/>
              </a:rPr>
              <a:t> No description. No instructions. No citation. Unusable.</a:t>
            </a:r>
            <a:endParaRPr sz="1200">
              <a:solidFill>
                <a:schemeClr val="dk1"/>
              </a:solidFill>
              <a:highlight>
                <a:schemeClr val="lt1"/>
              </a:highlight>
              <a:latin typeface="Open Sans"/>
              <a:ea typeface="Open Sans"/>
              <a:cs typeface="Open Sans"/>
              <a:sym typeface="Open Sans"/>
            </a:endParaRPr>
          </a:p>
        </p:txBody>
      </p:sp>
      <p:sp>
        <p:nvSpPr>
          <p:cNvPr id="412" name="Google Shape;412;p46"/>
          <p:cNvSpPr txBox="1"/>
          <p:nvPr/>
        </p:nvSpPr>
        <p:spPr>
          <a:xfrm>
            <a:off x="5045225" y="1532525"/>
            <a:ext cx="3531300" cy="2762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50">
                <a:solidFill>
                  <a:srgbClr val="F2F2F2"/>
                </a:solidFill>
              </a:rPr>
              <a:t># Biodiversity Analysis Toolkit</a:t>
            </a:r>
            <a:endParaRPr sz="1050">
              <a:solidFill>
                <a:srgbClr val="F2F2F2"/>
              </a:solidFill>
            </a:endParaRPr>
          </a:p>
          <a:p>
            <a:pPr indent="0" lvl="0" marL="0" rtl="0" algn="l">
              <a:lnSpc>
                <a:spcPct val="115000"/>
              </a:lnSpc>
              <a:spcBef>
                <a:spcPts val="0"/>
              </a:spcBef>
              <a:spcAft>
                <a:spcPts val="0"/>
              </a:spcAft>
              <a:buNone/>
            </a:pPr>
            <a:r>
              <a:rPr lang="en" sz="1050">
                <a:solidFill>
                  <a:srgbClr val="F2F2F2"/>
                </a:solidFill>
              </a:rPr>
              <a:t>  Analysis tools for biodiversity research.</a:t>
            </a:r>
            <a:endParaRPr sz="1050">
              <a:solidFill>
                <a:srgbClr val="F2F2F2"/>
              </a:solidFill>
            </a:endParaRPr>
          </a:p>
          <a:p>
            <a:pPr indent="0" lvl="0" marL="0" rtl="0" algn="l">
              <a:lnSpc>
                <a:spcPct val="115000"/>
              </a:lnSpc>
              <a:spcBef>
                <a:spcPts val="0"/>
              </a:spcBef>
              <a:spcAft>
                <a:spcPts val="0"/>
              </a:spcAft>
              <a:buNone/>
            </a:pPr>
            <a:r>
              <a:rPr lang="en" sz="1050">
                <a:solidFill>
                  <a:srgbClr val="F2F2F2"/>
                </a:solidFill>
              </a:rPr>
              <a:t>  ## Features</a:t>
            </a:r>
            <a:endParaRPr sz="1050">
              <a:solidFill>
                <a:srgbClr val="F2F2F2"/>
              </a:solidFill>
            </a:endParaRPr>
          </a:p>
          <a:p>
            <a:pPr indent="0" lvl="0" marL="0" rtl="0" algn="l">
              <a:lnSpc>
                <a:spcPct val="115000"/>
              </a:lnSpc>
              <a:spcBef>
                <a:spcPts val="0"/>
              </a:spcBef>
              <a:spcAft>
                <a:spcPts val="0"/>
              </a:spcAft>
              <a:buNone/>
            </a:pPr>
            <a:r>
              <a:rPr lang="en" sz="1050">
                <a:solidFill>
                  <a:srgbClr val="F2F2F2"/>
                </a:solidFill>
              </a:rPr>
              <a:t>  - Reproducible (pixi) • Citable (DOI) • Open source (BSD-3)</a:t>
            </a:r>
            <a:endParaRPr sz="1050">
              <a:solidFill>
                <a:srgbClr val="F2F2F2"/>
              </a:solidFill>
            </a:endParaRPr>
          </a:p>
          <a:p>
            <a:pPr indent="0" lvl="0" marL="0" rtl="0" algn="l">
              <a:lnSpc>
                <a:spcPct val="115000"/>
              </a:lnSpc>
              <a:spcBef>
                <a:spcPts val="0"/>
              </a:spcBef>
              <a:spcAft>
                <a:spcPts val="0"/>
              </a:spcAft>
              <a:buNone/>
            </a:pPr>
            <a:r>
              <a:rPr lang="en" sz="1050">
                <a:solidFill>
                  <a:srgbClr val="F2F2F2"/>
                </a:solidFill>
              </a:rPr>
              <a:t>  ## Getting Started</a:t>
            </a:r>
            <a:endParaRPr sz="1050">
              <a:solidFill>
                <a:srgbClr val="F2F2F2"/>
              </a:solidFill>
            </a:endParaRPr>
          </a:p>
          <a:p>
            <a:pPr indent="0" lvl="0" marL="0" rtl="0" algn="l">
              <a:lnSpc>
                <a:spcPct val="115000"/>
              </a:lnSpc>
              <a:spcBef>
                <a:spcPts val="0"/>
              </a:spcBef>
              <a:spcAft>
                <a:spcPts val="0"/>
              </a:spcAft>
              <a:buNone/>
            </a:pPr>
            <a:r>
              <a:rPr lang="en" sz="1050">
                <a:solidFill>
                  <a:srgbClr val="F2F2F2"/>
                </a:solidFill>
              </a:rPr>
              <a:t>  ```bash</a:t>
            </a:r>
            <a:endParaRPr sz="1050">
              <a:solidFill>
                <a:srgbClr val="F2F2F2"/>
              </a:solidFill>
            </a:endParaRPr>
          </a:p>
          <a:p>
            <a:pPr indent="0" lvl="0" marL="0" rtl="0" algn="l">
              <a:lnSpc>
                <a:spcPct val="115000"/>
              </a:lnSpc>
              <a:spcBef>
                <a:spcPts val="0"/>
              </a:spcBef>
              <a:spcAft>
                <a:spcPts val="0"/>
              </a:spcAft>
              <a:buNone/>
            </a:pPr>
            <a:r>
              <a:rPr lang="en" sz="1050">
                <a:solidFill>
                  <a:srgbClr val="F2F2F2"/>
                </a:solidFill>
              </a:rPr>
              <a:t>  pixi install</a:t>
            </a:r>
            <a:endParaRPr sz="1050">
              <a:solidFill>
                <a:srgbClr val="F2F2F2"/>
              </a:solidFill>
            </a:endParaRPr>
          </a:p>
          <a:p>
            <a:pPr indent="0" lvl="0" marL="0" rtl="0" algn="l">
              <a:lnSpc>
                <a:spcPct val="115000"/>
              </a:lnSpc>
              <a:spcBef>
                <a:spcPts val="0"/>
              </a:spcBef>
              <a:spcAft>
                <a:spcPts val="0"/>
              </a:spcAft>
              <a:buNone/>
            </a:pPr>
            <a:r>
              <a:rPr lang="en" sz="1050">
                <a:solidFill>
                  <a:srgbClr val="F2F2F2"/>
                </a:solidFill>
              </a:rPr>
              <a:t>  pixi run python src/analysis.py</a:t>
            </a:r>
            <a:endParaRPr sz="1050">
              <a:solidFill>
                <a:srgbClr val="F2F2F2"/>
              </a:solidFill>
            </a:endParaRPr>
          </a:p>
          <a:p>
            <a:pPr indent="0" lvl="0" marL="0" rtl="0" algn="l">
              <a:lnSpc>
                <a:spcPct val="115000"/>
              </a:lnSpc>
              <a:spcBef>
                <a:spcPts val="0"/>
              </a:spcBef>
              <a:spcAft>
                <a:spcPts val="0"/>
              </a:spcAft>
              <a:buNone/>
            </a:pPr>
            <a:r>
              <a:rPr lang="en" sz="1050">
                <a:solidFill>
                  <a:srgbClr val="F2F2F2"/>
                </a:solidFill>
              </a:rPr>
              <a:t>```</a:t>
            </a:r>
            <a:endParaRPr sz="1050">
              <a:solidFill>
                <a:srgbClr val="F2F2F2"/>
              </a:solidFill>
            </a:endParaRPr>
          </a:p>
          <a:p>
            <a:pPr indent="0" lvl="0" marL="0" rtl="0" algn="l">
              <a:lnSpc>
                <a:spcPct val="115000"/>
              </a:lnSpc>
              <a:spcBef>
                <a:spcPts val="0"/>
              </a:spcBef>
              <a:spcAft>
                <a:spcPts val="0"/>
              </a:spcAft>
              <a:buNone/>
            </a:pPr>
            <a:r>
              <a:rPr lang="en" sz="1050">
                <a:solidFill>
                  <a:srgbClr val="F2F2F2"/>
                </a:solidFill>
              </a:rPr>
              <a:t>  </a:t>
            </a:r>
            <a:r>
              <a:rPr lang="en" sz="1050">
                <a:solidFill>
                  <a:srgbClr val="FFFFFF"/>
                </a:solidFill>
              </a:rPr>
              <a:t>Citation</a:t>
            </a:r>
            <a:endParaRPr sz="1050">
              <a:solidFill>
                <a:srgbClr val="FFFFFF"/>
              </a:solidFill>
            </a:endParaRPr>
          </a:p>
          <a:p>
            <a:pPr indent="0" lvl="0" marL="0" rtl="0" algn="l">
              <a:lnSpc>
                <a:spcPct val="115000"/>
              </a:lnSpc>
              <a:spcBef>
                <a:spcPts val="0"/>
              </a:spcBef>
              <a:spcAft>
                <a:spcPts val="0"/>
              </a:spcAft>
              <a:buNone/>
            </a:pPr>
            <a:r>
              <a:rPr lang="en" sz="1050">
                <a:solidFill>
                  <a:srgbClr val="F2F2F2"/>
                </a:solidFill>
              </a:rPr>
              <a:t>  [zenodo.org/badge/DOI/10.5281/zenodo.123456.svg]</a:t>
            </a:r>
            <a:endParaRPr sz="1050">
              <a:solidFill>
                <a:srgbClr val="F2F2F2"/>
              </a:solidFill>
            </a:endParaRPr>
          </a:p>
          <a:p>
            <a:pPr indent="0" lvl="0" marL="0" rtl="0" algn="l">
              <a:lnSpc>
                <a:spcPct val="115000"/>
              </a:lnSpc>
              <a:spcBef>
                <a:spcPts val="0"/>
              </a:spcBef>
              <a:spcAft>
                <a:spcPts val="0"/>
              </a:spcAft>
              <a:buNone/>
            </a:pPr>
            <a:r>
              <a:rPr lang="en" sz="1050">
                <a:solidFill>
                  <a:srgbClr val="F2F2F2"/>
                </a:solidFill>
              </a:rPr>
              <a:t> </a:t>
            </a:r>
            <a:r>
              <a:rPr lang="en" sz="1050">
                <a:solidFill>
                  <a:srgbClr val="FFFFFF"/>
                </a:solidFill>
              </a:rPr>
              <a:t>License</a:t>
            </a:r>
            <a:endParaRPr sz="1050">
              <a:solidFill>
                <a:srgbClr val="FFFFFF"/>
              </a:solidFill>
            </a:endParaRPr>
          </a:p>
          <a:p>
            <a:pPr indent="0" lvl="0" marL="0" rtl="0" algn="l">
              <a:lnSpc>
                <a:spcPct val="115000"/>
              </a:lnSpc>
              <a:spcBef>
                <a:spcPts val="0"/>
              </a:spcBef>
              <a:spcAft>
                <a:spcPts val="0"/>
              </a:spcAft>
              <a:buNone/>
            </a:pPr>
            <a:r>
              <a:rPr lang="en" sz="1050">
                <a:solidFill>
                  <a:srgbClr val="F2F2F2"/>
                </a:solidFill>
              </a:rPr>
              <a:t> BDS - see LICENSE file</a:t>
            </a:r>
            <a:endParaRPr sz="1050">
              <a:solidFill>
                <a:srgbClr val="F2F2F2"/>
              </a:solidFill>
            </a:endParaRPr>
          </a:p>
        </p:txBody>
      </p:sp>
      <p:sp>
        <p:nvSpPr>
          <p:cNvPr id="413" name="Google Shape;413;p46"/>
          <p:cNvSpPr txBox="1"/>
          <p:nvPr/>
        </p:nvSpPr>
        <p:spPr>
          <a:xfrm>
            <a:off x="842525" y="3548650"/>
            <a:ext cx="3729600" cy="69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750">
                <a:solidFill>
                  <a:srgbClr val="C09748"/>
                </a:solidFill>
                <a:latin typeface="Open Sans"/>
                <a:ea typeface="Open Sans"/>
                <a:cs typeface="Open Sans"/>
                <a:sym typeface="Open Sans"/>
              </a:rPr>
              <a:t> </a:t>
            </a:r>
            <a:r>
              <a:rPr b="1" lang="en" sz="1750">
                <a:solidFill>
                  <a:srgbClr val="C09748"/>
                </a:solidFill>
                <a:latin typeface="Open Sans"/>
                <a:ea typeface="Open Sans"/>
                <a:cs typeface="Open Sans"/>
                <a:sym typeface="Open Sans"/>
              </a:rPr>
              <a:t> Professional. Citable. Usable.</a:t>
            </a:r>
            <a:endParaRPr b="1" sz="1750">
              <a:solidFill>
                <a:srgbClr val="C09748"/>
              </a:solidFill>
              <a:latin typeface="Open Sans"/>
              <a:ea typeface="Open Sans"/>
              <a:cs typeface="Open Sans"/>
              <a:sym typeface="Open Sans"/>
            </a:endParaRPr>
          </a:p>
          <a:p>
            <a:pPr indent="0" lvl="0" marL="0" rtl="0" algn="l">
              <a:spcBef>
                <a:spcPts val="0"/>
              </a:spcBef>
              <a:spcAft>
                <a:spcPts val="0"/>
              </a:spcAft>
              <a:buNone/>
            </a:pPr>
            <a:r>
              <a:t/>
            </a:r>
            <a:endParaRPr sz="1300">
              <a:solidFill>
                <a:schemeClr val="dk1"/>
              </a:solidFill>
              <a:latin typeface="Open Sans"/>
              <a:ea typeface="Open Sans"/>
              <a:cs typeface="Open Sans"/>
              <a:sym typeface="Open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7"/>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t>5 Quick Tips:</a:t>
            </a:r>
            <a:endParaRPr b="1" sz="1700"/>
          </a:p>
          <a:p>
            <a:pPr indent="0" lvl="0" marL="0" rtl="0" algn="l">
              <a:spcBef>
                <a:spcPts val="0"/>
              </a:spcBef>
              <a:spcAft>
                <a:spcPts val="0"/>
              </a:spcAft>
              <a:buNone/>
            </a:pPr>
            <a:r>
              <a:t/>
            </a:r>
            <a:endParaRPr sz="1600"/>
          </a:p>
          <a:p>
            <a:pPr indent="0" lvl="0" marL="0" rtl="0" algn="l">
              <a:spcBef>
                <a:spcPts val="0"/>
              </a:spcBef>
              <a:spcAft>
                <a:spcPts val="0"/>
              </a:spcAft>
              <a:buNone/>
            </a:pPr>
            <a:r>
              <a:rPr lang="en" sz="1600"/>
              <a:t>  1. </a:t>
            </a:r>
            <a:r>
              <a:rPr b="1" lang="en" sz="1600"/>
              <a:t>Clear description</a:t>
            </a:r>
            <a:r>
              <a:rPr lang="en" sz="1600"/>
              <a:t> → Answer "What problem does this solve?"</a:t>
            </a:r>
            <a:endParaRPr sz="1600"/>
          </a:p>
          <a:p>
            <a:pPr indent="0" lvl="0" marL="0" rtl="0" algn="l">
              <a:spcBef>
                <a:spcPts val="0"/>
              </a:spcBef>
              <a:spcAft>
                <a:spcPts val="0"/>
              </a:spcAft>
              <a:buNone/>
            </a:pPr>
            <a:r>
              <a:rPr lang="en" sz="1600"/>
              <a:t>  2. </a:t>
            </a:r>
            <a:r>
              <a:rPr b="1" lang="en" sz="1600"/>
              <a:t>Show, don't tell</a:t>
            </a:r>
            <a:r>
              <a:rPr lang="en" sz="1600"/>
              <a:t> → Include code examples</a:t>
            </a:r>
            <a:endParaRPr sz="1600"/>
          </a:p>
          <a:p>
            <a:pPr indent="0" lvl="0" marL="0" rtl="0" algn="l">
              <a:spcBef>
                <a:spcPts val="0"/>
              </a:spcBef>
              <a:spcAft>
                <a:spcPts val="0"/>
              </a:spcAft>
              <a:buNone/>
            </a:pPr>
            <a:r>
              <a:rPr lang="en" sz="1600"/>
              <a:t>  3. </a:t>
            </a:r>
            <a:r>
              <a:rPr b="1" lang="en" sz="1600"/>
              <a:t>Link metadata</a:t>
            </a:r>
            <a:r>
              <a:rPr lang="en" sz="1600"/>
              <a:t> → Add DOI badge, link CITATION.cff</a:t>
            </a:r>
            <a:endParaRPr sz="1600"/>
          </a:p>
          <a:p>
            <a:pPr indent="0" lvl="0" marL="0" rtl="0" algn="l">
              <a:spcBef>
                <a:spcPts val="0"/>
              </a:spcBef>
              <a:spcAft>
                <a:spcPts val="0"/>
              </a:spcAft>
              <a:buNone/>
            </a:pPr>
            <a:r>
              <a:rPr lang="en" sz="1600"/>
              <a:t>  4. </a:t>
            </a:r>
            <a:r>
              <a:rPr b="1" lang="en" sz="1600"/>
              <a:t>Keep updated</a:t>
            </a:r>
            <a:r>
              <a:rPr lang="en" sz="1600"/>
              <a:t> → Refresh when features change</a:t>
            </a:r>
            <a:endParaRPr sz="1600"/>
          </a:p>
          <a:p>
            <a:pPr indent="0" lvl="0" marL="0" rtl="0" algn="l">
              <a:spcBef>
                <a:spcPts val="0"/>
              </a:spcBef>
              <a:spcAft>
                <a:spcPts val="0"/>
              </a:spcAft>
              <a:buNone/>
            </a:pPr>
            <a:r>
              <a:rPr lang="en" sz="1600"/>
              <a:t>  5. </a:t>
            </a:r>
            <a:r>
              <a:rPr b="1" lang="en" sz="1600"/>
              <a:t>Use the template</a:t>
            </a:r>
            <a:r>
              <a:rPr lang="en" sz="1600"/>
              <a:t>* → https://github.com/UC-OSPO-Network/templates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ctr">
              <a:spcBef>
                <a:spcPts val="0"/>
              </a:spcBef>
              <a:spcAft>
                <a:spcPts val="0"/>
              </a:spcAft>
              <a:buNone/>
            </a:pPr>
            <a:r>
              <a:rPr b="1" lang="en" sz="1900"/>
              <a:t> </a:t>
            </a:r>
            <a:r>
              <a:rPr b="1" lang="en" sz="1900">
                <a:solidFill>
                  <a:srgbClr val="C09748"/>
                </a:solidFill>
              </a:rPr>
              <a:t>Every tip maps to FAIR principles.</a:t>
            </a:r>
            <a:endParaRPr b="1" sz="1900">
              <a:solidFill>
                <a:srgbClr val="C09748"/>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19" name="Google Shape;419;p47"/>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README Best Practices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8"/>
          <p:cNvSpPr txBox="1"/>
          <p:nvPr>
            <p:ph idx="1" type="body"/>
          </p:nvPr>
        </p:nvSpPr>
        <p:spPr>
          <a:xfrm>
            <a:off x="713250" y="1017725"/>
            <a:ext cx="7717500" cy="30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 GitHub looks for:</a:t>
            </a:r>
            <a:endParaRPr b="1"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n" sz="1600" u="sng">
                <a:solidFill>
                  <a:schemeClr val="hlink"/>
                </a:solidFill>
                <a:hlinkClick r:id="rId3"/>
              </a:rPr>
              <a:t>CONTRIBUTING.md</a:t>
            </a:r>
            <a:r>
              <a:rPr lang="en" sz="1600"/>
              <a:t> → How to contribute</a:t>
            </a:r>
            <a:endParaRPr sz="1600"/>
          </a:p>
          <a:p>
            <a:pPr indent="-330200" lvl="0" marL="457200" rtl="0" algn="l">
              <a:spcBef>
                <a:spcPts val="0"/>
              </a:spcBef>
              <a:spcAft>
                <a:spcPts val="0"/>
              </a:spcAft>
              <a:buSzPts val="1600"/>
              <a:buChar char="●"/>
            </a:pPr>
            <a:r>
              <a:rPr lang="en" sz="1600"/>
              <a:t>CODE_OF_CONDUCT.md  → Behavioral standards</a:t>
            </a:r>
            <a:endParaRPr sz="1600"/>
          </a:p>
          <a:p>
            <a:pPr indent="-330200" lvl="0" marL="457200" rtl="0" algn="l">
              <a:spcBef>
                <a:spcPts val="0"/>
              </a:spcBef>
              <a:spcAft>
                <a:spcPts val="0"/>
              </a:spcAft>
              <a:buSzPts val="1600"/>
              <a:buChar char="●"/>
            </a:pPr>
            <a:r>
              <a:rPr lang="en" sz="1600" u="sng">
                <a:solidFill>
                  <a:schemeClr val="hlink"/>
                </a:solidFill>
                <a:hlinkClick r:id="rId4"/>
              </a:rPr>
              <a:t>CHANGELOG.md</a:t>
            </a:r>
            <a:r>
              <a:rPr lang="en" sz="1600"/>
              <a:t> → Version history</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b="1" lang="en" sz="1600"/>
              <a:t>  Why it matters:</a:t>
            </a:r>
            <a:endParaRPr b="1"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  </a:t>
            </a:r>
            <a:r>
              <a:rPr b="1" lang="en" sz="1600"/>
              <a:t>Signals your project is professionally managed and welcoming.</a:t>
            </a:r>
            <a:endParaRPr b="1"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  </a:t>
            </a:r>
            <a:r>
              <a:rPr b="1" lang="en" sz="1600"/>
              <a:t>Templates: </a:t>
            </a:r>
            <a:r>
              <a:rPr lang="en" sz="1600"/>
              <a:t>https://github.com/UC-OSPO-Network/templates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b="1" lang="en" sz="1400"/>
              <a:t>  Awesome README:  </a:t>
            </a:r>
            <a:r>
              <a:rPr lang="en" sz="1400"/>
              <a:t>https://github.com/matiassingers/awesome-readme/</a:t>
            </a:r>
            <a:endParaRPr sz="1400"/>
          </a:p>
        </p:txBody>
      </p:sp>
      <p:sp>
        <p:nvSpPr>
          <p:cNvPr id="425" name="Google Shape;425;p48"/>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Beyond the README</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49"/>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t>What we covered today:</a:t>
            </a:r>
            <a:endParaRPr b="1"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 </a:t>
            </a:r>
            <a:r>
              <a:rPr b="1" lang="en" sz="1700"/>
              <a:t>F - Findable: </a:t>
            </a:r>
            <a:r>
              <a:rPr lang="en" sz="1700"/>
              <a:t> Added </a:t>
            </a:r>
            <a:r>
              <a:rPr b="1" lang="en" sz="1700"/>
              <a:t>DOI</a:t>
            </a:r>
            <a:r>
              <a:rPr lang="en" sz="1700"/>
              <a:t>, </a:t>
            </a:r>
            <a:r>
              <a:rPr b="1" lang="en" sz="1700"/>
              <a:t>CITATION.cff</a:t>
            </a:r>
            <a:r>
              <a:rPr lang="en" sz="1700"/>
              <a:t>, rich metadata </a:t>
            </a:r>
            <a:endParaRPr sz="1700"/>
          </a:p>
          <a:p>
            <a:pPr indent="0" lvl="0" marL="0" rtl="0" algn="l">
              <a:spcBef>
                <a:spcPts val="0"/>
              </a:spcBef>
              <a:spcAft>
                <a:spcPts val="0"/>
              </a:spcAft>
              <a:buNone/>
            </a:pPr>
            <a:r>
              <a:rPr lang="en" sz="1700"/>
              <a:t>✅ </a:t>
            </a:r>
            <a:r>
              <a:rPr b="1" lang="en" sz="1700"/>
              <a:t>A - Accessible: </a:t>
            </a:r>
            <a:r>
              <a:rPr lang="en" sz="1700"/>
              <a:t>Public </a:t>
            </a:r>
            <a:r>
              <a:rPr b="1" lang="en" sz="1700"/>
              <a:t>GitHub</a:t>
            </a:r>
            <a:r>
              <a:rPr lang="en" sz="1700"/>
              <a:t>, archived on Zenodo</a:t>
            </a:r>
            <a:endParaRPr sz="1700"/>
          </a:p>
          <a:p>
            <a:pPr indent="0" lvl="0" marL="0" rtl="0" algn="l">
              <a:spcBef>
                <a:spcPts val="0"/>
              </a:spcBef>
              <a:spcAft>
                <a:spcPts val="0"/>
              </a:spcAft>
              <a:buNone/>
            </a:pPr>
            <a:r>
              <a:rPr lang="en" sz="1700"/>
              <a:t>✅ </a:t>
            </a:r>
            <a:r>
              <a:rPr b="1" lang="en" sz="1700"/>
              <a:t>I - Interoperable:</a:t>
            </a:r>
            <a:r>
              <a:rPr lang="en" sz="1700"/>
              <a:t>  Standard formats (YAML, CFF), documented dependencies (</a:t>
            </a:r>
            <a:r>
              <a:rPr b="1" lang="en" sz="1700"/>
              <a:t>pixi.toml</a:t>
            </a:r>
            <a:r>
              <a:rPr lang="en" sz="1700"/>
              <a:t>)</a:t>
            </a:r>
            <a:endParaRPr sz="1700"/>
          </a:p>
          <a:p>
            <a:pPr indent="0" lvl="0" marL="0" rtl="0" algn="l">
              <a:spcBef>
                <a:spcPts val="0"/>
              </a:spcBef>
              <a:spcAft>
                <a:spcPts val="0"/>
              </a:spcAft>
              <a:buNone/>
            </a:pPr>
            <a:r>
              <a:rPr lang="en" sz="1700"/>
              <a:t>✅ </a:t>
            </a:r>
            <a:r>
              <a:rPr b="1" lang="en" sz="1700"/>
              <a:t>R - Reusable:</a:t>
            </a:r>
            <a:r>
              <a:rPr lang="en" sz="1700"/>
              <a:t> </a:t>
            </a:r>
            <a:r>
              <a:rPr b="1" lang="en" sz="1700"/>
              <a:t>LICENSE</a:t>
            </a:r>
            <a:r>
              <a:rPr lang="en" sz="1700"/>
              <a:t> (BSD-3), </a:t>
            </a:r>
            <a:r>
              <a:rPr b="1" lang="en" sz="1700"/>
              <a:t>README</a:t>
            </a:r>
            <a:r>
              <a:rPr lang="en" sz="1700"/>
              <a:t> with setup, environment reproducibility </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t/>
            </a:r>
            <a:endParaRPr sz="1400"/>
          </a:p>
        </p:txBody>
      </p:sp>
      <p:sp>
        <p:nvSpPr>
          <p:cNvPr id="431" name="Google Shape;431;p49"/>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Your FAIR4RS Checklist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0"/>
          <p:cNvSpPr txBox="1"/>
          <p:nvPr>
            <p:ph idx="1" type="body"/>
          </p:nvPr>
        </p:nvSpPr>
        <p:spPr>
          <a:xfrm>
            <a:off x="713250" y="909175"/>
            <a:ext cx="7717500" cy="32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Lesson Materials:</a:t>
            </a:r>
            <a:endParaRPr b="1" sz="1400"/>
          </a:p>
          <a:p>
            <a:pPr indent="0" lvl="0" marL="0" rtl="0" algn="l">
              <a:spcBef>
                <a:spcPts val="0"/>
              </a:spcBef>
              <a:spcAft>
                <a:spcPts val="0"/>
              </a:spcAft>
              <a:buNone/>
            </a:pPr>
            <a:r>
              <a:rPr lang="en" sz="1400"/>
              <a:t>🔗 https://github.com/carpentries-incubator/research-software-citable-discoverable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400"/>
              <a:t>Tools:</a:t>
            </a:r>
            <a:endParaRPr b="1" sz="1400"/>
          </a:p>
          <a:p>
            <a:pPr indent="-317500" lvl="0" marL="457200" rtl="0" algn="l">
              <a:spcBef>
                <a:spcPts val="0"/>
              </a:spcBef>
              <a:spcAft>
                <a:spcPts val="0"/>
              </a:spcAft>
              <a:buSzPts val="1400"/>
              <a:buChar char="●"/>
            </a:pPr>
            <a:r>
              <a:rPr b="1" lang="en" sz="1400"/>
              <a:t>CITATION.cff </a:t>
            </a:r>
            <a:r>
              <a:rPr lang="en" sz="1400"/>
              <a:t>Helper: https://citation-file-format.github.io/cff-initializer-javascript/</a:t>
            </a:r>
            <a:endParaRPr sz="1400"/>
          </a:p>
          <a:p>
            <a:pPr indent="-317500" lvl="0" marL="457200" rtl="0" algn="l">
              <a:spcBef>
                <a:spcPts val="0"/>
              </a:spcBef>
              <a:spcAft>
                <a:spcPts val="0"/>
              </a:spcAft>
              <a:buSzPts val="1400"/>
              <a:buChar char="●"/>
            </a:pPr>
            <a:r>
              <a:rPr b="1" lang="en" sz="1400"/>
              <a:t>Zenodo</a:t>
            </a:r>
            <a:r>
              <a:rPr lang="en" sz="1400"/>
              <a:t>: https://zenodo.org</a:t>
            </a:r>
            <a:endParaRPr sz="1400"/>
          </a:p>
          <a:p>
            <a:pPr indent="-317500" lvl="0" marL="457200" rtl="0" algn="l">
              <a:spcBef>
                <a:spcPts val="0"/>
              </a:spcBef>
              <a:spcAft>
                <a:spcPts val="0"/>
              </a:spcAft>
              <a:buSzPts val="1400"/>
              <a:buChar char="●"/>
            </a:pPr>
            <a:r>
              <a:rPr b="1" lang="en" sz="1400"/>
              <a:t>Pixi</a:t>
            </a:r>
            <a:r>
              <a:rPr lang="en" sz="1400"/>
              <a:t>: https://pixi.sh</a:t>
            </a:r>
            <a:endParaRPr sz="1400"/>
          </a:p>
          <a:p>
            <a:pPr indent="-317500" lvl="0" marL="457200" rtl="0" algn="l">
              <a:spcBef>
                <a:spcPts val="0"/>
              </a:spcBef>
              <a:spcAft>
                <a:spcPts val="0"/>
              </a:spcAft>
              <a:buSzPts val="1400"/>
              <a:buChar char="●"/>
            </a:pPr>
            <a:r>
              <a:rPr b="1" lang="en" sz="1400"/>
              <a:t>Choose a License</a:t>
            </a:r>
            <a:r>
              <a:rPr lang="en" sz="1400"/>
              <a:t>: </a:t>
            </a:r>
            <a:r>
              <a:rPr lang="en" sz="1400" u="sng">
                <a:solidFill>
                  <a:schemeClr val="hlink"/>
                </a:solidFill>
                <a:hlinkClick r:id="rId3"/>
              </a:rPr>
              <a:t>https://choosealicense.com</a:t>
            </a:r>
            <a:endParaRPr sz="1400"/>
          </a:p>
          <a:p>
            <a:pPr indent="-317500" lvl="0" marL="457200" rtl="0" algn="l">
              <a:spcBef>
                <a:spcPts val="0"/>
              </a:spcBef>
              <a:spcAft>
                <a:spcPts val="0"/>
              </a:spcAft>
              <a:buSzPts val="1400"/>
              <a:buChar char="●"/>
            </a:pPr>
            <a:r>
              <a:rPr b="1" lang="en" sz="1400"/>
              <a:t>UC OSS-Chart</a:t>
            </a:r>
            <a:r>
              <a:rPr lang="en" sz="1400"/>
              <a:t>: </a:t>
            </a:r>
            <a:r>
              <a:rPr lang="en" sz="1400" u="sng">
                <a:solidFill>
                  <a:schemeClr val="hlink"/>
                </a:solidFill>
                <a:hlinkClick r:id="rId4"/>
              </a:rPr>
              <a:t>https://security.ucop.edu/files/documents/resources/oss-chart.pdf</a:t>
            </a:r>
            <a:endParaRPr sz="1400"/>
          </a:p>
          <a:p>
            <a:pPr indent="-317500" lvl="0" marL="457200" rtl="0" algn="l">
              <a:spcBef>
                <a:spcPts val="0"/>
              </a:spcBef>
              <a:spcAft>
                <a:spcPts val="0"/>
              </a:spcAft>
              <a:buSzPts val="1400"/>
              <a:buChar char="●"/>
            </a:pPr>
            <a:r>
              <a:rPr b="1" lang="en" sz="1400"/>
              <a:t>UC OSPO License Guide</a:t>
            </a:r>
            <a:r>
              <a:rPr lang="en" sz="1400"/>
              <a:t>: https://ucospo.net/oss-resources/template-guides/license-guide/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400"/>
              <a:t>UC Open Source Program Office (OSPO) Network</a:t>
            </a:r>
            <a:endParaRPr b="1" sz="1400"/>
          </a:p>
          <a:p>
            <a:pPr indent="0" lvl="0" marL="0" rtl="0" algn="l">
              <a:spcBef>
                <a:spcPts val="0"/>
              </a:spcBef>
              <a:spcAft>
                <a:spcPts val="0"/>
              </a:spcAft>
              <a:buNone/>
            </a:pPr>
            <a:r>
              <a:rPr lang="en" sz="1400"/>
              <a:t>🔗 https://ucospo.net/</a:t>
            </a:r>
            <a:endParaRPr sz="1400"/>
          </a:p>
          <a:p>
            <a:pPr indent="0" lvl="0" marL="0" rtl="0" algn="l">
              <a:spcBef>
                <a:spcPts val="0"/>
              </a:spcBef>
              <a:spcAft>
                <a:spcPts val="0"/>
              </a:spcAft>
              <a:buNone/>
            </a:pPr>
            <a:r>
              <a:t/>
            </a:r>
            <a:endParaRPr sz="1500"/>
          </a:p>
        </p:txBody>
      </p:sp>
      <p:sp>
        <p:nvSpPr>
          <p:cNvPr id="437" name="Google Shape;437;p50"/>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Resources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pic>
        <p:nvPicPr>
          <p:cNvPr id="442" name="Google Shape;442;p51"/>
          <p:cNvPicPr preferRelativeResize="0"/>
          <p:nvPr/>
        </p:nvPicPr>
        <p:blipFill>
          <a:blip r:embed="rId3">
            <a:alphaModFix/>
          </a:blip>
          <a:stretch>
            <a:fillRect/>
          </a:stretch>
        </p:blipFill>
        <p:spPr>
          <a:xfrm>
            <a:off x="555400" y="508625"/>
            <a:ext cx="2170750" cy="3889850"/>
          </a:xfrm>
          <a:prstGeom prst="rect">
            <a:avLst/>
          </a:prstGeom>
          <a:noFill/>
          <a:ln>
            <a:noFill/>
          </a:ln>
        </p:spPr>
      </p:pic>
      <p:pic>
        <p:nvPicPr>
          <p:cNvPr id="443" name="Google Shape;443;p51"/>
          <p:cNvPicPr preferRelativeResize="0"/>
          <p:nvPr/>
        </p:nvPicPr>
        <p:blipFill>
          <a:blip r:embed="rId4">
            <a:alphaModFix/>
          </a:blip>
          <a:stretch>
            <a:fillRect/>
          </a:stretch>
        </p:blipFill>
        <p:spPr>
          <a:xfrm>
            <a:off x="3311050" y="508624"/>
            <a:ext cx="1127388" cy="538656"/>
          </a:xfrm>
          <a:prstGeom prst="rect">
            <a:avLst/>
          </a:prstGeom>
          <a:noFill/>
          <a:ln>
            <a:noFill/>
          </a:ln>
        </p:spPr>
      </p:pic>
      <p:pic>
        <p:nvPicPr>
          <p:cNvPr id="444" name="Google Shape;444;p51"/>
          <p:cNvPicPr preferRelativeResize="0"/>
          <p:nvPr/>
        </p:nvPicPr>
        <p:blipFill>
          <a:blip r:embed="rId5">
            <a:alphaModFix/>
          </a:blip>
          <a:stretch>
            <a:fillRect/>
          </a:stretch>
        </p:blipFill>
        <p:spPr>
          <a:xfrm>
            <a:off x="3311050" y="1165031"/>
            <a:ext cx="1342720" cy="538654"/>
          </a:xfrm>
          <a:prstGeom prst="rect">
            <a:avLst/>
          </a:prstGeom>
          <a:noFill/>
          <a:ln>
            <a:noFill/>
          </a:ln>
        </p:spPr>
      </p:pic>
      <p:pic>
        <p:nvPicPr>
          <p:cNvPr id="445" name="Google Shape;445;p51"/>
          <p:cNvPicPr preferRelativeResize="0"/>
          <p:nvPr/>
        </p:nvPicPr>
        <p:blipFill>
          <a:blip r:embed="rId6">
            <a:alphaModFix/>
          </a:blip>
          <a:stretch>
            <a:fillRect/>
          </a:stretch>
        </p:blipFill>
        <p:spPr>
          <a:xfrm>
            <a:off x="3311050" y="3133886"/>
            <a:ext cx="2846136" cy="538474"/>
          </a:xfrm>
          <a:prstGeom prst="rect">
            <a:avLst/>
          </a:prstGeom>
          <a:noFill/>
          <a:ln>
            <a:noFill/>
          </a:ln>
        </p:spPr>
      </p:pic>
      <p:pic>
        <p:nvPicPr>
          <p:cNvPr id="446" name="Google Shape;446;p51"/>
          <p:cNvPicPr preferRelativeResize="0"/>
          <p:nvPr/>
        </p:nvPicPr>
        <p:blipFill>
          <a:blip r:embed="rId7">
            <a:alphaModFix/>
          </a:blip>
          <a:stretch>
            <a:fillRect/>
          </a:stretch>
        </p:blipFill>
        <p:spPr>
          <a:xfrm>
            <a:off x="3311050" y="1821436"/>
            <a:ext cx="1571211" cy="538474"/>
          </a:xfrm>
          <a:prstGeom prst="rect">
            <a:avLst/>
          </a:prstGeom>
          <a:noFill/>
          <a:ln>
            <a:noFill/>
          </a:ln>
        </p:spPr>
      </p:pic>
      <p:pic>
        <p:nvPicPr>
          <p:cNvPr id="447" name="Google Shape;447;p51"/>
          <p:cNvPicPr preferRelativeResize="0"/>
          <p:nvPr/>
        </p:nvPicPr>
        <p:blipFill>
          <a:blip r:embed="rId8">
            <a:alphaModFix/>
          </a:blip>
          <a:stretch>
            <a:fillRect/>
          </a:stretch>
        </p:blipFill>
        <p:spPr>
          <a:xfrm>
            <a:off x="3311050" y="2477661"/>
            <a:ext cx="2837157" cy="538473"/>
          </a:xfrm>
          <a:prstGeom prst="rect">
            <a:avLst/>
          </a:prstGeom>
          <a:noFill/>
          <a:ln>
            <a:noFill/>
          </a:ln>
        </p:spPr>
      </p:pic>
      <p:pic>
        <p:nvPicPr>
          <p:cNvPr id="448" name="Google Shape;448;p51" title="ucdavis_logo_gold.png"/>
          <p:cNvPicPr preferRelativeResize="0"/>
          <p:nvPr/>
        </p:nvPicPr>
        <p:blipFill>
          <a:blip r:embed="rId9">
            <a:alphaModFix/>
          </a:blip>
          <a:stretch>
            <a:fillRect/>
          </a:stretch>
        </p:blipFill>
        <p:spPr>
          <a:xfrm>
            <a:off x="3311050" y="3790110"/>
            <a:ext cx="3118474" cy="53949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2"/>
          <p:cNvSpPr txBox="1"/>
          <p:nvPr>
            <p:ph idx="1" type="body"/>
          </p:nvPr>
        </p:nvSpPr>
        <p:spPr>
          <a:xfrm>
            <a:off x="713225" y="1088875"/>
            <a:ext cx="7717500" cy="32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Thank you!</a:t>
            </a:r>
            <a:endParaRPr b="1" sz="1800"/>
          </a:p>
          <a:p>
            <a:pPr indent="0" lvl="0" marL="0" rtl="0" algn="l">
              <a:spcBef>
                <a:spcPts val="0"/>
              </a:spcBef>
              <a:spcAft>
                <a:spcPts val="0"/>
              </a:spcAft>
              <a:buNone/>
            </a:pPr>
            <a:r>
              <a:t/>
            </a:r>
            <a:endParaRPr sz="1800"/>
          </a:p>
          <a:p>
            <a:pPr indent="0" lvl="0" marL="0" rtl="0" algn="l">
              <a:spcBef>
                <a:spcPts val="0"/>
              </a:spcBef>
              <a:spcAft>
                <a:spcPts val="0"/>
              </a:spcAft>
              <a:buNone/>
            </a:pPr>
            <a:r>
              <a:rPr b="1" lang="en" sz="1800"/>
              <a:t>Tim Dennis </a:t>
            </a:r>
            <a:r>
              <a:rPr lang="en" sz="1800"/>
              <a:t>• </a:t>
            </a:r>
            <a:r>
              <a:rPr lang="en" sz="1800" u="sng">
                <a:solidFill>
                  <a:schemeClr val="hlink"/>
                </a:solidFill>
                <a:hlinkClick r:id="rId3"/>
              </a:rPr>
              <a:t>tdennis@library.ucla.edu</a:t>
            </a:r>
            <a:endParaRPr sz="1800"/>
          </a:p>
          <a:p>
            <a:pPr indent="0" lvl="0" marL="0" rtl="0" algn="l">
              <a:spcBef>
                <a:spcPts val="0"/>
              </a:spcBef>
              <a:spcAft>
                <a:spcPts val="0"/>
              </a:spcAft>
              <a:buNone/>
            </a:pPr>
            <a:r>
              <a:rPr b="1" lang="en" sz="1800"/>
              <a:t>Laura Langdon </a:t>
            </a:r>
            <a:r>
              <a:rPr lang="en" sz="1800"/>
              <a:t>• lalangdon@ucdavis.edu</a:t>
            </a:r>
            <a:endParaRPr sz="1800"/>
          </a:p>
          <a:p>
            <a:pPr indent="0" lvl="0" marL="0" rtl="0" algn="l">
              <a:spcBef>
                <a:spcPts val="0"/>
              </a:spcBef>
              <a:spcAft>
                <a:spcPts val="0"/>
              </a:spcAft>
              <a:buNone/>
            </a:pPr>
            <a:r>
              <a:rPr b="1" lang="en" sz="1800"/>
              <a:t>Karla Padilla</a:t>
            </a:r>
            <a:r>
              <a:rPr lang="en" sz="1800"/>
              <a:t> • kpadilla@ucsd.edu</a:t>
            </a:r>
            <a:endParaRPr sz="1800"/>
          </a:p>
          <a:p>
            <a:pPr indent="0" lvl="0" marL="0" rtl="0" algn="l">
              <a:spcBef>
                <a:spcPts val="0"/>
              </a:spcBef>
              <a:spcAft>
                <a:spcPts val="0"/>
              </a:spcAft>
              <a:buNone/>
            </a:pPr>
            <a:r>
              <a:rPr b="1" lang="en" sz="1800"/>
              <a:t>Leigh Phan</a:t>
            </a:r>
            <a:r>
              <a:rPr lang="en" sz="1800"/>
              <a:t> • leighphan@library.ucla.edu</a:t>
            </a:r>
            <a:endParaRPr sz="1800"/>
          </a:p>
          <a:p>
            <a:pPr indent="0" lvl="0" marL="0" rtl="0" algn="l">
              <a:spcBef>
                <a:spcPts val="0"/>
              </a:spcBef>
              <a:spcAft>
                <a:spcPts val="0"/>
              </a:spcAft>
              <a:buNone/>
            </a:pPr>
            <a:r>
              <a:rPr b="1" lang="en" sz="1800"/>
              <a:t>Reid Otsuji </a:t>
            </a:r>
            <a:r>
              <a:rPr lang="en" sz="1800"/>
              <a:t>• </a:t>
            </a:r>
            <a:r>
              <a:rPr lang="en" sz="1800">
                <a:solidFill>
                  <a:schemeClr val="hlink"/>
                </a:solidFill>
                <a:uFill>
                  <a:noFill/>
                </a:uFill>
                <a:hlinkClick r:id="rId4"/>
              </a:rPr>
              <a:t>rotsuji@ucsd.edu</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454" name="Google Shape;454;p52"/>
          <p:cNvSpPr txBox="1"/>
          <p:nvPr>
            <p:ph type="title"/>
          </p:nvPr>
        </p:nvSpPr>
        <p:spPr>
          <a:xfrm>
            <a:off x="713225" y="445025"/>
            <a:ext cx="7863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usiness Idea Testing by Slidesgo">
  <a:themeElements>
    <a:clrScheme name="Simple Light">
      <a:dk1>
        <a:srgbClr val="FFFFFF"/>
      </a:dk1>
      <a:lt1>
        <a:srgbClr val="041E36"/>
      </a:lt1>
      <a:dk2>
        <a:srgbClr val="CFE2F3"/>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